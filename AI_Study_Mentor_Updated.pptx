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2720bb0def149d4" Type="http://schemas.openxmlformats.org/officeDocument/2006/relationships/officeDocument" Target="ppt/presentation.xml"/><Relationship Id="R48c5223c520e4120" Type="http://schemas.openxmlformats.org/package/2006/relationships/metadata/core-properties" Target="docProps/core.xml"/><Relationship Id="R5b1ea90b4aaa4e2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ed6b54fedb4369"/>
  </p:sldMasterIdLst>
  <p:notesMasterIdLst>
    <p:notesMasterId xmlns:r="http://schemas.openxmlformats.org/officeDocument/2006/relationships" r:id="R33e34e09fc914cba"/>
  </p:notesMasterIdLst>
  <p:sldIdLst>
    <p:sldId xmlns:r="http://schemas.openxmlformats.org/officeDocument/2006/relationships" id="256" r:id="R168b89da324d4c86"/>
    <p:sldId xmlns:r="http://schemas.openxmlformats.org/officeDocument/2006/relationships" id="257" r:id="R387fdc2d76cb45ef"/>
    <p:sldId xmlns:r="http://schemas.openxmlformats.org/officeDocument/2006/relationships" id="258" r:id="Rebdf8e433f5e426c"/>
    <p:sldId xmlns:r="http://schemas.openxmlformats.org/officeDocument/2006/relationships" id="259" r:id="Rcb9525b361bb4101"/>
    <p:sldId xmlns:r="http://schemas.openxmlformats.org/officeDocument/2006/relationships" id="260" r:id="R9178f7dd4cd346c3"/>
    <p:sldId xmlns:r="http://schemas.openxmlformats.org/officeDocument/2006/relationships" id="261" r:id="Ra5414c5d3ec4487d"/>
    <p:sldId xmlns:r="http://schemas.openxmlformats.org/officeDocument/2006/relationships" id="262" r:id="R16a71e32365645d1"/>
    <p:sldId xmlns:r="http://schemas.openxmlformats.org/officeDocument/2006/relationships" id="263" r:id="Rd77c4b3b7d024ec1"/>
    <p:sldId xmlns:r="http://schemas.openxmlformats.org/officeDocument/2006/relationships" id="264" r:id="Rbfcf472a535e4b4c"/>
    <p:sldId xmlns:r="http://schemas.openxmlformats.org/officeDocument/2006/relationships" id="265" r:id="R6b32aa030d4743fa"/>
    <p:sldId xmlns:r="http://schemas.openxmlformats.org/officeDocument/2006/relationships" id="266" r:id="R1f30a40e704f4942"/>
    <p:sldId xmlns:r="http://schemas.openxmlformats.org/officeDocument/2006/relationships" id="267" r:id="R614a1f4eccf34045"/>
    <p:sldId xmlns:r="http://schemas.openxmlformats.org/officeDocument/2006/relationships" id="268" r:id="R8df29bc6543644bf"/>
    <p:sldId xmlns:r="http://schemas.openxmlformats.org/officeDocument/2006/relationships" id="269" r:id="Rb74414a0880f49e5"/>
    <p:sldId xmlns:r="http://schemas.openxmlformats.org/officeDocument/2006/relationships" id="270" r:id="Rf31c501d59384a28"/>
    <p:sldId xmlns:r="http://schemas.openxmlformats.org/officeDocument/2006/relationships" id="271" r:id="R67ab6f1132174a36"/>
    <p:sldId xmlns:r="http://schemas.openxmlformats.org/officeDocument/2006/relationships" id="272" r:id="Re3d1a1b424bc4213"/>
    <p:sldId xmlns:r="http://schemas.openxmlformats.org/officeDocument/2006/relationships" id="273" r:id="R03592c83855346f8"/>
    <p:sldId xmlns:r="http://schemas.openxmlformats.org/officeDocument/2006/relationships" id="274" r:id="R1b0a65fdc24e4df0"/>
    <p:sldId xmlns:r="http://schemas.openxmlformats.org/officeDocument/2006/relationships" id="275" r:id="Rbc3dd2d428a34df2"/>
    <p:sldId xmlns:r="http://schemas.openxmlformats.org/officeDocument/2006/relationships" id="276" r:id="R8c4465f88fcf492d"/>
    <p:sldId xmlns:r="http://schemas.openxmlformats.org/officeDocument/2006/relationships" id="277" r:id="R394e706e30fb4de7"/>
    <p:sldId xmlns:r="http://schemas.openxmlformats.org/officeDocument/2006/relationships" id="278" r:id="R4f4032f636c142c0"/>
    <p:sldId xmlns:r="http://schemas.openxmlformats.org/officeDocument/2006/relationships" id="279" r:id="R2c59e864011d4443"/>
    <p:sldId xmlns:r="http://schemas.openxmlformats.org/officeDocument/2006/relationships" id="280" r:id="R26c16e2bd1824a0c"/>
    <p:sldId xmlns:r="http://schemas.openxmlformats.org/officeDocument/2006/relationships" id="281" r:id="Raeb12a5c62404490"/>
    <p:sldId xmlns:r="http://schemas.openxmlformats.org/officeDocument/2006/relationships" id="282" r:id="R911d937e4b564dfb"/>
    <p:sldId xmlns:r="http://schemas.openxmlformats.org/officeDocument/2006/relationships" id="283" r:id="Rd387c4e7923f43e5"/>
    <p:sldId xmlns:r="http://schemas.openxmlformats.org/officeDocument/2006/relationships" id="284" r:id="R01a753d2f3ef4ffe"/>
    <p:sldId xmlns:r="http://schemas.openxmlformats.org/officeDocument/2006/relationships" id="285" r:id="Rabed3636ec024175"/>
    <p:sldId xmlns:r="http://schemas.openxmlformats.org/officeDocument/2006/relationships" id="286" r:id="R71094ea7ecc24b76"/>
    <p:sldId xmlns:r="http://schemas.openxmlformats.org/officeDocument/2006/relationships" id="287" r:id="Rd0e5d555256e4a64"/>
    <p:sldId xmlns:r="http://schemas.openxmlformats.org/officeDocument/2006/relationships" id="288" r:id="R6448499a1eff4895"/>
    <p:sldId xmlns:r="http://schemas.openxmlformats.org/officeDocument/2006/relationships" id="289" r:id="Rf61d91adf76041e5"/>
    <p:sldId xmlns:r="http://schemas.openxmlformats.org/officeDocument/2006/relationships" id="290" r:id="Rf14b392c40b943c9"/>
    <p:sldId xmlns:r="http://schemas.openxmlformats.org/officeDocument/2006/relationships" id="291" r:id="Re66724b861ee425f"/>
    <p:sldId xmlns:r="http://schemas.openxmlformats.org/officeDocument/2006/relationships" id="292" r:id="Rd768f47e3e3b4528"/>
    <p:sldId xmlns:r="http://schemas.openxmlformats.org/officeDocument/2006/relationships" id="293" r:id="R80b5288ede09487c"/>
    <p:sldId xmlns:r="http://schemas.openxmlformats.org/officeDocument/2006/relationships" id="294" r:id="R86d16640c3e34dd7"/>
    <p:sldId xmlns:r="http://schemas.openxmlformats.org/officeDocument/2006/relationships" id="295" r:id="R6f53392b28d34d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a753d2f3ef4ffe" Type="http://schemas.openxmlformats.org/officeDocument/2006/relationships/slide" Target="slides/slide29.xml"/><Relationship Id="R03592c83855346f8" Type="http://schemas.openxmlformats.org/officeDocument/2006/relationships/slide" Target="slides/slide18.xml"/><Relationship Id="R168b89da324d4c86" Type="http://schemas.openxmlformats.org/officeDocument/2006/relationships/slide" Target="slides/slide1.xml"/><Relationship Id="R16a71e32365645d1" Type="http://schemas.openxmlformats.org/officeDocument/2006/relationships/slide" Target="slides/slide7.xml"/><Relationship Id="R190f18b061444326" Type="http://schemas.openxmlformats.org/officeDocument/2006/relationships/presProps" Target="presProps.xml"/><Relationship Id="R1b0a65fdc24e4df0" Type="http://schemas.openxmlformats.org/officeDocument/2006/relationships/slide" Target="slides/slide19.xml"/><Relationship Id="R1f30a40e704f4942" Type="http://schemas.openxmlformats.org/officeDocument/2006/relationships/slide" Target="slides/slide11.xml"/><Relationship Id="R26c16e2bd1824a0c" Type="http://schemas.openxmlformats.org/officeDocument/2006/relationships/slide" Target="slides/slide25.xml"/><Relationship Id="R2c59e864011d4443" Type="http://schemas.openxmlformats.org/officeDocument/2006/relationships/slide" Target="slides/slide24.xml"/><Relationship Id="R33e34e09fc914cba" Type="http://schemas.openxmlformats.org/officeDocument/2006/relationships/notesMaster" Target="notesMasters/notesMaster1.xml"/><Relationship Id="R387fdc2d76cb45ef" Type="http://schemas.openxmlformats.org/officeDocument/2006/relationships/slide" Target="slides/slide2.xml"/><Relationship Id="R394e706e30fb4de7" Type="http://schemas.openxmlformats.org/officeDocument/2006/relationships/slide" Target="slides/slide22.xml"/><Relationship Id="R4f4032f636c142c0" Type="http://schemas.openxmlformats.org/officeDocument/2006/relationships/slide" Target="slides/slide23.xml"/><Relationship Id="R614a1f4eccf34045" Type="http://schemas.openxmlformats.org/officeDocument/2006/relationships/slide" Target="slides/slide12.xml"/><Relationship Id="R6448499a1eff4895" Type="http://schemas.openxmlformats.org/officeDocument/2006/relationships/slide" Target="slides/slide33.xml"/><Relationship Id="R67ab6f1132174a36" Type="http://schemas.openxmlformats.org/officeDocument/2006/relationships/slide" Target="slides/slide16.xml"/><Relationship Id="R6b32aa030d4743fa" Type="http://schemas.openxmlformats.org/officeDocument/2006/relationships/slide" Target="slides/slide10.xml"/><Relationship Id="R6f53392b28d34d6d" Type="http://schemas.openxmlformats.org/officeDocument/2006/relationships/slide" Target="slides/slide40.xml"/><Relationship Id="R71094ea7ecc24b76" Type="http://schemas.openxmlformats.org/officeDocument/2006/relationships/slide" Target="slides/slide31.xml"/><Relationship Id="R80b5288ede09487c" Type="http://schemas.openxmlformats.org/officeDocument/2006/relationships/slide" Target="slides/slide38.xml"/><Relationship Id="R86d16640c3e34dd7" Type="http://schemas.openxmlformats.org/officeDocument/2006/relationships/slide" Target="slides/slide39.xml"/><Relationship Id="R8c4465f88fcf492d" Type="http://schemas.openxmlformats.org/officeDocument/2006/relationships/slide" Target="slides/slide21.xml"/><Relationship Id="R8df29bc6543644bf" Type="http://schemas.openxmlformats.org/officeDocument/2006/relationships/slide" Target="slides/slide13.xml"/><Relationship Id="R911d937e4b564dfb" Type="http://schemas.openxmlformats.org/officeDocument/2006/relationships/slide" Target="slides/slide27.xml"/><Relationship Id="R9178f7dd4cd346c3" Type="http://schemas.openxmlformats.org/officeDocument/2006/relationships/slide" Target="slides/slide5.xml"/><Relationship Id="Ra5414c5d3ec4487d" Type="http://schemas.openxmlformats.org/officeDocument/2006/relationships/slide" Target="slides/slide6.xml"/><Relationship Id="Rabed3636ec024175" Type="http://schemas.openxmlformats.org/officeDocument/2006/relationships/slide" Target="slides/slide30.xml"/><Relationship Id="Raeb12a5c62404490" Type="http://schemas.openxmlformats.org/officeDocument/2006/relationships/slide" Target="slides/slide26.xml"/><Relationship Id="Rb74414a0880f49e5" Type="http://schemas.openxmlformats.org/officeDocument/2006/relationships/slide" Target="slides/slide14.xml"/><Relationship Id="Rbc3dd2d428a34df2" Type="http://schemas.openxmlformats.org/officeDocument/2006/relationships/slide" Target="slides/slide20.xml"/><Relationship Id="Rbfcf472a535e4b4c" Type="http://schemas.openxmlformats.org/officeDocument/2006/relationships/slide" Target="slides/slide9.xml"/><Relationship Id="Rc5ea2c1e98b34d1b" Type="http://schemas.openxmlformats.org/officeDocument/2006/relationships/tableStyles" Target="tableStyles.xml"/><Relationship Id="Rcb9525b361bb4101" Type="http://schemas.openxmlformats.org/officeDocument/2006/relationships/slide" Target="slides/slide4.xml"/><Relationship Id="Rd0e5d555256e4a64" Type="http://schemas.openxmlformats.org/officeDocument/2006/relationships/slide" Target="slides/slide32.xml"/><Relationship Id="Rd387c4e7923f43e5" Type="http://schemas.openxmlformats.org/officeDocument/2006/relationships/slide" Target="slides/slide28.xml"/><Relationship Id="Rd768f47e3e3b4528" Type="http://schemas.openxmlformats.org/officeDocument/2006/relationships/slide" Target="slides/slide37.xml"/><Relationship Id="Rd77c4b3b7d024ec1" Type="http://schemas.openxmlformats.org/officeDocument/2006/relationships/slide" Target="slides/slide8.xml"/><Relationship Id="Re0ed6b54fedb4369" Type="http://schemas.openxmlformats.org/officeDocument/2006/relationships/slideMaster" Target="slideMasters/slideMaster1.xml"/><Relationship Id="Re3d1a1b424bc4213" Type="http://schemas.openxmlformats.org/officeDocument/2006/relationships/slide" Target="slides/slide17.xml"/><Relationship Id="Re66724b861ee425f" Type="http://schemas.openxmlformats.org/officeDocument/2006/relationships/slide" Target="slides/slide36.xml"/><Relationship Id="Reab0e10a3c554622" Type="http://schemas.openxmlformats.org/officeDocument/2006/relationships/theme" Target="theme/theme1.xml"/><Relationship Id="Rebdf8e433f5e426c" Type="http://schemas.openxmlformats.org/officeDocument/2006/relationships/slide" Target="slides/slide3.xml"/><Relationship Id="Rf14b392c40b943c9" Type="http://schemas.openxmlformats.org/officeDocument/2006/relationships/slide" Target="slides/slide35.xml"/><Relationship Id="Rf31c501d59384a28" Type="http://schemas.openxmlformats.org/officeDocument/2006/relationships/slide" Target="slides/slide15.xml"/><Relationship Id="Rf61d91adf76041e5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9f1480d869fd468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4cd912c655c4ada" Type="http://schemas.openxmlformats.org/officeDocument/2006/relationships/notesMaster" Target="../notesMasters/notesMaster1.xml"/><Relationship Id="Re993fcf96b9b41a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07427af3fb242a9" Type="http://schemas.openxmlformats.org/officeDocument/2006/relationships/slide" Target="../slides/slide2.xml"/><Relationship Id="R542078738690485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92ed32c3cfa4641" Type="http://schemas.openxmlformats.org/officeDocument/2006/relationships/notesMaster" Target="../notesMasters/notesMaster1.xml"/><Relationship Id="R6a9193fcedac40c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d9d6c373d3074c45" Type="http://schemas.openxmlformats.org/officeDocument/2006/relationships/notesMaster" Target="../notesMasters/notesMaster1.xml"/><Relationship Id="Rede66c45ddba437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59ccfc950f544184" Type="http://schemas.openxmlformats.org/officeDocument/2006/relationships/notesMaster" Target="../notesMasters/notesMaster1.xml"/><Relationship Id="R94dc0e7114844d4b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649958417274c65" Type="http://schemas.openxmlformats.org/officeDocument/2006/relationships/notesMaster" Target="../notesMasters/notesMaster1.xml"/><Relationship Id="R643a974f7a92423c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9459f91abfa4a51" Type="http://schemas.openxmlformats.org/officeDocument/2006/relationships/notesMaster" Target="../notesMasters/notesMaster1.xml"/><Relationship Id="R41a90d2911ed4c2c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75b98e61d64411c" Type="http://schemas.openxmlformats.org/officeDocument/2006/relationships/slide" Target="../slides/slide8.xml"/><Relationship Id="Rf92b52e40aa641c0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91792f9d840e4559" Type="http://schemas.openxmlformats.org/officeDocument/2006/relationships/slide" Target="../slides/slide9.xml"/><Relationship Id="Re60ce969fbc94db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ca7d9cfe0354045" Type="http://schemas.openxmlformats.org/officeDocument/2006/relationships/notesMaster" Target="../notesMasters/notesMaster1.xml"/><Relationship Id="Re80be991b67d41af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31ca59c8f724a85" Type="http://schemas.openxmlformats.org/officeDocument/2006/relationships/slide" Target="../slides/slide11.xml"/><Relationship Id="R4e24a6cac132409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c6098c5195fa45d4" Type="http://schemas.openxmlformats.org/officeDocument/2006/relationships/slide" Target="../slides/slide12.xml"/><Relationship Id="Rd7130dc4b8c14875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3f220bff8aa04b27" Type="http://schemas.openxmlformats.org/officeDocument/2006/relationships/slide" Target="../slides/slide13.xml"/><Relationship Id="R5310d5cb5a604836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d398f351bb84178" Type="http://schemas.openxmlformats.org/officeDocument/2006/relationships/slide" Target="../slides/slide14.xml"/><Relationship Id="R4e638450654c4685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7889da38cd84031" Type="http://schemas.openxmlformats.org/officeDocument/2006/relationships/slide" Target="../slides/slide15.xml"/><Relationship Id="R9a372f15944f489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f227de9492d44101" Type="http://schemas.openxmlformats.org/officeDocument/2006/relationships/slide" Target="../slides/slide16.xml"/><Relationship Id="Rf7a832ed3c364f6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4cdd93e573d54933" Type="http://schemas.openxmlformats.org/officeDocument/2006/relationships/slide" Target="../slides/slide17.xml"/><Relationship Id="Re4724baafb0d4d76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329745e6c524c9c" Type="http://schemas.openxmlformats.org/officeDocument/2006/relationships/slide" Target="../slides/slide18.xml"/><Relationship Id="Reb3f1cf94733475b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1469aefeed54407" Type="http://schemas.openxmlformats.org/officeDocument/2006/relationships/slide" Target="../slides/slide19.xml"/><Relationship Id="R62e1ca5ecc334a7f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01c5d8267e51499a" Type="http://schemas.openxmlformats.org/officeDocument/2006/relationships/slide" Target="../slides/slide20.xml"/><Relationship Id="Rf47f0ab100a241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106ff24b1799451f" Type="http://schemas.openxmlformats.org/officeDocument/2006/relationships/notesMaster" Target="../notesMasters/notesMaster1.xml"/><Relationship Id="R8612acfe1ccd4c5a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3fed6e296164dca" Type="http://schemas.openxmlformats.org/officeDocument/2006/relationships/notesMaster" Target="../notesMasters/notesMaster1.xml"/><Relationship Id="Rc0c2793994274250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b6276a31d5ff4d18" Type="http://schemas.openxmlformats.org/officeDocument/2006/relationships/slide" Target="../slides/slide23.xml"/><Relationship Id="Rd78a3520fa644855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baae405e501f4c88" Type="http://schemas.openxmlformats.org/officeDocument/2006/relationships/notesMaster" Target="../notesMasters/notesMaster1.xml"/><Relationship Id="Rccf3d9012522459a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ade120516ab94d72" Type="http://schemas.openxmlformats.org/officeDocument/2006/relationships/slide" Target="../slides/slide25.xml"/><Relationship Id="Rf1d787dce9254d67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65a9e6592785446d" Type="http://schemas.openxmlformats.org/officeDocument/2006/relationships/slide" Target="../slides/slide26.xml"/><Relationship Id="Rbc0e11237644418e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53ec39f49a114f66" Type="http://schemas.openxmlformats.org/officeDocument/2006/relationships/notesMaster" Target="../notesMasters/notesMaster1.xml"/><Relationship Id="R988c2ac97f7649a3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91dccc85bb704c5a" Type="http://schemas.openxmlformats.org/officeDocument/2006/relationships/notesMaster" Target="../notesMasters/notesMaster1.xml"/><Relationship Id="Rff5ac36f06bd47fc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036bf450d4944743" Type="http://schemas.openxmlformats.org/officeDocument/2006/relationships/notesMaster" Target="../notesMasters/notesMaster1.xml"/><Relationship Id="R5e6d65d6a50140b0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5b3bf77bf06746f3" Type="http://schemas.openxmlformats.org/officeDocument/2006/relationships/slide" Target="../slides/slide30.xml"/><Relationship Id="R7fc34e895d32438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375db6fe624f4fad" Type="http://schemas.openxmlformats.org/officeDocument/2006/relationships/slide" Target="../slides/slide31.xml"/><Relationship Id="R6c5ad984412049f0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aa0f55de0a934a62" Type="http://schemas.openxmlformats.org/officeDocument/2006/relationships/slide" Target="../slides/slide32.xml"/><Relationship Id="Re1b2adb9ff9c4c68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4ddebd5953ce43d1" Type="http://schemas.openxmlformats.org/officeDocument/2006/relationships/slide" Target="../slides/slide33.xml"/><Relationship Id="Ree602413171149d4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1cdb88683e454c6a" Type="http://schemas.openxmlformats.org/officeDocument/2006/relationships/slide" Target="../slides/slide34.xml"/><Relationship Id="R9ece35f5dee640dd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05ef5590b9664cf5" Type="http://schemas.openxmlformats.org/officeDocument/2006/relationships/notesMaster" Target="../notesMasters/notesMaster1.xml"/><Relationship Id="Rb7519b4f4b2c4b33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4922807a385f496e" Type="http://schemas.openxmlformats.org/officeDocument/2006/relationships/slide" Target="../slides/slide36.xml"/><Relationship Id="Rda544a7b75ef49cf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41e6bcd2d6f442f9" Type="http://schemas.openxmlformats.org/officeDocument/2006/relationships/notesMaster" Target="../notesMasters/notesMaster1.xml"/><Relationship Id="Rd47081d28d7c4e43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07775678cd1843c3" Type="http://schemas.openxmlformats.org/officeDocument/2006/relationships/notesMaster" Target="../notesMasters/notesMaster1.xml"/><Relationship Id="Rd64a9abf08784583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d7dd786084514a39" Type="http://schemas.openxmlformats.org/officeDocument/2006/relationships/slide" Target="../slides/slide39.xml"/><Relationship Id="Rfd9d8b82f2214559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0d9d32a0a73e4ad5" Type="http://schemas.openxmlformats.org/officeDocument/2006/relationships/notesMaster" Target="../notesMasters/notesMaster1.xml"/><Relationship Id="R58ccdc6ef4d34245" Type="http://schemas.openxmlformats.org/officeDocument/2006/relationships/slide" Target="../slides/slide4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deck is intentionally limited to Part 1 Activity 1 (P1/P2) and Part 2 Activity 2 demo-slide.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time is included in the project plan rather than hidden as an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>- https://eur-lex.europa.eu/eli/reg/2016/679/oj</a:t>
            </a:r>
          </a:p>
          <a:p xmlns:a="http://schemas.openxmlformats.org/drawingml/2006/main">
            <a:r>
              <a:t>- https://www.ftc.gov/legal-library/browse/rules/childrens-online-privacy-protection-rule-coppa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Pearson (2025), Unit 22 Assignment Brief Part 1: stakeholders, security and safety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>- https://www.ftc.gov/legal-library/browse/rules/childrens-online-privacy-protection-rule-coppa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Pearson (2025), Unit 22 Assignment Brief Part 1: authentication and first-use preferences.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>- https://www.ftc.gov/legal-library/browse/rules/childrens-online-privacy-protection-rule-coppa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Pearson (2025), Unit 22 Assignment Brief Part 1: notifications and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>- https://eur-lex.europa.eu/eli/reg/2016/679/oj</a:t>
            </a:r>
          </a:p>
          <a:p xmlns:a="http://schemas.openxmlformats.org/drawingml/2006/main">
            <a:r>
              <a:t>- https://www.ftc.gov/legal-library/browse/rules/childrens-online-privacy-protection-rule-coppa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Pearson (2025), Unit 22 Assignment Brief Part 1: security and safety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>- https://eur-lex.europa.eu/eli/reg/2016/679/oj</a:t>
            </a:r>
          </a:p>
          <a:p xmlns:a="http://schemas.openxmlformats.org/drawingml/2006/main">
            <a:r>
              <a:t>- https://www.ftc.gov/legal-library/browse/rules/childrens-online-privacy-protection-rule-coppa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Pearson (2025), Unit 22 Assignment Brief Part 1: privacy and platform compatibility.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 risk management: five slides follow.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>- https://eur-lex.europa.eu/eli/reg/2016/679/oj</a:t>
            </a:r>
          </a:p>
          <a:p xmlns:a="http://schemas.openxmlformats.org/drawingml/2006/main">
            <a:r>
              <a:t>- https://www.ftc.gov/legal-library/browse/rules/childrens-online-privacy-protection-rule-coppa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 closes with an explicit release gate: security and privacy cannot be deferred.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screens below are presentation mockups because no APK, source project or screenshots were supplied in the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mockup with a real screenshot from the developed application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mockup with a real screenshot from the developed application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mockup with a real screenshot from the developed application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mockup with a real screenshot from the developed application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mockup with a real screenshot from the developed application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is a presenter route, not a claim that all features are implemented. Demonstrate only what the application supports.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evidence column with actual screenshots or demo recording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Personalise this slide with the individual student's real contribution and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Pearson (2025), Unit 22 Assignment Brief Part 1 (local brief).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demo slide. Replace any remaining mockups with real evidence from the developed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165a4ff4e4044f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59f2cf543544f7d" Type="http://schemas.openxmlformats.org/officeDocument/2006/relationships/theme" Target="theme/theme2.xml"/><Relationship Id="R8d36104326bd4fe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36104326bd4f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ee7854241904726" Type="http://schemas.openxmlformats.org/officeDocument/2006/relationships/slideLayout" Target="../slideLayouts/slideLayout1.xml"/><Relationship Id="Re120e347f4fa4b6b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63c607ba6b544281" Type="http://schemas.openxmlformats.org/officeDocument/2006/relationships/notesSlide" Target="../notesSlides/notesSlide2.xml"/><Relationship Id="R6ad4574e0492438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96f6a3788554469" Type="http://schemas.openxmlformats.org/officeDocument/2006/relationships/slideLayout" Target="../slideLayouts/slideLayout1.xml"/><Relationship Id="R4b87a64779ae432c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78cab7087a2c4612" Type="http://schemas.openxmlformats.org/officeDocument/2006/relationships/slideLayout" Target="../slideLayouts/slideLayout1.xml"/><Relationship Id="Rd9291f1bc5fd478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7dffbe691a14085" Type="http://schemas.openxmlformats.org/officeDocument/2006/relationships/notesSlide" Target="../notesSlides/notesSlide5.xml"/><Relationship Id="Rddf17940a14549f8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528728e3a6d45ee" Type="http://schemas.openxmlformats.org/officeDocument/2006/relationships/slideLayout" Target="../slideLayouts/slideLayout1.xml"/><Relationship Id="Rbfdbec3ce7ec48a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17eac27907c4dd4" Type="http://schemas.openxmlformats.org/officeDocument/2006/relationships/slideLayout" Target="../slideLayouts/slideLayout1.xml"/><Relationship Id="Re5d30b7f45394135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44af5e8dabc043c6" Type="http://schemas.openxmlformats.org/officeDocument/2006/relationships/notesSlide" Target="../notesSlides/notesSlide8.xml"/><Relationship Id="Rac4d697b237346a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ed804db32294967" Type="http://schemas.openxmlformats.org/officeDocument/2006/relationships/slideLayout" Target="../slideLayouts/slideLayout1.xml"/><Relationship Id="R343bd9325a0e4c7f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1fb5039c15904e92" Type="http://schemas.openxmlformats.org/officeDocument/2006/relationships/notesSlide" Target="../notesSlides/notesSlide10.xml"/><Relationship Id="Rfb5a8bd96ebc4017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033690d6c3784177" Type="http://schemas.openxmlformats.org/officeDocument/2006/relationships/slideLayout" Target="../slideLayouts/slideLayout1.xml"/><Relationship Id="R5c50d35d996c429b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27be84e3aeb24227" Type="http://schemas.openxmlformats.org/officeDocument/2006/relationships/slideLayout" Target="../slideLayouts/slideLayout1.xml"/><Relationship Id="R9116501bcd794b9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021642693da14203" Type="http://schemas.openxmlformats.org/officeDocument/2006/relationships/slideLayout" Target="../slideLayouts/slideLayout1.xml"/><Relationship Id="Rb1d8cb9c6a454158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470352474eb9429d" Type="http://schemas.openxmlformats.org/officeDocument/2006/relationships/notesSlide" Target="../notesSlides/notesSlide14.xml"/><Relationship Id="Refda46b34af449a9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30651d7ebd4a44e4" Type="http://schemas.openxmlformats.org/officeDocument/2006/relationships/notesSlide" Target="../notesSlides/notesSlide15.xml"/><Relationship Id="R80e77dfab597492e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816673c2e6df4e3c" Type="http://schemas.openxmlformats.org/officeDocument/2006/relationships/slideLayout" Target="../slideLayouts/slideLayout1.xml"/><Relationship Id="Ra2ab642ddf324774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16cc25dc91d94530" Type="http://schemas.openxmlformats.org/officeDocument/2006/relationships/slideLayout" Target="../slideLayouts/slideLayout1.xml"/><Relationship Id="R54b2d09788a147a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4df5f41403554419" Type="http://schemas.openxmlformats.org/officeDocument/2006/relationships/notesSlide" Target="../notesSlides/notesSlide18.xml"/><Relationship Id="Ra2a633e0fb3542e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1e0309032c5947f5" Type="http://schemas.openxmlformats.org/officeDocument/2006/relationships/slideLayout" Target="../slideLayouts/slideLayout1.xml"/><Relationship Id="R8878526f32cf4be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6fb87c4a994046ca" Type="http://schemas.openxmlformats.org/officeDocument/2006/relationships/slideLayout" Target="../slideLayouts/slideLayout1.xml"/><Relationship Id="Rb074166734af496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c8dddd9b61234928" Type="http://schemas.openxmlformats.org/officeDocument/2006/relationships/slideLayout" Target="../slideLayouts/slideLayout1.xml"/><Relationship Id="Rdf615379dab7432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30963421cc744349" Type="http://schemas.openxmlformats.org/officeDocument/2006/relationships/notesSlide" Target="../notesSlides/notesSlide22.xml"/><Relationship Id="Rc6e0878910a94c76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18b4d447cd244e74" Type="http://schemas.openxmlformats.org/officeDocument/2006/relationships/slideLayout" Target="../slideLayouts/slideLayout1.xml"/><Relationship Id="R9dd7c07bdd784b88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254c8731dcf94234" Type="http://schemas.openxmlformats.org/officeDocument/2006/relationships/notesSlide" Target="../notesSlides/notesSlide24.xml"/><Relationship Id="R3241b19f902d4c96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252b744959f441d4" Type="http://schemas.openxmlformats.org/officeDocument/2006/relationships/slideLayout" Target="../slideLayouts/slideLayout1.xml"/><Relationship Id="R2d478f69147548a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3b08318a8ee94317" Type="http://schemas.openxmlformats.org/officeDocument/2006/relationships/slideLayout" Target="../slideLayouts/slideLayout1.xml"/><Relationship Id="Rbcc78dc8a3ff466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07a3a45a652d4a98" Type="http://schemas.openxmlformats.org/officeDocument/2006/relationships/notesSlide" Target="../notesSlides/notesSlide27.xml"/><Relationship Id="Rf91042da31f84f77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b739d9903e1b48e0" Type="http://schemas.openxmlformats.org/officeDocument/2006/relationships/notesSlide" Target="../notesSlides/notesSlide28.xml"/><Relationship Id="Rb9db26479f144a0f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3368de137f074b86" Type="http://schemas.openxmlformats.org/officeDocument/2006/relationships/notesSlide" Target="../notesSlides/notesSlide29.xml"/><Relationship Id="R39623fc1ccc94498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0851cfe3dc344ed0" Type="http://schemas.openxmlformats.org/officeDocument/2006/relationships/slideLayout" Target="../slideLayouts/slideLayout1.xml"/><Relationship Id="R3a9be38577224cdb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cafbfc95b8e740e8" Type="http://schemas.openxmlformats.org/officeDocument/2006/relationships/notesSlide" Target="../notesSlides/notesSlide31.xml"/><Relationship Id="Rf8e8c167f6f1443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7a940cd692294ef7" Type="http://schemas.openxmlformats.org/officeDocument/2006/relationships/notesSlide" Target="../notesSlides/notesSlide32.xml"/><Relationship Id="Rfaba1b684839409d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9888ef832539473f" Type="http://schemas.openxmlformats.org/officeDocument/2006/relationships/notesSlide" Target="../notesSlides/notesSlide33.xml"/><Relationship Id="Re6d4d2912d214e52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7f821cf3eaaa49b9" Type="http://schemas.openxmlformats.org/officeDocument/2006/relationships/notesSlide" Target="../notesSlides/notesSlide34.xml"/><Relationship Id="Rab290f70f8a04208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4f93e981f46c41e3" Type="http://schemas.openxmlformats.org/officeDocument/2006/relationships/slideLayout" Target="../slideLayouts/slideLayout1.xml"/><Relationship Id="Rd2473d2a16e64047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4e07f562f1bb4590" Type="http://schemas.openxmlformats.org/officeDocument/2006/relationships/slideLayout" Target="../slideLayouts/slideLayout1.xml"/><Relationship Id="Rad1d5cab1eb448b8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54f3ae1cb536415a" Type="http://schemas.openxmlformats.org/officeDocument/2006/relationships/slideLayout" Target="../slideLayouts/slideLayout1.xml"/><Relationship Id="Rdb4ea0f451a24489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2361106a81cc47d9" Type="http://schemas.openxmlformats.org/officeDocument/2006/relationships/notesSlide" Target="../notesSlides/notesSlide38.xml"/><Relationship Id="R6ea4b204a4884867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9146f47f4edd4c1d" Type="http://schemas.openxmlformats.org/officeDocument/2006/relationships/notesSlide" Target="../notesSlides/notesSlide39.xml"/><Relationship Id="Rd82c51de957241b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5050273907824c52" Type="http://schemas.openxmlformats.org/officeDocument/2006/relationships/notesSlide" Target="../notesSlides/notesSlide40.xml"/><Relationship Id="Re74b1a2c376246ed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B8E4D-1BBA-4310-BAA5-B0745A63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UNIT 22 / APPLICATION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B9032-A98B-470D-BDEA-8C2B8BB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71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AI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Study Mentor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5314A-C6EB-4614-A6E6-E27A9B7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Part 1 Activity 1 + Part 2 Activity 2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F6D33-EBB5-46A1-A829-9B0E8DE9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Problem definition, risks and product walkthrough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5996D-C585-422A-AF63-02F370C0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57250"/>
            <a:ext cx="2571750" cy="5048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52B62-C56B-46FF-9215-CB768A8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71550"/>
            <a:ext cx="2381250" cy="48196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0C219-D2A3-4D26-8EAF-3512EED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904875"/>
            <a:ext cx="647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F72C4-0902-4D14-9A13-2B3227E4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192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Ask anything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1BAFA-8172-4C73-B1B4-79FCDD73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BD9B9-C984-40A8-823C-C36F986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Explain an equation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765AD-925B-4CF1-9C64-69F0C593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C1AC5-8CFF-4CC9-A590-1A634725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Step-by-step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B0EC1-0C1F-4B21-B031-73050CC0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B0073-DC4E-451E-AC88-561EA2BB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9B45"/>
                </a:solidFill>
                <a:latin typeface="Arial"/>
                <a:ea typeface="Arial"/>
                <a:cs typeface="Arial"/>
              </a:rPr>
              <a:t>Try a similar 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FCFE4-B5D5-4AB9-BCAC-4D1DA0F8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67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9384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63582-6770-4AA0-8436-482176DA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DF853-6D4C-4CCE-8F02-86D67B5F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D7C6C-5499-4F6B-B8C5-6E50D692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62418-50B1-408E-B8B1-1613FC1B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EC511-4497-45A0-8182-7F6EC739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What BrightPath needs to solve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D5898-0933-4860-AD72-4806109E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A mobile AI mentor for students who need immediate, understandable help.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F1A80-8F0B-482B-86D1-814B365B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D8435-DAAD-45F1-839B-981A6E41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439C6-0FCD-4BAD-A1A7-B02D4DBA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13038-2DAB-4217-9717-F751C3EB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Students need on-demand academic support, but BrightPath must deliver it with a junior team, limited budget and a 14-week MVP window.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55943-A8ED-4DB4-ACE1-8EE7B0AA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Proposed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005A6-D681-4D3D-991F-41AA124D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 mobile application that accepts questions, generates structured explanations, stores learning history and suggests practice.</a:t>
            </a:r>
          </a:p>
        </p:txBody>
      </p:sp>
    </p:spTree>
    <p:extLst>
      <p:ext uri="{BB962C8B-B14F-4D97-AF65-F5344CB8AC3E}">
        <p14:creationId xmlns:p14="http://schemas.microsoft.com/office/powerpoint/2010/main" val="424311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D3E32-49BB-4C69-81BF-1408C2F8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2BAA8-E9B3-4FEB-A6D3-221C88BD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A8433-779D-4711-9362-1A998875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25BE4-EC10-4997-9265-CD76D025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25EA5-1F35-49A7-95C3-B493DC10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problem statement is clear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977EA-8E3A-45A4-94CD-8CA04E25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BrightPath needs a safe, affordable and usable way for students to get help at the moment of confusion.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C3A7E-DFBD-4281-9A8C-C06E914A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D3F46-3C6A-4E14-AE97-7F9A0C3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914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4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might BrightPath give students instant, level-appropriate explanations from text or homework images while keeping data protected and AI usage affordable?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C4D53-15B8-4BE2-B7C5-82FF7E80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Success means the student can ask, understand and continue learning without a teacher being online.</a:t>
            </a:r>
          </a:p>
        </p:txBody>
      </p:sp>
    </p:spTree>
    <p:extLst>
      <p:ext uri="{BB962C8B-B14F-4D97-AF65-F5344CB8AC3E}">
        <p14:creationId xmlns:p14="http://schemas.microsoft.com/office/powerpoint/2010/main" val="1319237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1BF0D-E786-4DF0-A7B5-CA859592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56D67-E34C-4625-BF22-81524F49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B8F66-6745-444C-8AF9-35A37164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F2B6D-A139-4692-B060-1B848016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2ECE0-124C-4506-9390-54D2FC33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Students face a time-and-friction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9D929-B562-4DBE-AC9C-7DA7F5A7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need is not more content; it is better access to the right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1F73A-6765-4428-B7B1-E06AD785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F2857-83C6-407E-98CA-F35B299B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MOMENT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70BA2-A296-4078-BEF9-1CEEDC8A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Help is delayed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C0C7B-8EF4-43E3-8D98-6DB244E6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Students may be stuck outside class or without a teacher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B799C-1198-46BA-9B50-6BA84CA5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A7861-7A5F-4D77-966F-F159715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28922-87C1-45D1-B04A-5FBC9149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Work is messy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94079-EE2E-4EAA-9397-ED50DB6A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Questions arrive as text, photos, equations and diagrams.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76DF9-A5C7-40EF-8979-E22A12A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6EBD2-7212-4C26-BC91-99925425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24322-8BB0-4ABD-934D-1BCF8A30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Answers may not teach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65CC4-4A44-446C-BB8B-BB1287CD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A final answer without reasoning does not build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429847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0B40D-839F-44AE-8C6B-A399E2D2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A296A-2A76-431D-B4AF-2816D6F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61B11-6DF1-48B3-BB15-6ED475A2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9040A-CEFC-4521-AAF1-100015AD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CF997-F27D-443A-817F-DFAD97D6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BrightPath starts with real delivery constraints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35F9A-A3ED-47AC-97CA-61711C7D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product scope must reflect the team's capability and the business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7ED38-CDA6-4FB9-8320-03C74A7D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54699-6F05-44D3-9CAF-7C089986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808F6-3965-4A4F-A3B6-668937B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Difficulties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17F11-9BD9-44BE-8DB5-B9A62A74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Junior developers need mobile and AI training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API calls can create unpredictable cost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Student data needs strong protection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 14-week deadline limits experimentation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BDC23-7A0F-48FC-843E-92726BFA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Design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D3DEF-16BF-46F8-B78C-52BE55A0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Android-first MVP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Managed backend services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Central AI gateway with caching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Explicit Must / Should / Could scope</a:t>
            </a:r>
          </a:p>
        </p:txBody>
      </p:sp>
    </p:spTree>
    <p:extLst>
      <p:ext uri="{BB962C8B-B14F-4D97-AF65-F5344CB8AC3E}">
        <p14:creationId xmlns:p14="http://schemas.microsoft.com/office/powerpoint/2010/main" val="18014567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99C75-6D2E-47E8-BF44-9932570E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FF05C-D49C-42E2-8A27-1D75D734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FD25A-5933-4D98-AAA3-A1491128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99F55-054A-4279-9C46-ADD00D4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B23DE-0F28-4A81-AA6E-F0493D07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Stakeholders have different success criteria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768A3-BEC4-4721-9D61-51413680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student is the end user, but BrightPath owns delivery and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2CF86-71BE-459C-92E8-3A83D87E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AB865-1B85-478B-B6A6-09690099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END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1BA3C-169D-4A15-9A80-A68C274D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B1546-76ED-4617-AFDC-95344FE4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Fast help, clear reasoning, image input, history and practice.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4E3ED-1DB5-43E1-80C8-9F644D31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21195-4AF0-4A1F-97BE-53AF0FA4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AFC75-63C2-4932-B929-B506997E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BrightPath team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D7BF7-2A4C-4066-8CA4-F093A497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Deliver, maintain and control cost within the MVP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387F9-C1FE-48E0-9C4B-0255D19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823D3-A83C-483B-A7EC-F7AD5506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14881-A747-4853-A03D-1A9692B9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Parents / regulators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2E1E2-76BA-4DA6-A0B6-91C4476B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Privacy, consent and age-appropriate handling of student data.</a:t>
            </a:r>
          </a:p>
        </p:txBody>
      </p:sp>
    </p:spTree>
    <p:extLst>
      <p:ext uri="{BB962C8B-B14F-4D97-AF65-F5344CB8AC3E}">
        <p14:creationId xmlns:p14="http://schemas.microsoft.com/office/powerpoint/2010/main" val="1258583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F2909-A1FA-4032-9735-3A3E4E39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34A9C-E785-4D59-A224-71F0AB79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D3466-60BB-4F6F-8D83-84B15506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CDFE0-D646-4DE1-81DE-247506BC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4EEDB-0755-4F02-ACF0-88BE861A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primary user is a student with a question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D607F-0EA0-4B33-9EC7-D8A5CF4E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first release should make the next useful action obvious.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5E890-EEF1-42CA-A2F1-1E1C30EC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2890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DE941-0C4B-4C67-9833-12114F87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381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DEA4A-4032-446A-BE87-BEDCE9D1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52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ADF5C-A86F-43B9-B709-753A2898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1DFBB-BBCB-46D5-987E-22744EF8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2890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E309C-F211-4C89-AF1E-34FF3117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81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43784-D4B8-4845-AAFF-12E8165D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2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570A8-C04D-4D0A-A9A4-D72DD1A3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6800C-59E7-419E-8158-AA5D7D4B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2890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12A5A-C749-478F-9B5C-914E103B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81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979ADB-04B8-45E6-8514-C3128FB8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2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3EB99C-F422-49E2-AA35-F6FC7AE3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Improve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D4B1C-BB83-41AD-B6E0-81811ABF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381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06D52-6256-47E3-B9CA-D75FE69F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6D9E3-8B2C-4467-998B-8DE522A4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47236-119A-49FB-B6DC-5C216BB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88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The learning loop is the product: every feature should make one of these four steps easier.</a:t>
            </a:r>
          </a:p>
        </p:txBody>
      </p:sp>
      <p:pic xmlns:a="http://schemas.openxmlformats.org/drawingml/2006/main" xmlns:r="http://schemas.openxmlformats.org/officeDocument/2006/relationships">
        <p:nvPicPr>
          <p:cNvPr id="24" name="Picture 23" descr="Screenshot_20260806_193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25" name="TextBox 24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App — Learning Loop</a:t>
            </a:r>
          </a:p>
        </p:txBody>
      </p:sp>
    </p:spTree>
    <p:extLst>
      <p:ext uri="{BB962C8B-B14F-4D97-AF65-F5344CB8AC3E}">
        <p14:creationId xmlns:p14="http://schemas.microsoft.com/office/powerpoint/2010/main" val="2081624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455444-BFA8-4937-95D1-220314BD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609A3-F699-4A5B-808C-E1108B06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4AD23-DAA6-43D3-A53C-67DACFEF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E5E43-3927-4D4D-B111-E51A392C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DA24B-C544-46C3-8B4E-628D4FDE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User needs become observable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29EA-0481-4D8A-A7C7-2F1DE8E6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P1 is strongest when each need can be seen in the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48D74-D7C6-45AC-A88B-4AC5DA1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2B06F-7DCD-4EBA-91B0-3B3E9CE4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84CFC-A2DE-4C94-8B63-C321591A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02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BFAF4-7DAC-43D0-8896-E39C3970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2F23D-CBE0-491D-94A8-E65C973F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3A9A4-3A97-4236-9436-0F0A3CBD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955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Observable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F06E9-3F78-4470-965B-0F85A81E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62061-E0BA-499C-8827-CC30BAC8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Ask without friction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FEE83-0087-455D-A8DA-C252FDE1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67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4ECFD-9599-4714-8766-02CFD4A9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622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Text + image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619C5-2E4E-4998-82C3-7BB17A53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6700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4F38AE-D3BE-4DE3-A46B-5A5DBB0C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622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Question accepted and routed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68802-5576-4F4F-901E-5487F45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28C17-5DF2-4C29-9402-EA5231DD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Understand the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B39FAD-27E7-49DA-87C9-BCFB620E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337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D3321-FE0E-4EEA-AF62-1029EEE0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Steps and simple language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99E2B-221F-4819-A603-55AB23B2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3375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BF6B3-5607-4522-BA96-455643F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Answer is readable and structured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56AAF-1CBF-488E-BA5D-7714E73B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A8606-B15E-4DCF-9458-D34E102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Continue later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3438B-C062-424F-AD6C-FA556EA5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005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4084F2-559F-4ADC-9D14-C29D9826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57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History + bookmarks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83693F-D13E-4946-B0E0-6B321BE6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0050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41ECA-D8A2-4B08-9EA8-143E6970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957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Saved answer is searchable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1B9467-C51D-4A9F-9760-5D20DE4E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72077D-4BB5-43CB-92D0-C2BF06C8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Improve weak topics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2DFE53-0756-4D7B-8205-7C7F24E4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672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A06193-8671-4121-BD8B-7CB466D4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625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Practice + feedback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1A994D-29A8-4924-B400-189F4A87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AD3FC3-9E8D-447B-A8DD-ADBD9B48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625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Attempt produces next step</a:t>
            </a:r>
          </a:p>
        </p:txBody>
      </p:sp>
    </p:spTree>
    <p:extLst>
      <p:ext uri="{BB962C8B-B14F-4D97-AF65-F5344CB8AC3E}">
        <p14:creationId xmlns:p14="http://schemas.microsoft.com/office/powerpoint/2010/main" val="20124153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7BFAC-51C3-4DE9-8F26-C48F6EAE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0D305-6992-4BFB-A072-9ECFBA86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0E5AB-F351-4275-88FD-E2F3BBF3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146D5-CD9D-4F5B-95A1-0E22236A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E74A0-B452-4DA8-85F1-864AD0FB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Authentication protects the personal learning 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DB30C-4F4B-4866-AA98-05C222F6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Secure access is required for history, saved answers and statistics.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CC9EA-184A-4ED1-87E5-063E34E6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F0D5F-FC45-4810-B376-3DFED930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0D118-7BBD-44A3-BE26-0F66846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Functional 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36B7D-CB4A-4167-AD72-9DB3633C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Register with email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Secure login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Password strength validation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Optional 2FA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First-use profile choices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9D8D2-A31F-4C4C-8500-038529D9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CA333-8CCF-4641-9788-7CD54945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Personal history is private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Preferences shape explanations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Account controls support recovery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Underage users need extra care</a:t>
            </a:r>
          </a:p>
        </p:txBody>
      </p:sp>
      <p:pic xmlns:a="http://schemas.openxmlformats.org/drawingml/2006/main" xmlns:r="http://schemas.openxmlformats.org/officeDocument/2006/relationships">
        <p:nvPicPr>
          <p:cNvPr id="14" name="Picture 13" descr="Screenshot_20260806_19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15" name="TextBox 14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Login / Auth Screen</a:t>
            </a:r>
          </a:p>
        </p:txBody>
      </p:sp>
    </p:spTree>
    <p:extLst>
      <p:ext uri="{BB962C8B-B14F-4D97-AF65-F5344CB8AC3E}">
        <p14:creationId xmlns:p14="http://schemas.microsoft.com/office/powerpoint/2010/main" val="920302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865BD-DB72-4F2B-8B46-675D677F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627D6-BC1C-4458-81A6-CD6DB21F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2673A-4542-4E4D-9F6C-D9A4C55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6EB91-9869-42E9-964D-BDAB14BA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E81C9-9BC3-4C79-A42A-E4B8BFF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Question submission must match real student behaviour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2E423-0BB2-4FED-A1C2-D26E8C47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Text and image input are core requirements, not optional polish.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E7823-E5CD-4180-9AE4-B0660C6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286000" cy="4191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A8098-6E05-426E-B2BE-10A5168F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2095500" cy="39624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765E7-CAC6-43AD-BAF6-2CF24930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38325"/>
            <a:ext cx="647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8D92A-6738-4045-9B7C-D94A2828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New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E1543-CC10-4E30-A157-83EE42F3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D5F0F-D5FC-4656-8584-8C342B88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Type a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66A82-042D-4B97-9488-89BAC601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0A985-EAD3-403A-BB66-9B13BC77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Take a photo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53D0B-6C96-45E6-8D3D-E598D5F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A9759-30F4-4338-B214-7FACC478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Select subject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F2A80E-3352-4F59-B11F-6CA4C056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A64A3-D33C-462F-BFDE-BA5C2D25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9B45"/>
                </a:solidFill>
                <a:latin typeface="Arial"/>
                <a:ea typeface="Arial"/>
                <a:cs typeface="Arial"/>
              </a:rPr>
              <a:t>Send to Mentor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8E609-477E-4C26-AA28-53D3B48C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53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57FF6-2E1D-4413-8833-3A69E95F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Text 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901B4-6082-441F-B333-67A6F7A7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Concepts, languages and programming.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96C66-BB14-4459-9FDF-B9D25215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Image upload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5E1D0-AFD7-4537-A1DE-1347042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43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Homework, equations and diagrams.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C2B6C-B4B5-46F2-8C4C-99B56770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00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Subject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6C32F-4B88-460A-87CB-67AE45D8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197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Supports routing and appropriate explanation depth.</a:t>
            </a:r>
          </a:p>
        </p:txBody>
      </p:sp>
      <p:pic xmlns:a="http://schemas.openxmlformats.org/drawingml/2006/main" xmlns:r="http://schemas.openxmlformats.org/officeDocument/2006/relationships">
        <p:nvPicPr>
          <p:cNvPr id="27" name="Picture 26" descr="Screenshot_20260806_193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28" name="TextBox 27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Text + Image Input</a:t>
            </a:r>
          </a:p>
        </p:txBody>
      </p:sp>
    </p:spTree>
    <p:extLst>
      <p:ext uri="{BB962C8B-B14F-4D97-AF65-F5344CB8AC3E}">
        <p14:creationId xmlns:p14="http://schemas.microsoft.com/office/powerpoint/2010/main" val="132147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034EB-F10A-471C-B960-49EBB67C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E6561-4ECD-4C52-A5A9-91A27289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40FA7-5835-4BE7-9370-8B1FD0F0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394C1-526B-44A1-87F0-31BB755A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4AEB5-7A18-4651-8CF7-E64A7759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AI answers must teach, not only calculate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B752A-8C5B-42DD-82BC-149D672C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answer format is part of the user requirement.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A4FD8-5BC3-4714-9C45-F27A57A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10287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71577-5676-4548-A639-E4C2EA6D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38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1  Identify topic and level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715E4-5D66-4940-8899-6C834EE8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2  Explain concept or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2D6F3-0F72-4466-BBEA-6DD3E189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3  Show logical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572A2-A816-4625-9373-29CAD1BB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4  State final answer clearly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A58D6-6735-4EAA-882E-73549300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Optional learning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ECF45F-57D1-47F2-9B9D-2919BE59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342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Simplified explanation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Alternative solution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Key concepts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Common mistakes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Follow-up practice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Picture 14" descr="Screenshot_20260806_201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16" name="TextBox 15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AI Step-by-step Answer</a:t>
            </a:r>
          </a:p>
        </p:txBody>
      </p:sp>
    </p:spTree>
    <p:extLst>
      <p:ext uri="{BB962C8B-B14F-4D97-AF65-F5344CB8AC3E}">
        <p14:creationId xmlns:p14="http://schemas.microsoft.com/office/powerpoint/2010/main" val="2285591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E33D8-E274-4766-B029-887C6949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7F59E-D9A8-488A-BA2C-1AE50406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D6B2C-513B-4C5A-91B9-C13DA51B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73F17-9405-4923-8976-335B0EAC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FC469-E510-4C09-81AF-3A0AD93E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system should support multiple subjects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3F0E1-546C-4331-BE20-1A3796E7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brief names mathematics, science, programming, history and languages.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7EE36-DE16-4835-BBA1-DB474D61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425D3-0E58-4629-A1D3-7D95662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955384-389B-4B48-9588-050B7A95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Math + science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4A524-74AF-4DF8-81DB-87E925F2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Formulas, diagrams, working and concept explanations.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E2177-08FD-419D-A036-BF48FEA4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E7CEB-64F4-439D-8612-C4828492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COMPUTING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97F34-640D-431D-97FC-9CFBA517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Programming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8FF9D-B564-43BE-BC66-EDD6E71B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Code, debugging, syntax and step-by-step reasoning.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BDEBF-7527-4F5F-A8FF-3085A548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A3D63-7659-4DE1-BD10-A321E882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HUMANITIES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3A462-B9BA-4AE6-88F5-5CF2B4C8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History + languages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E9FE7-1CFF-4895-973D-4A176A81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Clear context, vocabulary and appropriately simple explanations.</a:t>
            </a:r>
          </a:p>
        </p:txBody>
      </p:sp>
    </p:spTree>
    <p:extLst>
      <p:ext uri="{BB962C8B-B14F-4D97-AF65-F5344CB8AC3E}">
        <p14:creationId xmlns:p14="http://schemas.microsoft.com/office/powerpoint/2010/main" val="10300337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C15A9-7CD3-437F-8D4B-05CDF58E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E46D08-3E23-4185-8B35-12B36390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224DE-487D-48CC-9FF5-247E4A90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7AA7D-3A0D-49DD-922C-1DF91A0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45C57-DCC7-4361-BBE6-8357BB57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History and the personal library make help reusable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258E2-3EF6-4DC6-8BEE-58E70B38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A one-off answer becomes a revision asset.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BF201-8138-46B3-962C-53E8B3CB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7B6068-ED1C-43EA-8F17-01A95066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A9A59-5464-42A7-AFAB-7F71D02A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Student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CDA78-AD15-4D4D-8869-B2BC4040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Search past questions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Bookmark important answers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Organise by subject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View previously answered questions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B9979-306B-4F71-BEAB-6F379821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System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69DCA-AD7A-413C-A9CB-F48CC694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Save question + answer automatically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Recognise repeated topics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Suggest review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Keep data linked to the right user</a:t>
            </a:r>
          </a:p>
        </p:txBody>
      </p:sp>
      <p:pic xmlns:a="http://schemas.openxmlformats.org/drawingml/2006/main" xmlns:r="http://schemas.openxmlformats.org/officeDocument/2006/relationships">
        <p:nvPicPr>
          <p:cNvPr id="14" name="Picture 13" descr="Screenshot_20260806_19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15" name="TextBox 14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Question History</a:t>
            </a:r>
          </a:p>
        </p:txBody>
      </p:sp>
    </p:spTree>
    <p:extLst>
      <p:ext uri="{BB962C8B-B14F-4D97-AF65-F5344CB8AC3E}">
        <p14:creationId xmlns:p14="http://schemas.microsoft.com/office/powerpoint/2010/main" val="1649136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04FB4-A049-4A19-BCEE-15304199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D57B5-591A-4AFB-8B16-D3162A9C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D32DC-6EA2-4923-B89F-2A1B41E6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90823-E37E-4863-A8AD-6EDDD3A1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BFCCE-17C9-4702-ACDA-68BA9751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Practice questions turn help into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8417A-FF4B-4CF7-BED8-396EE02E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app should create a next challenge from the previous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9D5FA-B1AA-4030-8540-44095A0E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2286000" cy="42100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D1023-769D-49B5-B825-ED2A60CA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2095500" cy="39814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FB611-68B1-4B6D-BD03-0F786D61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38325"/>
            <a:ext cx="647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D4825-5AB3-454D-B612-E3F92779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526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56868-5730-4242-83F4-22D01B92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EAD05-FD1C-48B3-93AF-9369303F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Algebra / medium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DE239-0F8F-4911-A2A9-C03C4D8F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EF05A-9D06-4CD8-B1A1-274E4E08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Choose a 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B7474-7BBD-4152-82B9-E9E6339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023858-830A-4335-B7F9-C273972A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Instant 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4A83D-F0F5-4A92-A716-0B7E4952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87868-9A10-4566-A271-937932FF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9B45"/>
                </a:solidFill>
                <a:latin typeface="Arial"/>
                <a:ea typeface="Arial"/>
                <a:cs typeface="Arial"/>
              </a:rPr>
              <a:t>Try a similar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F0FDF-6770-49E5-944C-8D14CDEE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7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755C4-9066-4EBD-8FDA-3394544B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Supported types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2961D-1141-4BAE-A16E-58A4E821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Multiple choice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Short answer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Fill in the blank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822A16-BECF-424A-AD23-B97D566C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Learning 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DC1AB-DF07-4EE2-AA65-5C6E8643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Instant feedback, review exercises and suggested follow-up questions.</a:t>
            </a:r>
          </a:p>
        </p:txBody>
      </p:sp>
      <p:pic xmlns:a="http://schemas.openxmlformats.org/drawingml/2006/main" xmlns:r="http://schemas.openxmlformats.org/officeDocument/2006/relationships">
        <p:nvPicPr>
          <p:cNvPr id="25" name="Picture 24" descr="Screenshot_20260806_2043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26" name="TextBox 25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MCQ Practice Quest</a:t>
            </a:r>
          </a:p>
        </p:txBody>
      </p:sp>
    </p:spTree>
    <p:extLst>
      <p:ext uri="{BB962C8B-B14F-4D97-AF65-F5344CB8AC3E}">
        <p14:creationId xmlns:p14="http://schemas.microsoft.com/office/powerpoint/2010/main" val="11037660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7707F-DDCD-4B4B-BFC9-E74B9C3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4BC20-B06F-47F8-9B78-B2356DF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FED13-81CD-41F0-9357-E908913E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10288-1FFB-4B0A-A131-508C53D2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9F10C-8ADD-47CC-A424-B28EB004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Progress tracking shows whether the product helps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04B86-2612-4A5A-B0BE-EEEEBDD3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Activity becomes useful when it creates a visible learning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11F9B-9102-467E-80C9-D00B056B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9C085-1921-41E3-90ED-CC266B21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066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CA715-A0FA-4B01-8573-53798CCA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FEA70-0CD8-4C4A-9150-0DCF8294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D1576-B954-4B92-996E-38A1640E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75000"/>
            <a:ext cx="1066800" cy="17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5C864-A93C-4F8F-963A-1F4F5FA6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083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B9D58-61A3-4FBC-9202-9F2382C9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673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4C4F3-3EAE-4AF1-8A29-D890DB8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19500"/>
            <a:ext cx="1066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D9304-CEDB-4A33-BB26-B60BC38B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5808C-0769-40DF-9915-810D1998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673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C598F-961A-4E35-8C12-E53358EF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52875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6F99E-A569-4C2C-855E-26A716FE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861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2226F-B210-4D12-9591-5B974B29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4676A-C959-4E45-9914-03F6751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Dashboard requirements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40F88-1942-4E76-B7CF-CB6EDFAC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56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Total questions asked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Most studied subjects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Quiz accuracy rate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Time spent reviewing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AI-generated insights</a:t>
            </a:r>
          </a:p>
        </p:txBody>
      </p:sp>
      <p:pic xmlns:a="http://schemas.openxmlformats.org/drawingml/2006/main" xmlns:r="http://schemas.openxmlformats.org/officeDocument/2006/relationships">
        <p:nvPicPr>
          <p:cNvPr id="23" name="Picture 22" descr="Screenshot_20260806_2043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24" name="TextBox 23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Progress Dashboard</a:t>
            </a:r>
          </a:p>
        </p:txBody>
      </p:sp>
    </p:spTree>
    <p:extLst>
      <p:ext uri="{BB962C8B-B14F-4D97-AF65-F5344CB8AC3E}">
        <p14:creationId xmlns:p14="http://schemas.microsoft.com/office/powerpoint/2010/main" val="13161543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EB0246-BAB9-4911-AD87-50388E07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96B24-5231-4CB2-A1D6-42619F02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F88EF-5E60-4775-8E25-BE4D554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94B0E-D9C8-475A-9CA8-419D081F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57494-8BD4-4217-B876-F3BF13F9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Engagement should reinforce useful study behaviour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72229-CB7B-439A-9BBC-57AAD162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XP and badges are secondary to learning value.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7C9A7-94B6-4C48-B91E-3138059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8ABAA-8A5E-4094-94D8-AB20670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EARN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1CA80-95EE-4A02-B5DB-91A99699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XP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01ACD-DD6A-4466-ADB1-AFE2413D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For asking, reviewing and completing practice quizzes.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6F3D6-EAEE-4099-8B4E-4018CFC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B49D2-8EBF-493F-9694-9C729DD8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UNLOCK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A871B-C768-4211-BB1D-C472EBA1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Themes + avatars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18901-4E16-4A57-841F-3907BC99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Lightweight continuity and a sense of progress.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BF2AE-5563-4DE2-B482-39F24B30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A5C82-F087-450B-95AD-ADFC03A0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8A8A1-04AD-411D-B11B-CBC6F6AC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Leaderboard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5926C-2BC6-4C7B-91FE-6EF622D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Friends or global activity without exposing sensitive data.</a:t>
            </a:r>
          </a:p>
        </p:txBody>
      </p:sp>
      <p:pic xmlns:a="http://schemas.openxmlformats.org/drawingml/2006/main" xmlns:r="http://schemas.openxmlformats.org/officeDocument/2006/relationships">
        <p:nvPicPr>
          <p:cNvPr id="20" name="Picture 19" descr="Screenshot_20260806_2043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21" name="TextBox 20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Leaderboard / XP Rank</a:t>
            </a:r>
          </a:p>
        </p:txBody>
      </p:sp>
    </p:spTree>
    <p:extLst>
      <p:ext uri="{BB962C8B-B14F-4D97-AF65-F5344CB8AC3E}">
        <p14:creationId xmlns:p14="http://schemas.microsoft.com/office/powerpoint/2010/main" val="17649412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F0654-474A-4FB4-A678-5FF6BFC4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3AC98-59E5-4B31-9DB2-52FABDE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18005-BDBB-4069-96BB-14B0093D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EB6F6-0D47-495C-950E-ECCD754B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426C5-B37B-4A77-ADE3-EF040530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Notifications should bring students back to useful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79E9E-9CD4-4A06-B135-E778BE07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Reminders are valuable only when they have a clear learning reason.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C18D4-66DC-43D7-88A9-A03DC9C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CAA10-7262-4783-9968-DDD8FAD0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4E07A-6F66-4754-9FFB-407E483C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Notification 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B26A3-2AA4-4DD0-B81A-7D09EE4D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Review bookmarked answers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Alert repeated mistakes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Motivate consistent activity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Send daily or weekly summaries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BE3F0-CC51-4081-B33D-2449DA7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Safety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0602A-3238-498D-8531-1D234041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User-controlled preferences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Quiet hours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No sensitive content in previews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Age-appropriate defaults</a:t>
            </a:r>
          </a:p>
        </p:txBody>
      </p:sp>
    </p:spTree>
    <p:extLst>
      <p:ext uri="{BB962C8B-B14F-4D97-AF65-F5344CB8AC3E}">
        <p14:creationId xmlns:p14="http://schemas.microsoft.com/office/powerpoint/2010/main" val="636140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34DF56-7314-4CBB-AA89-8E6BCACE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2BBC1-F57F-4CC3-A8F9-E6B96D2E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07166-7673-4DFA-A9A5-38B07D57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B759C-9141-4D8D-85F3-62B22476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B96F4-3B75-46C9-915B-A73152BA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Offline access protects the review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E7A0F-173E-4715-B3EE-968CB7B6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Previously answered questions can remain useful without a network connection.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B0E04-36F8-4FF6-8852-B9E172AB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581275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17469-8313-423E-A3D1-FFFDDEFB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2314C-7F46-45BD-A916-08E97242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47412-1119-4884-A5A9-B7831CFB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Download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8C5E8-11A1-4D6C-9B1D-0AD121FA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581275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A9C79-ED16-4ADC-9215-BD476767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D2A4E-30B9-463B-9332-0F2BC548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0ED1A-D40F-4B96-BB1B-223926D8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57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24FD7-F200-49D8-9239-1E6DFD78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81275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01773-168B-4B25-B594-30CC3B49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03017-D98E-40C6-960C-CC8F8F3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DB188-79E7-4C1B-9241-78F5B9C8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429B7-37D8-4999-9D14-568FAE55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FD607-681E-4F59-B9D9-07803F78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82C1F-565B-45AA-A517-F6C8CB1A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57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Sync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836FF-0ADD-4897-AB67-AFB0E622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Offline 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B70F9-B8AA-4D73-8B66-380C229B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52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Read history, view bookmarks and continue downloaded practice.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C3B58-DC2B-4DB2-9636-66BFE4B6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When online returns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A4353-6E95-47A3-BA42-879D9344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Sync queued questions, refresh progress and show status clearly.</a:t>
            </a:r>
          </a:p>
        </p:txBody>
      </p:sp>
    </p:spTree>
    <p:extLst>
      <p:ext uri="{BB962C8B-B14F-4D97-AF65-F5344CB8AC3E}">
        <p14:creationId xmlns:p14="http://schemas.microsoft.com/office/powerpoint/2010/main" val="12164273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EC6103-F954-4BD8-BFCE-9041E52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518BE-718F-47F2-BD99-793E8705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31074-EFCB-4CDC-8F79-F39E55F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F0A8A-2502-4E8A-BAE8-FA1FB3E0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EC9B3-A9AD-4BF8-B178-1270FD6E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Security and safety are functional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9EADD-933C-4EB5-A59E-A2B07C59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Student questions, images and profile data must be treated as protected content.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6F517-DBFB-4C66-948B-1FB9211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E3365-CE2A-4499-ADF0-ED4E855F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C69C9-ECEC-4907-A8F4-E6FCD85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05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13BB4-6998-4242-A219-59CCD669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behaviour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7AD45-2B28-4B4F-8301-3B7B9B0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63D74-46CC-4299-B374-90BE443A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002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56970-8CE2-4897-80C1-D854F01A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2C734-DD2F-4EE6-99F0-AD6AE2E1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Password strength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45E59-C12E-42CD-9B62-9123E278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9C38A-74C0-4253-8D32-1E3E51DA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670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Weak passwords are blocked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C1D9B-39FF-4521-94BB-DB150DC0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BFDC76-6A53-459B-94FD-1A430548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Reduces account compromise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0A4AB-9E20-42CB-A5E0-D3953478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42A73-219C-4BF3-A11E-1CDE5AAD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2FA option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FB105-BEC3-4749-A0A1-2C12779D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385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CF79F-C0DC-4387-B2A0-4DD5FE2B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Second factor can be enabled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9C6A4-540F-4840-9630-5914F064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3850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4516D-C193-448F-BB79-50B4CF82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Adds protection for personal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7E9AF-1D0A-47FF-9BAA-9F984E9A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3E99F6-28A9-419A-8BA3-E4962A1E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Encrypted 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4AB35A-B95E-4CFE-A102-242E550F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869A6D-C632-45E6-8CAF-59EB0E1D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User data and images protected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A606F-8742-42DC-B640-5914EB80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0525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257A4-FFF6-41B5-A254-D15C092A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Limits exposure of student content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7FC4BD-5DAB-4A9A-BB76-A7B82452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0AF3E2-8AEF-496A-85F2-E677D4EF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Abuse detection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3766A5-F2EA-4C19-9278-7DFE7185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72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2D1E8E-EE37-4F3F-A010-CFDB89D3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672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Spam and inappropriate content flagged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10EE00-24D8-4086-951C-97354864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1A1C69-4F41-4B81-94C7-386EE3A5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672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Protects the learning environment</a:t>
            </a:r>
          </a:p>
        </p:txBody>
      </p:sp>
    </p:spTree>
    <p:extLst>
      <p:ext uri="{BB962C8B-B14F-4D97-AF65-F5344CB8AC3E}">
        <p14:creationId xmlns:p14="http://schemas.microsoft.com/office/powerpoint/2010/main" val="7713128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9A427-1264-4F1C-AC7C-E3CD06D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472EB-6DD6-4B3D-9ABF-CAE0B52A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D4F95-18CE-40B9-9DE7-ADE305F3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CCAE2-33CB-4BA2-8509-3D1407A8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5DD56-B81D-481F-B1CD-7AB6451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Performance and usability make the promise credible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BD019-5F19-4CED-BE8C-A3526A44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Non-functional requirements shape the experience students actually feel.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1C180-3D99-462A-ACB4-4F4DE21D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6668B-CE4E-4960-859D-57F6236C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8966F-A8B2-4010-8970-93E4F294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Fast and resilient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6799E-C976-4D2F-89BB-70C5D891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Handle concurrent questions, optimise response time and show useful loading states.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E6BCE-232B-4B0F-BDFE-1CF8D2EA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19F6D-D2C6-4EE4-B71E-BEF62E55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USABILITY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04B5D-A2F3-44DF-87EF-56EE465D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Simple and readable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9B307-6E1B-456A-B9C7-A5D47593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Minimal submission steps, clear answer structure and intuitive navigation.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8C261-DB2E-4BD6-99AE-D6E46537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190750"/>
            <a:ext cx="3479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555DB-D4D0-474E-88AA-03850314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362200"/>
            <a:ext cx="309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70419-A4CC-4E96-9EC3-ED7E1B5D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705100"/>
            <a:ext cx="309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Android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E1E82-15E0-4DB4-91DC-0178DDF5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352800"/>
            <a:ext cx="3098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Support Android for the MVP; keep iOS as an optional future channel.</a:t>
            </a:r>
          </a:p>
        </p:txBody>
      </p:sp>
    </p:spTree>
    <p:extLst>
      <p:ext uri="{BB962C8B-B14F-4D97-AF65-F5344CB8AC3E}">
        <p14:creationId xmlns:p14="http://schemas.microsoft.com/office/powerpoint/2010/main" val="853380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942B8-DA89-4C44-8358-4175CF66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D5DCD-70B4-450E-AD02-E216A030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67219-0857-4839-BB04-7E3AF510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73224-E1E5-4D54-A947-6DC5F7AF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66968-F7D5-4BD3-BD57-C45CAE84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Privacy and compatibility constrain the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748C8-9DEB-4478-9016-08E7CB02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application must be usable across learners without collecting unnecessary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61418-2126-460C-A807-5DCD9DD1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D3AE3-B595-4BAC-8D29-0FD5956C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49F1C-94A2-4BAB-8DE1-47841D5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Privacy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E5316-57C2-4803-9864-076A4F8D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Securely encrypt user data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Minimise collection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Consider GDPR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Consider COPPA for younger students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Define retention and access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68E39-7BA3-4DBD-9DE4-6ED9248B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Compatibility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B0B17-1D09-416F-95FD-F38E120A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Android is the MVP platform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iOS is optional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Previously answered content works offline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New questions sync after reconnection</a:t>
            </a:r>
          </a:p>
        </p:txBody>
      </p:sp>
    </p:spTree>
    <p:extLst>
      <p:ext uri="{BB962C8B-B14F-4D97-AF65-F5344CB8AC3E}">
        <p14:creationId xmlns:p14="http://schemas.microsoft.com/office/powerpoint/2010/main" val="5637305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F7F495-ED54-419A-848D-57FB5451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4D863-CDB5-4EB7-B02F-9BB96B4F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2F2B8-219F-4B70-ACEB-65CD992E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D4476-7D9D-4F2F-A78B-F1CB91D4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E04E7-969C-4864-9757-9CFBF650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MVP must fit a 14-week window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00A23-9A22-4E28-9256-FEDE3147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Scope is a requirement because delivery time is part of the business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49046-100C-4790-8A5B-FA1A10A1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D39DB-AB4D-4BBD-A4AC-690F046C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8AF34-A945-45E0-8769-8D981D25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05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5FF25-8301-445D-B87D-8D3ADCB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F0602-ABC2-40A3-BD17-CF17ACFF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2FE9A-21A4-40FE-9DDF-261055DD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002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MVP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63F1C-CE9E-4F37-889F-2647120A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A6589-5C49-484A-B46C-81A05C06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5E75A-4ED0-41D0-952F-EFC253F1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34D64-8BF1-4D51-8B23-61163B51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670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 room for broad feature parity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EE4EA-C2EB-4CE0-918B-63F913F7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7175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CAB0F-4CD9-4173-AB7A-FEEA924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Prioritise core learning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73EEB-D231-456B-8004-385E7E92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98DD1-9A76-469C-9490-9CE01C0C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883341-48A0-4C7F-ADF2-7B01BA02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385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FACE1-1281-4878-B922-E64BAEE9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AI calls have operating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C6EB5-2B74-4CD3-96F7-C1F20FBC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3850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B7158-770F-481D-B6B0-3D3C10FA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Cache, reuse and quota requests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D3CFE0-EEE5-4C92-9541-3C708038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1237B-58C7-415B-85CC-BF6CB7F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Team skills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7A5164-7B24-45A7-BCFA-07624261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034B0-45CE-4E0A-84F6-C295A6A1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Mobile and AI learning is needed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E8579C-E47D-44BC-A263-13441441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0525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92AAEA-1ECC-4B0B-8239-42530DA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Plan training and pairing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AFD6E9-1F63-4375-8CFC-53EA223D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57EFFF-F5B0-4F25-AE36-10792CFB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8481A8-89E4-4C24-8E1F-7C145BF5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72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9ABFEB-7CC5-4B23-ACB4-0F8043C1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672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 fast answer can still be wrong or unsafe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6B5C99-19D7-4FF6-BFAC-D7B0003F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3638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F6DE3-796E-45E2-B70F-03F71036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672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Guardrails, testing and fallback</a:t>
            </a:r>
          </a:p>
        </p:txBody>
      </p:sp>
      <p:pic xmlns:a="http://schemas.openxmlformats.org/drawingml/2006/main" xmlns:r="http://schemas.openxmlformats.org/officeDocument/2006/relationships">
        <p:nvPicPr>
          <p:cNvPr id="38" name="Picture 37" descr="Screenshot_20260806_2044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39" name="TextBox 38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Working MVP on device</a:t>
            </a:r>
          </a:p>
        </p:txBody>
      </p:sp>
    </p:spTree>
    <p:extLst>
      <p:ext uri="{BB962C8B-B14F-4D97-AF65-F5344CB8AC3E}">
        <p14:creationId xmlns:p14="http://schemas.microsoft.com/office/powerpoint/2010/main" val="13578690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91AC8A-C030-46BC-8631-FF6D299D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2AFF4-8696-4C90-A339-3E3AB20A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F6BEC-7097-4179-8C7C-2CB8AA5C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FB3BE-5C96-407F-BADD-9CD5A53A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812BD-B982-413F-8AC6-8D8BFD45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mobile application is the strongest MVP option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E0AD9-0998-4DFA-94C3-79C61903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Its camera access and always-available form factor directly fit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53A41-F68A-469D-B60C-32E55301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94955-4A3D-4E0D-86CA-3C9725C8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8F69D-EFB6-4962-8935-F9ABF86D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00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FA69A-03F1-43B8-9EEE-9889E008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95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Strength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AAF54-4438-4555-9E25-CF09EADC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02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A8C35-9BA3-4CB3-B4A2-2BCD0A38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955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Weakness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91B04-CEA0-4256-9BD4-B2C2B28F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5C8E5-C7F2-4BFD-9C6B-439CCF80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F46E6-6703-4B87-ADA9-C63C7E7C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16B47-B25C-49AA-ADBC-3A8AA9BC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07AC6-33F3-431F-9DFF-2D11E71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670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12697-2A0E-4AE0-8E55-DF0E79C7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Large screen and power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BE09B-CC9B-4275-80B0-89E6A4EB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670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84152-A7E9-4920-B074-3C27E398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22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Not available at the moment of confusion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27BCD6-D296-4A56-A4F9-07536B2C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67000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AA9B2-299A-415D-B1FA-5244149B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622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Reject for MVP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47DBB-180A-4839-B9F7-7408E999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93C7A-D84D-42BF-BDFC-D0B9014F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88EBF-F4A5-427C-BD8D-94E6951F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337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1C3707-4D0D-45DD-A4B0-44102CD1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290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Broad reach and easy updates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6631D-5224-46EF-9DF7-600CC00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337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349D3A-EAC6-4167-8AF1-3ADBAB32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Less controlled camera / offline experience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996080-D5BB-445B-BA36-0D2335DE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33750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2F772-7194-4949-AD00-FBF85CA7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290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Future channel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619191-3AAA-4346-B12A-4F152165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B8680-818A-4536-BDFB-82E47727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F22B78-54A8-4742-B01B-1C6413EE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C64E7B-FF6F-48D6-9CA9-36B1CD07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957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Portable, camera-ready, familiar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B5FF3-B361-4767-9F16-12D219F1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9BBBC3-4BA8-429A-A7E1-8C2B7E46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957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Platform complexity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1A6DA6-D12F-46E7-ABDA-F420E923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00500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1CE5B0-07C4-4F40-80F5-14DFBCD7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9575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Select for MVP</a:t>
            </a:r>
          </a:p>
        </p:txBody>
      </p:sp>
      <p:pic xmlns:a="http://schemas.openxmlformats.org/drawingml/2006/main" xmlns:r="http://schemas.openxmlformats.org/officeDocument/2006/relationships">
        <p:nvPicPr>
          <p:cNvPr id="40" name="Picture 39" descr="Screenshot_20260806_2043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41" name="TextBox 40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Mobile — Journey Map</a:t>
            </a:r>
          </a:p>
        </p:txBody>
      </p:sp>
    </p:spTree>
    <p:extLst>
      <p:ext uri="{BB962C8B-B14F-4D97-AF65-F5344CB8AC3E}">
        <p14:creationId xmlns:p14="http://schemas.microsoft.com/office/powerpoint/2010/main" val="3692223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D640B9-7F98-4A59-BCC4-6B136F5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DF287-1D6B-4FB8-A2E2-11EC826C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EF6C9-5971-4AF8-AA9D-8490C487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3E2EC-9733-425B-9160-942E50EE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75AA1-7B46-40B8-9AFD-4D41BBFE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MVP scope keeps the first release achievable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BF70E-CFE1-43F2-ACEC-AFDBE50B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first release protects the learning loop and postpones optional polish.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53710-F002-4FAC-9A2B-BD613E0E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F603F-E94B-42BD-8608-D833C3BD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5A34B-FCB4-4D61-B33A-9D1ECF4F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52625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A5076-E148-4AB5-B623-23CD9D59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478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Included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F6EBC-26B8-4F45-B1D6-CA2C5AD7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2625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D16C2-37FB-4F0E-AF26-6BF4E4E2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47875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B91B6-8E5E-407F-A399-ED52ABFB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6AD20-6E7F-4578-9FF5-870077B0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1462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MUST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9D444-0C12-4803-98EA-53D6AB02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19375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8123D-AFC4-4BE4-B60C-E3B80FF2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146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Auth, text/image question, AI answer, history, basic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DBCE9-C829-45D4-8B1E-9B0EF8DE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19375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9F4AB-4599-43D3-A533-CFD14C05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14625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2B073-2F0E-462A-BFEA-D37740D5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2ADF7-15CD-4637-B9F9-94AB1312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SHOULD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AA10D-5949-43F9-A80A-C3938747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86125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B078E-9964-4043-B8CE-CAAC36C9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813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Bookmarks, practice, offline reading, reminders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151CC0-BABF-443C-B70C-A5C839FA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86125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D5E9F-492F-461F-B322-57E18574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81375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If stable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155ED-C26E-4FBF-BCB5-61FD75CF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A6F10-0EE5-4462-8AC3-DB491492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COULD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86A42-6CC1-443B-828D-6BB16AF3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52875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A77C6-ED08-45A5-9B30-E0FFE7C8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481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Gamification, avatars, leaderboards, voice 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4FAF93-FD7C-4DD7-89B5-634C1DD7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52875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5DE10-DAE5-4221-8650-15D5D1DC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48125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9E86FE-4223-4C52-B1E7-BDD7738C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F38007-740F-44F6-8DB4-B09EEEED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WON'T yet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AA0615-9B43-47DB-91B8-384DDACF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19625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7E0891-FC64-4ED4-B166-2B2A43ED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1487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Premium plans, advanced social features, iOS parity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AD4F08-826F-4CD3-90D7-52552AA4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19625"/>
            <a:ext cx="2019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832234-D190-419D-916E-38DCAB5D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14875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pic xmlns:a="http://schemas.openxmlformats.org/drawingml/2006/main" xmlns:r="http://schemas.openxmlformats.org/officeDocument/2006/relationships">
        <p:nvPicPr>
          <p:cNvPr id="38" name="Picture 37" descr="Screenshot_20260806_201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39" name="TextBox 38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Implemented MVP features</a:t>
            </a:r>
          </a:p>
        </p:txBody>
      </p:sp>
    </p:spTree>
    <p:extLst>
      <p:ext uri="{BB962C8B-B14F-4D97-AF65-F5344CB8AC3E}">
        <p14:creationId xmlns:p14="http://schemas.microsoft.com/office/powerpoint/2010/main" val="5107242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3E6DE-F355-4EAA-A145-BBEDDB2B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DA886-3428-45C3-8349-90FC1032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8F2DB-F830-4404-97A2-15A4BBAA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83EB9-787D-459C-9BFA-649D8767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26B22-8FAB-4E24-8F7D-F6EBE288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P1 conclusion: requirements describe one coherent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B529B-BC47-4DF5-8C15-3B9556C1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proposed solution is a focused mobile AI mentor, not a general-purpose education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98093-85BC-4070-9D3A-88A62FDB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102108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063BC-1C2E-4EA7-B048-16D3908E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2AAF9-5F54-4BC4-A020-BE13CB0C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3D757-40B1-4DB6-A6E4-5EB3046E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844B6-BFCF-4324-8A5B-B1EE4842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E95B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5B61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04BE5-C8FD-490E-B0D5-17D3E00C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98145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84BD2-F4D0-4A73-8E0E-1939D7B3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733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83005-88A7-47FB-A554-D65D1CC8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766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D2E8D-CC0F-4719-80DE-4B1028E5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0B343-2F1E-4025-B241-FB50241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98145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C7672-1DC2-4D6E-8C4E-2427C928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33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69148-EE72-4A78-ACD4-8CAE7A5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766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EE34B-DE90-423F-868A-6B32DBC9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57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7FBAA-DA57-4840-BBED-78F4EB2C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981450"/>
            <a:ext cx="2038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224BB-99A4-4228-BE96-F48160F8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733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CCFCE-A94B-4527-825A-2010F567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766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B334B0-4EAF-4DC1-A979-7C81FA5D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8BE5CE-6D5A-4DA6-AF59-D2049E62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733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E2DA6-89F7-4526-97AD-7751C6F4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8766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4A674-94E7-46E9-B5DC-1E0CE826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10201222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8BEDF-2120-4EFA-8DC8-731E2E9A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B61"/>
          </a:solidFill>
          <a:ln xmlns:a="http://schemas.openxmlformats.org/drawingml/2006/main" w="0">
            <a:solidFill>
              <a:srgbClr val="E95B6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D4C5C-3204-43B4-844F-C0444771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240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FA0F9-2554-48AF-B2D3-6E7301A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95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57507-9E86-41D4-A4C5-2D003E92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95B6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95B6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87EA6-A6C0-4DFE-978A-5C5BA93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PART 1 / ACTIVITY 1 / P2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39A04-D933-4BE5-964F-A74C216B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 is managed before it becomes rework.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5562B-7BFF-429E-93B7-79A3B843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CEA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CEAF5"/>
                </a:solidFill>
                <a:latin typeface="Arial"/>
                <a:ea typeface="Arial"/>
                <a:cs typeface="Arial"/>
              </a:rPr>
              <a:t>The risk plan focuses on the constraints named in the brief: skills, AI cost, schedule and student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142B5-7810-4FB3-94D0-6AE77BB9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61"/>
          </a:solidFill>
          <a:ln xmlns:a="http://schemas.openxmlformats.org/drawingml/2006/main" w="0">
            <a:solidFill>
              <a:srgbClr val="E95B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35509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B51C2-0C6D-4FD3-8148-43B6ACBC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7CAAC-62C5-49C8-8767-A698CA51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84314-DC77-46A8-89EF-90012AA4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0A236-9782-49A1-8106-B592D63B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AEC0E-A986-4D90-A748-1472E289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Risk 1: junior skills can slow the first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A4F02-CA30-41C5-91E5-F0B21D1F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mitigation is planned learning, not an optimistic assumption.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AFE3E-8A8C-459B-8013-A77A830C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61"/>
          </a:solidFill>
          <a:ln xmlns:a="http://schemas.openxmlformats.org/drawingml/2006/main" w="0">
            <a:solidFill>
              <a:srgbClr val="E95B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24F67-5A75-4F0B-BAC6-1059AAE5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00C8E-0F9B-4BA9-A008-E9F6DB3C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5B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5B61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EB59E-DCD9-420B-84AD-E661F4CE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team has limited mobile application, AI integration and secure data-handling experience.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15FC1-6729-4E64-993F-75F3512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47E6F-7748-48CA-973E-8049C437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Include training in week 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Pair on the first vertical slice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Use one focused Android stack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Review architecture early</a:t>
            </a:r>
          </a:p>
        </p:txBody>
      </p:sp>
      <p:pic xmlns:a="http://schemas.openxmlformats.org/drawingml/2006/main" xmlns:r="http://schemas.openxmlformats.org/officeDocument/2006/relationships">
        <p:nvPicPr>
          <p:cNvPr id="14" name="Picture 13" descr="Screenshot_20260806_193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15" name="TextBox 14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Team — Android Studio build</a:t>
            </a:r>
          </a:p>
        </p:txBody>
      </p:sp>
    </p:spTree>
    <p:extLst>
      <p:ext uri="{BB962C8B-B14F-4D97-AF65-F5344CB8AC3E}">
        <p14:creationId xmlns:p14="http://schemas.microsoft.com/office/powerpoint/2010/main" val="20708900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3D90B-1467-4EDF-A0BC-3F877188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C7E29-05C4-4B1A-91F6-7B92D018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9A4B9-E4B5-4E45-B02C-F9A5CF97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3EFF4-DDE3-41B3-B716-D9717C60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716DB-FBB5-47FB-8406-55D01ED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Risk 2: repeated AI calls can break the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3C357-15E7-43E4-895A-3A63EAA8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Cost control must sit in the architecture from the beginning.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C7347-E61E-4603-9086-E7AB956D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61"/>
          </a:solidFill>
          <a:ln xmlns:a="http://schemas.openxmlformats.org/drawingml/2006/main" w="0">
            <a:solidFill>
              <a:srgbClr val="E95B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4F567-CCFE-4A8F-8CB8-FF88ECE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B393A-353C-4AEE-B5B9-5DA20B7F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5B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5B61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F2883-6A85-4D16-9F06-51AA08E0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High requests, repeated questions or overly long responses can create an unaffordable API bill.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4520B-2F5B-44C9-8854-F8F964B3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F503E-61BA-4E79-8C7D-D2A1C7E2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Semantic or exact-match caching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Prompt and response limits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Weekly quotas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Usage dashboard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Safe fallback when limit is reached</a:t>
            </a:r>
          </a:p>
        </p:txBody>
      </p:sp>
      <p:pic xmlns:a="http://schemas.openxmlformats.org/drawingml/2006/main" xmlns:r="http://schemas.openxmlformats.org/officeDocument/2006/relationships">
        <p:nvPicPr>
          <p:cNvPr id="14" name="Picture 13" descr="Screenshot_20260806_2043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15" name="TextBox 14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Gemini AI response in app</a:t>
            </a:r>
          </a:p>
        </p:txBody>
      </p:sp>
    </p:spTree>
    <p:extLst>
      <p:ext uri="{BB962C8B-B14F-4D97-AF65-F5344CB8AC3E}">
        <p14:creationId xmlns:p14="http://schemas.microsoft.com/office/powerpoint/2010/main" val="144627240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85FA9-6F1E-4682-989B-06D9BFF9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BCA19-31E6-4783-8BA6-87D7FED8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0A0C5-5CF9-4483-8C16-861A3C25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C3AEE-659E-4F15-BAEA-B3196E97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422D6-914E-4FC5-A17B-4E65DBB0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Risk 3: schedule pressure can cause scope creep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91396-E8E0-4F57-B58A-0BBEA1BD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team needs a visible rule for what leaves the MVP.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EFED9-EAD4-4345-98BE-F1932829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61"/>
          </a:solidFill>
          <a:ln xmlns:a="http://schemas.openxmlformats.org/drawingml/2006/main" w="0">
            <a:solidFill>
              <a:srgbClr val="E95B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628A0-6D4A-47A2-94D3-44549C10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498D7-8843-4827-8D2E-4DFA64E2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5B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5B61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F5CB7-5A73-4E5A-A053-3CE3A4BD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 14-week deadline can be lost when optional gamification, iOS parity or premium features enter too early.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76DC1-5253-4EE3-A25C-124EB339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14C6A-A46B-479E-B9C9-799D5C16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Freeze MUST items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Demo every increment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Review backlog every sprint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Move COULD features to Phase 2</a:t>
            </a:r>
          </a:p>
        </p:txBody>
      </p:sp>
    </p:spTree>
    <p:extLst>
      <p:ext uri="{BB962C8B-B14F-4D97-AF65-F5344CB8AC3E}">
        <p14:creationId xmlns:p14="http://schemas.microsoft.com/office/powerpoint/2010/main" val="18080459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FBCAD-18C6-4408-B499-1B6CC825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AI STUDY MENTOR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5B804-173C-4821-A734-20B6AD72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43B49-DCA0-4A31-BF80-F51526F9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6DA2A-5686-4A6F-81CB-B35B54F5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4708A-79AA-403E-B4C8-7BE7C987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Risk 4: student data needs stronger-than-average 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3F89D-E5DC-4FBD-AD6F-7CD56994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A safe MVP treats privacy, consent and access control as release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D02B9-54DC-4C7A-BC2D-87759F5B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5B61"/>
          </a:solidFill>
          <a:ln xmlns:a="http://schemas.openxmlformats.org/drawingml/2006/main" w="0">
            <a:solidFill>
              <a:srgbClr val="E95B6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AF1B3-F661-4CA0-9F2F-9C047F96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9C0B4-613A-4EEC-BA44-624222DE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95B6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95B61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9071A-C009-4265-84BD-D6E501E9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Questions, images and underage-user data could be exposed through weak authentication, storage rules or consent handling.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A752E-ACDC-4294-AF4F-5C08A9BF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C4C64-41F0-45FE-ADA9-3A19ED46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Encrypt stored content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Apply least-privilege access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Add 2FA option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Test consent and deletion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Run security review before demo</a:t>
            </a:r>
          </a:p>
        </p:txBody>
      </p:sp>
      <p:pic xmlns:a="http://schemas.openxmlformats.org/drawingml/2006/main" xmlns:r="http://schemas.openxmlformats.org/officeDocument/2006/relationships">
        <p:nvPicPr>
          <p:cNvPr id="14" name="Picture 13" descr="Screenshot_20260806_2043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452" y="822960"/>
            <a:ext cx="1728216" cy="3840480"/>
          </a:xfrm>
          <a:prstGeom prst="rect">
            <a:avLst/>
          </a:prstGeom>
        </p:spPr>
      </p:pic>
      <p:sp xmlns:a="http://schemas.openxmlformats.org/drawingml/2006/main">
        <p:nvSpPr>
          <p:cNvPr id="15" name="TextBox 14"/>
          <p:cNvSpPr txBox="1"/>
          <p:nvPr/>
        </p:nvSpPr>
        <p:spPr>
          <a:xfrm>
            <a:off x="6858000" y="4709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Room DB — secure storage</a:t>
            </a:r>
          </a:p>
        </p:txBody>
      </p:sp>
    </p:spTree>
    <p:extLst>
      <p:ext uri="{BB962C8B-B14F-4D97-AF65-F5344CB8AC3E}">
        <p14:creationId xmlns:p14="http://schemas.microsoft.com/office/powerpoint/2010/main" val="2933305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ED140-A7B6-4A1F-AA07-3142E4E2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133600" cy="213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DB02B-66E1-49FD-AADE-2B430D15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240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88DFB-9A09-4CFF-9354-C2D6A77B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95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73243-A071-4A85-988F-4CFBBDEB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8A257-3100-46BA-8BD1-AA3F452D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PART 2 / ACTIVITY 2 /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A278A-1AAC-45D5-A189-D48195E0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Demo-slide: show the product learning loop.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6E720-85F3-4B6E-A8F9-354AA118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CEA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CEAF5"/>
                </a:solidFill>
                <a:latin typeface="Arial"/>
                <a:ea typeface="Arial"/>
                <a:cs typeface="Arial"/>
              </a:rPr>
              <a:t>The demo section introduces the developed application and walks through the student journey.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E846E-C793-4B39-9214-0FB4253A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pic xmlns:a="http://schemas.openxmlformats.org/drawingml/2006/main" xmlns:r="http://schemas.openxmlformats.org/officeDocument/2006/relationships">
        <p:nvPicPr>
          <p:cNvPr id="10" name="Picture 9" descr="Screenshot_20260806_19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74320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11" name="TextBox 10"/>
          <p:cNvSpPr txBox="1"/>
          <p:nvPr/>
        </p:nvSpPr>
        <p:spPr>
          <a:xfrm>
            <a:off x="457200" y="534924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12" name="Picture 11" descr="Screenshot_20260806_2043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74320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13" name="TextBox 12"/>
          <p:cNvSpPr txBox="1"/>
          <p:nvPr/>
        </p:nvSpPr>
        <p:spPr>
          <a:xfrm>
            <a:off x="2651760" y="534924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14" name="Picture 13" descr="Screenshot_20260806_2043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368" y="274320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15" name="TextBox 14"/>
          <p:cNvSpPr txBox="1"/>
          <p:nvPr/>
        </p:nvSpPr>
        <p:spPr>
          <a:xfrm>
            <a:off x="4846320" y="534924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16" name="Picture 15" descr="Screenshot_20260806_2044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7" y="274320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17" name="TextBox 16"/>
          <p:cNvSpPr txBox="1"/>
          <p:nvPr/>
        </p:nvSpPr>
        <p:spPr>
          <a:xfrm>
            <a:off x="7040879" y="534924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57072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09F14-2F36-4050-8A18-C21FD360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/ 01 -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F9A3F-2A5D-4BBA-9960-FFAE6F9F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582E7-9DE2-42D1-AEC2-0789EA08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EA962-C735-421C-9338-7EB6AD2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BC665-3887-4963-9F07-B83B4A80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 1: open the app and choose a learning profile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84F0E-4735-42DC-8F74-1B8CAD53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Show the real login/onboarding screen here during the individual demo.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4D408-0C0F-4E33-AB1E-4B03D92D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95450"/>
            <a:ext cx="2400300" cy="43243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C5682-73E2-41C3-A46D-ABF4842F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09800" cy="4095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1BE56-5CC0-45A1-9CD0-85D09C68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43075"/>
            <a:ext cx="647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AF38E-91A0-4BE0-AC4D-0058A38D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574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Welcome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89F94-91D7-4986-A4BB-5EEC6D87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9D5DB-5CF4-4C6E-8F48-09685397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Email + password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30CC4-5208-400C-B3E0-D9A70B44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B06FF-F828-4066-AC09-EA98D46C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Choose education level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C0143-F834-4704-AB97-1CAD428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00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3C3DA-6636-42D7-A807-0C72117E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43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Choose subjects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960BE-B974-4235-B5B5-F923D397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50B53-72C6-4DEE-8D2C-C98BEDB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9B45"/>
                </a:solidFill>
                <a:latin typeface="Arial"/>
                <a:ea typeface="Arial"/>
                <a:cs typeface="Arial"/>
              </a:rPr>
              <a:t>Set explanation style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878EA-2B97-4B80-9F33-0423360B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9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64DF8-3B87-4EEF-9757-F03D7726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F57ED-B646-4F85-92AA-7B5B808C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DD181-B7B6-4F4E-84E3-80ACCBFD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Presenter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81E2B-2A7F-4073-B8D4-DEEBB00B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How a new user registers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How preferences are selected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What is required vs optional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F6BAA8-C648-43A5-A4AD-8C40EC8F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Requirement demonstrated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6D6CE5-DD4F-438C-A19B-6702CEA8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User registration, secure login and first-use profile choices.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Picture 27" descr="Screenshot_20260806_193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69164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29" name="TextBox 28"/>
          <p:cNvSpPr txBox="1"/>
          <p:nvPr/>
        </p:nvSpPr>
        <p:spPr>
          <a:xfrm>
            <a:off x="640080" y="5212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1</a:t>
            </a:r>
          </a:p>
        </p:txBody>
      </p:sp>
      <p:pic xmlns:a="http://schemas.openxmlformats.org/drawingml/2006/main" xmlns:r="http://schemas.openxmlformats.org/officeDocument/2006/relationships">
        <p:nvPicPr>
          <p:cNvPr id="30" name="Picture 29" descr="Screenshot_20260806_1935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348" y="169164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31" name="TextBox 30"/>
          <p:cNvSpPr txBox="1"/>
          <p:nvPr/>
        </p:nvSpPr>
        <p:spPr>
          <a:xfrm>
            <a:off x="2651760" y="5212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2</a:t>
            </a:r>
          </a:p>
        </p:txBody>
      </p:sp>
      <p:pic xmlns:a="http://schemas.openxmlformats.org/drawingml/2006/main" xmlns:r="http://schemas.openxmlformats.org/officeDocument/2006/relationships">
        <p:nvPicPr>
          <p:cNvPr id="32" name="Picture 31" descr="Screenshot_20260806_2016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028" y="169164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33" name="TextBox 32"/>
          <p:cNvSpPr txBox="1"/>
          <p:nvPr/>
        </p:nvSpPr>
        <p:spPr>
          <a:xfrm>
            <a:off x="4663440" y="5212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3</a:t>
            </a:r>
          </a:p>
        </p:txBody>
      </p:sp>
      <p:pic xmlns:a="http://schemas.openxmlformats.org/drawingml/2006/main" xmlns:r="http://schemas.openxmlformats.org/officeDocument/2006/relationships">
        <p:nvPicPr>
          <p:cNvPr id="34" name="Picture 33" descr="Screenshot_20260806_2043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708" y="169164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35" name="TextBox 34"/>
          <p:cNvSpPr txBox="1"/>
          <p:nvPr/>
        </p:nvSpPr>
        <p:spPr>
          <a:xfrm>
            <a:off x="6675120" y="521208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4</a:t>
            </a:r>
          </a:p>
        </p:txBody>
      </p:sp>
    </p:spTree>
    <p:extLst>
      <p:ext uri="{BB962C8B-B14F-4D97-AF65-F5344CB8AC3E}">
        <p14:creationId xmlns:p14="http://schemas.microsoft.com/office/powerpoint/2010/main" val="101241711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AADD7-EAA0-4454-AF32-503556A2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/ 02 -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5689A-AFA6-433B-8DFA-19FA1E8A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1AC62-D065-42DE-A208-F5BF8639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859EE-9C3B-4BDA-BD21-425F2832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4EB0F-AFF1-451D-9BBA-E3A89501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 2: submit a text or image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49579-F2F3-4D9E-8E8C-6E494110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strongest demo moment is the shortest path from confusion to a submitted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597BF-3A77-4AB4-8A9C-B123F042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95450"/>
            <a:ext cx="2400300" cy="43243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88AEA-AA32-46C9-BFCB-8706675A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09800" cy="4095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DAB6B-4614-4844-B3EF-30180573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43075"/>
            <a:ext cx="647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D6762-9722-4306-8B6F-9D415B90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574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New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2379A-D251-48A9-B5D3-F86115A4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3A980-52E9-424F-BB4B-95913BC7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Type a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C9546-888D-4147-A234-D0EBF5FF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77018B-CF2D-4FE4-B5DE-946DFE3F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Take a homework photo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51C12-8AFA-4928-BBFD-6C88D893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00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DC451-21E7-4502-A46D-5BFDDE35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43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Select subject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EB4FD-0228-46DF-8018-C3719D78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E65D6-1C62-45A5-A952-53099B88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9B45"/>
                </a:solidFill>
                <a:latin typeface="Arial"/>
                <a:ea typeface="Arial"/>
                <a:cs typeface="Arial"/>
              </a:rPr>
              <a:t>Send to Mentor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50846-74FB-4B5E-A3DC-D1A0AB42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9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B7C13-47CA-4AD4-A03C-17D6CD8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83223-FD91-40B7-86EF-2C8811F5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E7B20-4AF1-41F8-A530-E81ECAC2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Presenter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DDA44E-9B06-4D25-AE6A-7BEAD6B1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Show text input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Show camera / image selection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Show loading and error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69316-6F41-4AEA-BE1F-12F68824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Requirement demonstrated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53F68-3F2B-4D46-85B9-16740E19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AI question submission using text and image formats across multiple subjects.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Picture 27" descr="Screenshot_20260806_2043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854" y="1691640"/>
            <a:ext cx="1604772" cy="3566160"/>
          </a:xfrm>
          <a:prstGeom prst="rect">
            <a:avLst/>
          </a:prstGeom>
        </p:spPr>
      </p:pic>
      <p:sp xmlns:a="http://schemas.openxmlformats.org/drawingml/2006/main">
        <p:nvSpPr>
          <p:cNvPr id="29" name="TextBox 28"/>
          <p:cNvSpPr txBox="1"/>
          <p:nvPr/>
        </p:nvSpPr>
        <p:spPr>
          <a:xfrm>
            <a:off x="914400" y="5303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5</a:t>
            </a:r>
          </a:p>
        </p:txBody>
      </p:sp>
      <p:pic xmlns:a="http://schemas.openxmlformats.org/drawingml/2006/main" xmlns:r="http://schemas.openxmlformats.org/officeDocument/2006/relationships">
        <p:nvPicPr>
          <p:cNvPr id="30" name="Picture 29" descr="Screenshot_20260806_2043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294" y="1691640"/>
            <a:ext cx="1604772" cy="3566160"/>
          </a:xfrm>
          <a:prstGeom prst="rect">
            <a:avLst/>
          </a:prstGeom>
        </p:spPr>
      </p:pic>
      <p:sp xmlns:a="http://schemas.openxmlformats.org/drawingml/2006/main">
        <p:nvSpPr>
          <p:cNvPr id="31" name="TextBox 30"/>
          <p:cNvSpPr txBox="1"/>
          <p:nvPr/>
        </p:nvSpPr>
        <p:spPr>
          <a:xfrm>
            <a:off x="3291840" y="5303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6</a:t>
            </a:r>
          </a:p>
        </p:txBody>
      </p:sp>
    </p:spTree>
    <p:extLst>
      <p:ext uri="{BB962C8B-B14F-4D97-AF65-F5344CB8AC3E}">
        <p14:creationId xmlns:p14="http://schemas.microsoft.com/office/powerpoint/2010/main" val="18566898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1BABC5-DCE6-4A5E-87A8-4FE5846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/ 03 - ANSWER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5A7B1-C6C8-4FB4-BCD1-C803A729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1DDC9-F796-4B77-88F1-D1F4B17E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1FC0D-E51D-442D-A115-EA3D8BB3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BC8D4-7BE8-43A0-8DAB-19811EFB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 3: read a structured AI explanation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AC3A1-C4C1-46B1-870B-C9C904F4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answer should visibly teach the reasoning and state the final answer clearly.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675B3-ED68-4A2D-AE9F-80BE3E1A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95450"/>
            <a:ext cx="2400300" cy="43243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4CEED-434D-402C-BEB3-6795F47D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09800" cy="4095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972AE-96B3-4273-99EF-283A94F1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43075"/>
            <a:ext cx="647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6E648-A265-4518-9123-F649195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574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AI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6D074-AAD9-43A0-8AF5-FD44DC7A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C3C21-9133-40BF-81C6-DE3CA24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Topic identified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D92A8-193F-4B14-934E-FB2D77AE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E69ED-2053-478E-B6C2-81B10110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Step 1: 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5658A-C593-40F0-84AB-2DF44030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00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6DDDF-0C6C-4EB0-B2A3-4609F0C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43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Step 2: working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F16B0-05C1-4C85-A824-9DDD438D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A8E525-F019-4A0B-82D3-F5F9E00C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9B45"/>
                </a:solidFill>
                <a:latin typeface="Arial"/>
                <a:ea typeface="Arial"/>
                <a:cs typeface="Arial"/>
              </a:rPr>
              <a:t>Final answer + next step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1235B-08B3-4217-A6EC-8A101940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9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BF0A0-7748-441A-BEF9-C7B53D54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22EE4-325D-4527-B297-1DD46E0B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8B29A-5B2F-46FC-9A58-0B9562CC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Presenter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C669E-5167-4787-B041-F5CF81EC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Point to step-by-step structure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Show explanation style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Show any safety or retry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3D3E0-F419-40C0-9648-37374142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Requirement demonstrated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48CD2-1B66-4F54-A05F-16009D02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AI identifies subject and difficulty, explains logically and adapts language.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Picture 27" descr="Screenshot_20260806_2043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854" y="1691640"/>
            <a:ext cx="1604772" cy="3566160"/>
          </a:xfrm>
          <a:prstGeom prst="rect">
            <a:avLst/>
          </a:prstGeom>
        </p:spPr>
      </p:pic>
      <p:sp xmlns:a="http://schemas.openxmlformats.org/drawingml/2006/main">
        <p:nvSpPr>
          <p:cNvPr id="29" name="TextBox 28"/>
          <p:cNvSpPr txBox="1"/>
          <p:nvPr/>
        </p:nvSpPr>
        <p:spPr>
          <a:xfrm>
            <a:off x="914400" y="5303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7</a:t>
            </a:r>
          </a:p>
        </p:txBody>
      </p:sp>
      <p:pic xmlns:a="http://schemas.openxmlformats.org/drawingml/2006/main" xmlns:r="http://schemas.openxmlformats.org/officeDocument/2006/relationships">
        <p:nvPicPr>
          <p:cNvPr id="30" name="Picture 29" descr="Screenshot_20260806_2044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294" y="1691640"/>
            <a:ext cx="1604772" cy="3566160"/>
          </a:xfrm>
          <a:prstGeom prst="rect">
            <a:avLst/>
          </a:prstGeom>
        </p:spPr>
      </p:pic>
      <p:sp xmlns:a="http://schemas.openxmlformats.org/drawingml/2006/main">
        <p:nvSpPr>
          <p:cNvPr id="31" name="TextBox 30"/>
          <p:cNvSpPr txBox="1"/>
          <p:nvPr/>
        </p:nvSpPr>
        <p:spPr>
          <a:xfrm>
            <a:off x="3291840" y="5303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8</a:t>
            </a:r>
          </a:p>
        </p:txBody>
      </p:sp>
    </p:spTree>
    <p:extLst>
      <p:ext uri="{BB962C8B-B14F-4D97-AF65-F5344CB8AC3E}">
        <p14:creationId xmlns:p14="http://schemas.microsoft.com/office/powerpoint/2010/main" val="18490077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FCF4C5-AF88-4ECE-84FA-4E8B735C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/ 04 -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1BDEE-D764-4C78-AD20-84078B16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9420A-0EA6-4E38-BC18-09DEF8F5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C4427-88AA-4B99-ACEF-0B73FA1A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EADF9-508B-4235-A00B-BC581774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 4: save and revisit an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B8E66-0CB0-4564-90AF-D3A1ED97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application becomes more useful when the first answer remains available later.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0B3B4-ACF7-4366-8A4B-4D1071A6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95450"/>
            <a:ext cx="2400300" cy="43243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833AD-F93B-43B2-89F6-30B43E03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09800" cy="4095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5605F-740F-4B0A-9BDC-B2BBCD73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43075"/>
            <a:ext cx="647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4774C-F9D2-4C86-A575-8F0B6E62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574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My library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153EF-AE7C-4576-8C20-23BEA052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0B987-9AD5-4431-9069-81C50DAF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Search past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6A80F-B0F0-4F48-A52D-BFF34CC1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0DFBE-55EF-434B-B245-5D9AE12A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Filter by subject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83FF24-76BE-416A-8897-A6FFCBC2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00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1C198-F456-4FF5-86D5-20763332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43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Bookmark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0CF75-5486-4AA4-BEE4-FC5308E3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A6B41-F0B7-4CD9-8EAC-C3B2FDEC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9B45"/>
                </a:solidFill>
                <a:latin typeface="Arial"/>
                <a:ea typeface="Arial"/>
                <a:cs typeface="Arial"/>
              </a:rPr>
              <a:t>Read offline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7A9BC-6116-45A6-B1A0-1420C9E6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9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EDC538-375A-4D76-BB56-370811EC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6F310-9169-410B-AE55-CFFA6D1F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921A47-E570-4D41-93FE-B998BF0D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Presenter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A85688-5E61-46CD-B9A3-6DCFD6BB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Save an answer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Search history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Bookmark and reopen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Show offline behaviour if implemented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DD38DC-E8AD-419C-9357-0E747D9D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Requirement demonstrated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79EF1-176D-4619-B754-C63B969E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Question history, personal library, search and bookmarks.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Picture 27" descr="Screenshot_20260806_19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854" y="1691640"/>
            <a:ext cx="1604772" cy="3566160"/>
          </a:xfrm>
          <a:prstGeom prst="rect">
            <a:avLst/>
          </a:prstGeom>
        </p:spPr>
      </p:pic>
      <p:sp xmlns:a="http://schemas.openxmlformats.org/drawingml/2006/main">
        <p:nvSpPr>
          <p:cNvPr id="29" name="TextBox 28"/>
          <p:cNvSpPr txBox="1"/>
          <p:nvPr/>
        </p:nvSpPr>
        <p:spPr>
          <a:xfrm>
            <a:off x="914400" y="5303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History View</a:t>
            </a:r>
          </a:p>
        </p:txBody>
      </p:sp>
      <p:pic xmlns:a="http://schemas.openxmlformats.org/drawingml/2006/main" xmlns:r="http://schemas.openxmlformats.org/officeDocument/2006/relationships">
        <p:nvPicPr>
          <p:cNvPr id="30" name="Picture 29" descr="Screenshot_20260806_2016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294" y="1691640"/>
            <a:ext cx="1604772" cy="3566160"/>
          </a:xfrm>
          <a:prstGeom prst="rect">
            <a:avLst/>
          </a:prstGeom>
        </p:spPr>
      </p:pic>
      <p:sp xmlns:a="http://schemas.openxmlformats.org/drawingml/2006/main">
        <p:nvSpPr>
          <p:cNvPr id="31" name="TextBox 30"/>
          <p:cNvSpPr txBox="1"/>
          <p:nvPr/>
        </p:nvSpPr>
        <p:spPr>
          <a:xfrm>
            <a:off x="3291840" y="53035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Saved Answers</a:t>
            </a:r>
          </a:p>
        </p:txBody>
      </p:sp>
    </p:spTree>
    <p:extLst>
      <p:ext uri="{BB962C8B-B14F-4D97-AF65-F5344CB8AC3E}">
        <p14:creationId xmlns:p14="http://schemas.microsoft.com/office/powerpoint/2010/main" val="13080116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8E74FD-77D0-4767-BE13-B9E576D7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/ 05 -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53758-F311-4986-B46B-0AAEF023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9E4ED-7C4A-4C95-A476-459058A9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51E4D-8A44-4ED3-90C4-95930216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893F7-90AD-4310-84B3-65D9594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 5: turn an answer into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D383E-7F85-4931-8638-1A965A82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demo should end with a next learning action rather than a passive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3B43A-49C4-4C5B-A50E-4C9B7A00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95450"/>
            <a:ext cx="2400300" cy="43243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66E57-E426-4DD8-AB30-CD4173D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2209800" cy="40957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F4896-6870-466B-9D1D-103F6D1A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43075"/>
            <a:ext cx="647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D50C6-08B5-4EE8-9E9C-53A8F71F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574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DD964-731E-4D83-950A-BF8F5135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CEF1D-C2F9-4F79-AE20-E3CC7E78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Choose question 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E1940-E355-4F3A-B5B3-03A551F0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432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98DDF-1D65-4E91-86C7-8B0EE97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Submit attempt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93039-D296-4F0A-87FB-0D0B5655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1000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5D89B-F3C3-453E-91B6-BCF274A0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43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Instant 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70F5F-5A92-4E4E-913F-8EC08716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0"/>
            <a:ext cx="20193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026B3-5F59-412B-99D3-20A4C297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9B45"/>
                </a:solidFill>
                <a:latin typeface="Arial"/>
                <a:ea typeface="Arial"/>
                <a:cs typeface="Arial"/>
              </a:rPr>
              <a:t>Review weak topic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AC32F-450A-45E4-9F0C-7CF993CE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9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6B804-9DCD-4B4B-94DE-9E1E0BB8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A6A6"/>
          </a:solidFill>
          <a:ln xmlns:a="http://schemas.openxmlformats.org/drawingml/2006/main" w="0">
            <a:solidFill>
              <a:srgbClr val="0DA6A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EC8B17-311C-4DCF-9859-F4729494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3BF3E7-35BD-48C0-AC70-4BEE5EF5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DA6A6"/>
                </a:solidFill>
                <a:latin typeface="Arial"/>
                <a:ea typeface="Arial"/>
                <a:cs typeface="Arial"/>
              </a:rPr>
              <a:t>Presenter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F5D24-0E6B-4140-B3CA-05816BF6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Generate or open practice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Submit an attempt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Show feedback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Link back to progress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0021B-F959-4800-9DEE-8E3BF6A9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Requirement demonstrated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73724-D670-46DB-9618-DA263DBD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AI-generated practice questions, instant feedback and progress tracking.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Picture 27" descr="Screenshot_20260806_2043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169164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29" name="TextBox 28"/>
          <p:cNvSpPr txBox="1"/>
          <p:nvPr/>
        </p:nvSpPr>
        <p:spPr>
          <a:xfrm>
            <a:off x="457200" y="5212080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Quest Screen</a:t>
            </a:r>
          </a:p>
        </p:txBody>
      </p:sp>
      <p:pic xmlns:a="http://schemas.openxmlformats.org/drawingml/2006/main" xmlns:r="http://schemas.openxmlformats.org/officeDocument/2006/relationships">
        <p:nvPicPr>
          <p:cNvPr id="30" name="Picture 29" descr="Screenshot_20260806_2043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588" y="169164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31" name="TextBox 30"/>
          <p:cNvSpPr txBox="1"/>
          <p:nvPr/>
        </p:nvSpPr>
        <p:spPr>
          <a:xfrm>
            <a:off x="2331720" y="5212080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Answering</a:t>
            </a:r>
          </a:p>
        </p:txBody>
      </p:sp>
      <p:pic xmlns:a="http://schemas.openxmlformats.org/drawingml/2006/main" xmlns:r="http://schemas.openxmlformats.org/officeDocument/2006/relationships">
        <p:nvPicPr>
          <p:cNvPr id="32" name="Picture 31" descr="Screenshot_20260806_2043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3108" y="169164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33" name="TextBox 32"/>
          <p:cNvSpPr txBox="1"/>
          <p:nvPr/>
        </p:nvSpPr>
        <p:spPr>
          <a:xfrm>
            <a:off x="4206240" y="5212080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Daily Quests</a:t>
            </a:r>
          </a:p>
        </p:txBody>
      </p:sp>
      <p:pic xmlns:a="http://schemas.openxmlformats.org/drawingml/2006/main" xmlns:r="http://schemas.openxmlformats.org/officeDocument/2006/relationships">
        <p:nvPicPr>
          <p:cNvPr id="34" name="Picture 33" descr="Screenshot_20260806_2043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627" y="169164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35" name="TextBox 34"/>
          <p:cNvSpPr txBox="1"/>
          <p:nvPr/>
        </p:nvSpPr>
        <p:spPr>
          <a:xfrm>
            <a:off x="6080759" y="5212080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Chapter Map</a:t>
            </a:r>
          </a:p>
        </p:txBody>
      </p:sp>
    </p:spTree>
    <p:extLst>
      <p:ext uri="{BB962C8B-B14F-4D97-AF65-F5344CB8AC3E}">
        <p14:creationId xmlns:p14="http://schemas.microsoft.com/office/powerpoint/2010/main" val="7432491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2CBE7-E646-4F9A-8803-9F559DE1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/ 06 - END-TO-END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D7DA9-9177-4E79-A13F-06892515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4AE3A-9C4D-4959-A976-7F1AE59E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F0AC3-E7D3-4DA1-8FED-490A0C06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8C6C3-EDC5-4094-9A5D-4D1866AC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 6: complete the learning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846A1-C615-4F54-ACAF-805F054A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Use this sequence as the individual live-demo route.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2E39F-DD41-4D0F-91E6-CC8EF7C9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81275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71F8A-A318-4156-AFD7-C5944DF6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87EAA-0119-4CC9-A052-1841B01A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A6A9F-D239-4970-8D6F-502D255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99BF2-A4EB-41E8-B34E-CCA921EF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81275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7E9DB-2006-47BF-A601-66882062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3CC41-CAD9-4FDF-9145-3DC97E73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1BD7E-071B-4235-ACDE-32334A9D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575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A03E4-6D51-4D75-8F43-83224AFF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81275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8BBC1-053F-4B66-B548-C77FF038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10E39-AB8B-4FF5-A087-E9DD85B6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B9C9B-B0B5-4E68-8CEB-9E4AF62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575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79C49-ED8C-46D5-AF41-E657ED4C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81275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8EFA7-9580-49B4-B3C5-0C19B65F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A8804-E412-4AA0-90AB-17838DF4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AD123-8BD9-4F26-A93E-DDEFD751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D25E5-65F8-4B33-AB72-AAFD1C33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81275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C95250-A53E-4FAA-9629-277EAA0A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F631CF-091A-4B1B-9115-A08DA12F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BABE7-F53F-44CE-BCCC-D967ADF2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575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76F9BD-94DC-4BBC-B820-D7C13BF9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33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F3B16-1D35-4CF0-8D17-5F2AAE42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76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CAA20A-FBEF-4F0C-8F52-96F065F8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575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Progress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10AEA-0B4E-44B5-B0BB-C963E190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Keep the live demo focused: one question, one answer, one saved item and one practice attempt.</a:t>
            </a:r>
          </a:p>
        </p:txBody>
      </p:sp>
      <p:pic xmlns:a="http://schemas.openxmlformats.org/drawingml/2006/main" xmlns:r="http://schemas.openxmlformats.org/officeDocument/2006/relationships">
        <p:nvPicPr>
          <p:cNvPr id="32" name="Picture 31" descr="Screenshot_20260806_193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" y="292608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33" name="TextBox 32"/>
          <p:cNvSpPr txBox="1"/>
          <p:nvPr/>
        </p:nvSpPr>
        <p:spPr>
          <a:xfrm>
            <a:off x="274320" y="5532120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Login</a:t>
            </a:r>
          </a:p>
        </p:txBody>
      </p:sp>
      <p:pic xmlns:a="http://schemas.openxmlformats.org/drawingml/2006/main" xmlns:r="http://schemas.openxmlformats.org/officeDocument/2006/relationships">
        <p:nvPicPr>
          <p:cNvPr id="34" name="Picture 33" descr="Screenshot_20260806_1935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668" y="292608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35" name="TextBox 34"/>
          <p:cNvSpPr txBox="1"/>
          <p:nvPr/>
        </p:nvSpPr>
        <p:spPr>
          <a:xfrm>
            <a:off x="1783080" y="5532120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Ask</a:t>
            </a:r>
          </a:p>
        </p:txBody>
      </p:sp>
      <p:pic xmlns:a="http://schemas.openxmlformats.org/drawingml/2006/main" xmlns:r="http://schemas.openxmlformats.org/officeDocument/2006/relationships">
        <p:nvPicPr>
          <p:cNvPr id="36" name="Picture 35" descr="Screenshot_20260806_2016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4428" y="292608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37" name="TextBox 36"/>
          <p:cNvSpPr txBox="1"/>
          <p:nvPr/>
        </p:nvSpPr>
        <p:spPr>
          <a:xfrm>
            <a:off x="3291840" y="5532120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Answer</a:t>
            </a:r>
          </a:p>
        </p:txBody>
      </p:sp>
      <p:pic xmlns:a="http://schemas.openxmlformats.org/drawingml/2006/main" xmlns:r="http://schemas.openxmlformats.org/officeDocument/2006/relationships">
        <p:nvPicPr>
          <p:cNvPr id="38" name="Picture 37" descr="Screenshot_20260806_2043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188" y="292608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39" name="TextBox 38"/>
          <p:cNvSpPr txBox="1"/>
          <p:nvPr/>
        </p:nvSpPr>
        <p:spPr>
          <a:xfrm>
            <a:off x="4800600" y="5532120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Save</a:t>
            </a:r>
          </a:p>
        </p:txBody>
      </p:sp>
      <p:pic xmlns:a="http://schemas.openxmlformats.org/drawingml/2006/main" xmlns:r="http://schemas.openxmlformats.org/officeDocument/2006/relationships">
        <p:nvPicPr>
          <p:cNvPr id="40" name="Picture 39" descr="Screenshot_20260806_2043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292608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41" name="TextBox 40"/>
          <p:cNvSpPr txBox="1"/>
          <p:nvPr/>
        </p:nvSpPr>
        <p:spPr>
          <a:xfrm>
            <a:off x="6309360" y="5532120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Practice</a:t>
            </a:r>
          </a:p>
        </p:txBody>
      </p:sp>
      <p:pic xmlns:a="http://schemas.openxmlformats.org/drawingml/2006/main" xmlns:r="http://schemas.openxmlformats.org/officeDocument/2006/relationships">
        <p:nvPicPr>
          <p:cNvPr id="42" name="Picture 41" descr="Screenshot_20260806_20434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0708" y="2926080"/>
            <a:ext cx="1152144" cy="2560320"/>
          </a:xfrm>
          <a:prstGeom prst="rect">
            <a:avLst/>
          </a:prstGeom>
        </p:spPr>
      </p:pic>
      <p:sp xmlns:a="http://schemas.openxmlformats.org/drawingml/2006/main">
        <p:nvSpPr>
          <p:cNvPr id="43" name="TextBox 42"/>
          <p:cNvSpPr txBox="1"/>
          <p:nvPr/>
        </p:nvSpPr>
        <p:spPr>
          <a:xfrm>
            <a:off x="7818120" y="5532120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Progress</a:t>
            </a:r>
          </a:p>
        </p:txBody>
      </p:sp>
    </p:spTree>
    <p:extLst>
      <p:ext uri="{BB962C8B-B14F-4D97-AF65-F5344CB8AC3E}">
        <p14:creationId xmlns:p14="http://schemas.microsoft.com/office/powerpoint/2010/main" val="20004078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41AF8-7DA1-492A-83D1-E508AEC8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F5827-C102-4D6E-9063-6A76455F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4DDF8-14EC-4CE3-850E-9FE6D786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2F7E3-3B3B-49AD-B578-0C2CEC29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A strong individual demo explains what the audience is seeing and why it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32DF4-BD02-4AC4-ACCF-C4B3F8B1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97B4C-ABA3-447B-A566-5AF75F1D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Screen /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CAC7B-DCB4-4958-B1B3-029E6424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66750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A900E-E84D-4B9A-8FBD-37B30BC8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7620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Requirement shown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40C7F-F266-46BC-B28F-37722558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66750"/>
            <a:ext cx="3638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3EF42-3197-469F-B873-49BAC445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12FF6-12E9-41CF-99A7-2D2BED31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Login + 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3766B-EC1F-4D76-938A-E293FD70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295400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97A45-EBF0-40F6-8C3F-C3FC088A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3906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Registration and first-use choices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CFE9C-FAFF-45C5-AC70-A504FD23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95400"/>
            <a:ext cx="3638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DFBE5-A4D0-4093-983D-217B454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D760A9-A3A3-48B3-9DB1-BBE96404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Question capture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FAECC7-CEDC-4711-BFAF-CCB42311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24050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FEDC4-67A9-47C3-984E-7FD98BF4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193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Text / image submission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4E6CF-A47A-48C6-B4C6-9240173C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3638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6D69C-C466-448A-864D-07221CB6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Real app input +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57A53-E059-41E0-B01F-7D7975A9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FD804-F6EF-4FF4-B366-A214832D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AI answer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B0D17-1492-4A52-B200-C71A28B6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52700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0EAAE1-9149-46E4-9031-A25F3371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479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Structured explanation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8F008-5896-405D-A752-5E5E4622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638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4FD6F-A835-4C1B-9B7E-74D11DCE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Response screen + fallback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F81588-3688-4122-821A-0DF630C5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CDB9DA-A5FD-45DA-A656-354A8210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F37B86-9604-4C6A-9199-7AC3E6B4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81350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AC964D-FB97-46ED-B898-8D131E76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History + bookmarks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56E15C-D441-4752-B643-DEE573BA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81350"/>
            <a:ext cx="3638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A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7F8E6B-A8F8-4239-8D42-E25A9081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7660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Saved item reopened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ED2210-89B7-4B94-AC8D-5350A9DE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988A17-1DFE-4E14-9B1E-4EEF396E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C00AD6-3EAE-45F6-ADAB-F7F6008F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10000"/>
            <a:ext cx="4476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219EEE-A8EB-427B-8D45-42A68352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052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Feedback + progress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133DDF-A023-4C38-90F1-190D924B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10000"/>
            <a:ext cx="3638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7FE562-676C-4320-904F-53538663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052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Attempt and updated state</a:t>
            </a:r>
          </a:p>
        </p:txBody>
      </p:sp>
      <p:pic xmlns:a="http://schemas.openxmlformats.org/drawingml/2006/main" xmlns:r="http://schemas.openxmlformats.org/officeDocument/2006/relationships">
        <p:nvPicPr>
          <p:cNvPr id="43" name="Picture 42" descr="Screenshot_20260806_193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1371600"/>
            <a:ext cx="1316736" cy="2926080"/>
          </a:xfrm>
          <a:prstGeom prst="rect">
            <a:avLst/>
          </a:prstGeom>
        </p:spPr>
      </p:pic>
      <p:sp xmlns:a="http://schemas.openxmlformats.org/drawingml/2006/main">
        <p:nvSpPr>
          <p:cNvPr id="44" name="TextBox 43"/>
          <p:cNvSpPr txBox="1"/>
          <p:nvPr/>
        </p:nvSpPr>
        <p:spPr>
          <a:xfrm>
            <a:off x="7772400" y="43434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1</a:t>
            </a:r>
          </a:p>
        </p:txBody>
      </p:sp>
      <p:pic xmlns:a="http://schemas.openxmlformats.org/drawingml/2006/main" xmlns:r="http://schemas.openxmlformats.org/officeDocument/2006/relationships">
        <p:nvPicPr>
          <p:cNvPr id="45" name="Picture 44" descr="Screenshot_20260806_2043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1371600"/>
            <a:ext cx="1316736" cy="2926080"/>
          </a:xfrm>
          <a:prstGeom prst="rect">
            <a:avLst/>
          </a:prstGeom>
        </p:spPr>
      </p:pic>
      <p:sp xmlns:a="http://schemas.openxmlformats.org/drawingml/2006/main">
        <p:nvSpPr>
          <p:cNvPr id="46" name="TextBox 45"/>
          <p:cNvSpPr txBox="1"/>
          <p:nvPr/>
        </p:nvSpPr>
        <p:spPr>
          <a:xfrm>
            <a:off x="9509760" y="434340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Screen 5</a:t>
            </a:r>
          </a:p>
        </p:txBody>
      </p:sp>
    </p:spTree>
    <p:extLst>
      <p:ext uri="{BB962C8B-B14F-4D97-AF65-F5344CB8AC3E}">
        <p14:creationId xmlns:p14="http://schemas.microsoft.com/office/powerpoint/2010/main" val="185727268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26520-23A1-4B9F-8DFA-DE0E0E95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/ 08 - PERSONAL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D6DC6-404B-48C3-AB6E-A47E8228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9CC99-70ED-47C7-9E1C-4F9E58FF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DB1A3-6A46-4826-B4C7-08F30980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3650C-116F-45CD-AEBC-57AD5066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Demo handoff: explain your own contribution clearly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9A9DD-5227-45FC-AE29-2B0141F1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The individual section should make ownership visible without narrating the entire team report.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7A7B3-A29C-47D1-8775-F9130EC4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76390-EA23-4523-A02C-DF165AD8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5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BD23F-884D-4B73-9E41-C8287BF4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59370-4D35-42CE-A430-B3A75A4C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Feature you implemented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User problem it solves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Tools or components used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One challenge you resolved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C5E7D-FC1D-4555-A935-B176615F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525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9B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B45"/>
                </a:solidFill>
                <a:latin typeface="Arial"/>
                <a:ea typeface="Arial"/>
                <a:cs typeface="Arial"/>
              </a:rPr>
              <a:t>Show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7CE3D-5241-4E1C-BD6A-E6B4AB73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257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The working flow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Before / after if relevant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A known limitation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- The next improvement you recommend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51696-0D7F-405F-919B-3F6F1FFE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Use the real names, screenshots and implementation details of your team member contribution here.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Picture 14" descr="Screenshot_20260806_201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628" y="137160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16" name="TextBox 15"/>
          <p:cNvSpPr txBox="1"/>
          <p:nvPr/>
        </p:nvSpPr>
        <p:spPr>
          <a:xfrm>
            <a:off x="5943600" y="489204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Implemented screen</a:t>
            </a:r>
          </a:p>
        </p:txBody>
      </p:sp>
      <p:pic xmlns:a="http://schemas.openxmlformats.org/drawingml/2006/main" xmlns:r="http://schemas.openxmlformats.org/officeDocument/2006/relationships">
        <p:nvPicPr>
          <p:cNvPr id="17" name="Picture 16" descr="Screenshot_20260806_2043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88" y="1371600"/>
            <a:ext cx="1563624" cy="3474720"/>
          </a:xfrm>
          <a:prstGeom prst="rect">
            <a:avLst/>
          </a:prstGeom>
        </p:spPr>
      </p:pic>
      <p:sp xmlns:a="http://schemas.openxmlformats.org/drawingml/2006/main">
        <p:nvSpPr>
          <p:cNvPr id="18" name="TextBox 17"/>
          <p:cNvSpPr txBox="1"/>
          <p:nvPr/>
        </p:nvSpPr>
        <p:spPr>
          <a:xfrm>
            <a:off x="8138160" y="489204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>Implemented screen</a:t>
            </a:r>
          </a:p>
        </p:txBody>
      </p:sp>
    </p:spTree>
    <p:extLst>
      <p:ext uri="{BB962C8B-B14F-4D97-AF65-F5344CB8AC3E}">
        <p14:creationId xmlns:p14="http://schemas.microsoft.com/office/powerpoint/2010/main" val="567736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1F169-9FF9-4901-9A03-88456877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DEMO /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76AC3-0A8B-4A58-ABF3-4511703F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28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86879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7B0FB-87B1-4843-91E3-78A1D11B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solidFill>
              <a:srgbClr val="D7E0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EF368-04C3-4DC5-8D21-9B93F5A3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45"/>
          </a:solidFill>
          <a:ln xmlns:a="http://schemas.openxmlformats.org/drawingml/2006/main" w="0">
            <a:solidFill>
              <a:srgbClr val="FF9B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9D967-9D90-4362-ACC5-699A330A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Close on the product value, not the feature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089FA-9234-4DDC-ABF9-CD861F5B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68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6879"/>
                </a:solidFill>
                <a:latin typeface="Arial"/>
                <a:ea typeface="Arial"/>
                <a:cs typeface="Arial"/>
              </a:rPr>
              <a:t>AI Study Mentor helps a student move from a question to a next step in learning.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7B084-79AE-4745-8E22-755F1342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009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3"/>
          </a:solidFill>
          <a:ln xmlns:a="http://schemas.openxmlformats.org/drawingml/2006/main" w="0">
            <a:solidFill>
              <a:srgbClr val="0F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98236-BADB-4A9E-BD9F-8221724D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813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Ask. Understand. Practise.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A955C-D5FF-46E5-A524-F627DBB0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2A43"/>
                </a:solidFill>
                <a:latin typeface="Arial"/>
                <a:ea typeface="Arial"/>
                <a:cs typeface="Arial"/>
              </a:rPr>
              <a:t>Finish by showing the working application and stating what is implemented today.</a:t>
            </a:r>
          </a:p>
        </p:txBody>
      </p:sp>
      <p:pic xmlns:a="http://schemas.openxmlformats.org/drawingml/2006/main" xmlns:r="http://schemas.openxmlformats.org/officeDocument/2006/relationships">
        <p:nvPicPr>
          <p:cNvPr id="11" name="Picture 10" descr="Screenshot_20260806_193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1005840"/>
            <a:ext cx="946404" cy="2103120"/>
          </a:xfrm>
          <a:prstGeom prst="rect">
            <a:avLst/>
          </a:prstGeom>
        </p:spPr>
      </p:pic>
      <p:sp xmlns:a="http://schemas.openxmlformats.org/drawingml/2006/main">
        <p:nvSpPr>
          <p:cNvPr id="12" name="TextBox 11"/>
          <p:cNvSpPr txBox="1"/>
          <p:nvPr/>
        </p:nvSpPr>
        <p:spPr>
          <a:xfrm>
            <a:off x="365760" y="3154679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13" name="Picture 12" descr="Screenshot_20260806_1935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918" y="1005840"/>
            <a:ext cx="946404" cy="2103120"/>
          </a:xfrm>
          <a:prstGeom prst="rect">
            <a:avLst/>
          </a:prstGeom>
        </p:spPr>
      </p:pic>
      <p:sp xmlns:a="http://schemas.openxmlformats.org/drawingml/2006/main">
        <p:nvSpPr>
          <p:cNvPr id="14" name="TextBox 13"/>
          <p:cNvSpPr txBox="1"/>
          <p:nvPr/>
        </p:nvSpPr>
        <p:spPr>
          <a:xfrm>
            <a:off x="2331720" y="3154679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Picture 14" descr="Screenshot_20260806_2016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877" y="1005840"/>
            <a:ext cx="946404" cy="2103120"/>
          </a:xfrm>
          <a:prstGeom prst="rect">
            <a:avLst/>
          </a:prstGeom>
        </p:spPr>
      </p:pic>
      <p:sp xmlns:a="http://schemas.openxmlformats.org/drawingml/2006/main">
        <p:nvSpPr>
          <p:cNvPr id="16" name="TextBox 15"/>
          <p:cNvSpPr txBox="1"/>
          <p:nvPr/>
        </p:nvSpPr>
        <p:spPr>
          <a:xfrm>
            <a:off x="4297679" y="3154679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17" name="Picture 16" descr="Screenshot_20260806_2043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838" y="1005840"/>
            <a:ext cx="946404" cy="2103120"/>
          </a:xfrm>
          <a:prstGeom prst="rect">
            <a:avLst/>
          </a:prstGeom>
        </p:spPr>
      </p:pic>
      <p:sp xmlns:a="http://schemas.openxmlformats.org/drawingml/2006/main">
        <p:nvSpPr>
          <p:cNvPr id="18" name="TextBox 17"/>
          <p:cNvSpPr txBox="1"/>
          <p:nvPr/>
        </p:nvSpPr>
        <p:spPr>
          <a:xfrm>
            <a:off x="6263640" y="3154679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19" name="Picture 18" descr="Screenshot_20260806_2043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958" y="3383280"/>
            <a:ext cx="946404" cy="2103120"/>
          </a:xfrm>
          <a:prstGeom prst="rect">
            <a:avLst/>
          </a:prstGeom>
        </p:spPr>
      </p:pic>
      <p:sp xmlns:a="http://schemas.openxmlformats.org/drawingml/2006/main">
        <p:nvSpPr>
          <p:cNvPr id="20" name="TextBox 19"/>
          <p:cNvSpPr txBox="1"/>
          <p:nvPr/>
        </p:nvSpPr>
        <p:spPr>
          <a:xfrm>
            <a:off x="365760" y="55321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21" name="Picture 20" descr="Screenshot_20260806_20434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2918" y="3383280"/>
            <a:ext cx="946404" cy="2103120"/>
          </a:xfrm>
          <a:prstGeom prst="rect">
            <a:avLst/>
          </a:prstGeom>
        </p:spPr>
      </p:pic>
      <p:sp xmlns:a="http://schemas.openxmlformats.org/drawingml/2006/main">
        <p:nvSpPr>
          <p:cNvPr id="22" name="TextBox 21"/>
          <p:cNvSpPr txBox="1"/>
          <p:nvPr/>
        </p:nvSpPr>
        <p:spPr>
          <a:xfrm>
            <a:off x="2331720" y="55321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23" name="Picture 22" descr="Screenshot_20260806_20435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877" y="3383280"/>
            <a:ext cx="946404" cy="2103120"/>
          </a:xfrm>
          <a:prstGeom prst="rect">
            <a:avLst/>
          </a:prstGeom>
        </p:spPr>
      </p:pic>
      <p:sp xmlns:a="http://schemas.openxmlformats.org/drawingml/2006/main">
        <p:nvSpPr>
          <p:cNvPr id="24" name="TextBox 23"/>
          <p:cNvSpPr txBox="1"/>
          <p:nvPr/>
        </p:nvSpPr>
        <p:spPr>
          <a:xfrm>
            <a:off x="4297679" y="55321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  <p:pic xmlns:a="http://schemas.openxmlformats.org/drawingml/2006/main" xmlns:r="http://schemas.openxmlformats.org/officeDocument/2006/relationships">
        <p:nvPicPr>
          <p:cNvPr id="25" name="Picture 24" descr="Screenshot_20260806_2044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4838" y="3383280"/>
            <a:ext cx="946404" cy="2103120"/>
          </a:xfrm>
          <a:prstGeom prst="rect">
            <a:avLst/>
          </a:prstGeom>
        </p:spPr>
      </p:pic>
      <p:sp xmlns:a="http://schemas.openxmlformats.org/drawingml/2006/main">
        <p:nvSpPr>
          <p:cNvPr id="26" name="TextBox 25"/>
          <p:cNvSpPr txBox="1"/>
          <p:nvPr/>
        </p:nvSpPr>
        <p:spPr>
          <a:xfrm>
            <a:off x="6263640" y="553212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A0D2B9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8399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2026-08-05T16:27:47.2420000Z</dcterms:created>
  <dcterms:modified xsi:type="dcterms:W3CDTF">2026-08-05T16:27:47.2420000Z</dcterms:modified>
</coreProperties>
</file>