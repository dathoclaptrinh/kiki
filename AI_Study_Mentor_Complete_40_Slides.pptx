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a:p>
            <a:r>
              <a:t>This deck is intentionally limited to Part 1 Activity 1 (P1/P2) and Part 2 Activity 2 demo-slide.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a:p>
            <a:r>
              <a:t>Training time is included in the project plan rather than hidden as an assumption.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r>
              <a:t>- https://eur-lex.europa.eu/eli/reg/2016/679/oj</a:t>
            </a:r>
          </a:p>
          <a:p>
            <a:r>
              <a:t>- https://www.ftc.gov/legal-library/browse/rules/childrens-online-privacy-protection-rule-coppa</a:t>
            </a:r>
          </a:p>
          <a:p>
            <a:endParaRPr/>
          </a:p>
          <a:p>
            <a:r>
              <a:t>Pearson (2025), Unit 22 Assignment Brief Part 1: stakeholders, security and safety requirements.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r>
              <a:t>- https://www.ftc.gov/legal-library/browse/rules/childrens-online-privacy-protection-rule-coppa</a:t>
            </a:r>
          </a:p>
          <a:p>
            <a:endParaRPr/>
          </a:p>
          <a:p>
            <a:r>
              <a:t>Pearson (2025), Unit 22 Assignment Brief Part 1: authentication and first-use preferences.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r>
              <a:t>- https://www.ftc.gov/legal-library/browse/rules/childrens-online-privacy-protection-rule-coppa</a:t>
            </a:r>
          </a:p>
          <a:p>
            <a:endParaRPr/>
          </a:p>
          <a:p>
            <a:r>
              <a:t>Pearson (2025), Unit 22 Assignment Brief Part 1: notifications and security.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r>
              <a:t>- https://eur-lex.europa.eu/eli/reg/2016/679/oj</a:t>
            </a:r>
          </a:p>
          <a:p>
            <a:r>
              <a:t>- https://www.ftc.gov/legal-library/browse/rules/childrens-online-privacy-protection-rule-coppa</a:t>
            </a:r>
          </a:p>
          <a:p>
            <a:endParaRPr/>
          </a:p>
          <a:p>
            <a:r>
              <a:t>Pearson (2025), Unit 22 Assignment Brief Part 1: security and safety requirements.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r>
              <a:t>- https://eur-lex.europa.eu/eli/reg/2016/679/oj</a:t>
            </a:r>
          </a:p>
          <a:p>
            <a:r>
              <a:t>- https://www.ftc.gov/legal-library/browse/rules/childrens-online-privacy-protection-rule-coppa</a:t>
            </a:r>
          </a:p>
          <a:p>
            <a:endParaRPr/>
          </a:p>
          <a:p>
            <a:r>
              <a:t>Pearson (2025), Unit 22 Assignment Brief Part 1: privacy and platform compatibility.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a:p>
            <a:r>
              <a:t>P2 risk management: five slides follow.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r>
              <a:t>- https://eur-lex.europa.eu/eli/reg/2016/679/oj</a:t>
            </a:r>
          </a:p>
          <a:p>
            <a:r>
              <a:t>- https://www.ftc.gov/legal-library/browse/rules/childrens-online-privacy-protection-rule-coppa</a:t>
            </a:r>
          </a:p>
          <a:p>
            <a:endParaRPr/>
          </a:p>
          <a:p>
            <a:r>
              <a:t>P2 closes with an explicit release gate: security and privacy cannot be deferred.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a:p>
            <a:r>
              <a:t>The screens below are presentation mockups because no APK, source project or screenshots were supplied in the workspace.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a:p>
            <a:r>
              <a:t>Replace mockup with a real screenshot from the developed application before submission.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a:p>
            <a:r>
              <a:t>Replace mockup with a real screenshot from the developed application before submission.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a:p>
            <a:r>
              <a:t>Replace mockup with a real screenshot from the developed application before submission.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a:p>
            <a:r>
              <a:t>Replace mockup with a real screenshot from the developed application before submission.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a:p>
            <a:r>
              <a:t>Replace mockup with a real screenshot from the developed application before submission.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a:p>
            <a:r>
              <a:t>This slide is a presenter route, not a claim that all features are implemented. Demonstrate only what the application supports.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a:p>
            <a:r>
              <a:t>Replace evidence column with actual screenshots or demo recording references.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a:p>
            <a:r>
              <a:t>Personalise this slide with the individual student's real contribution and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Pearson (2025), Unit 22 Assignment Brief Part 1 (local brief).</a:t>
            </a:r>
          </a:p>
          <a:p>
            <a:endParaRPr/>
          </a:p>
          <a:p>
            <a:r>
              <a:t>Final demo slide. Replace any remaining mockups with real evidence from the developed application.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AF5FB"/>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B4B8E4D-1BBA-4310-BAA5-B0745A636F01}"/>
              </a:ext>
            </a:extLst>
          </p:cNvPr>
          <p:cNvSpPr>
            <a:spLocks noGrp="1"/>
          </p:cNvSpPr>
          <p:nvPr/>
        </p:nvSpPr>
        <p:spPr>
          <a:xfrm>
            <a:off x="609600" y="438150"/>
            <a:ext cx="4381500" cy="228600"/>
          </a:xfrm>
          <a:prstGeom prst="rect">
            <a:avLst/>
          </a:prstGeom>
          <a:noFill/>
          <a:ln w="0">
            <a:noFill/>
            <a:prstDash val="solid"/>
          </a:ln>
        </p:spPr>
        <p:txBody>
          <a:bodyPr lIns="0" tIns="0" rIns="0" bIns="0" anchor="t">
            <a:normAutofit/>
          </a:bodyPr>
          <a:lstStyle/>
          <a:p>
            <a:pPr algn="l">
              <a:buNone/>
              <a:defRPr sz="1125" b="1">
                <a:solidFill>
                  <a:srgbClr val="3D8DFF"/>
                </a:solidFill>
                <a:latin typeface="Arial"/>
                <a:ea typeface="Arial"/>
                <a:cs typeface="Arial"/>
              </a:defRPr>
            </a:pPr>
            <a:r>
              <a:rPr sz="1125" b="1">
                <a:solidFill>
                  <a:srgbClr val="3D8DFF"/>
                </a:solidFill>
                <a:latin typeface="Arial"/>
                <a:ea typeface="Arial"/>
                <a:cs typeface="Arial"/>
              </a:rPr>
              <a:t>UNIT 22 / APPLICATION DEVELOPMENT</a:t>
            </a:r>
          </a:p>
        </p:txBody>
      </p:sp>
      <p:sp>
        <p:nvSpPr>
          <p:cNvPr id="2" name="Rectangle 1">
            <a:extLst>
              <a:ext uri="{FF2B5EF4-FFF2-40B4-BE49-F238E27FC236}">
                <a16:creationId xmlns:a16="http://schemas.microsoft.com/office/drawing/2014/main" id="{E34B9032-A98B-470D-BDEA-8C2B8BB53331}"/>
              </a:ext>
            </a:extLst>
          </p:cNvPr>
          <p:cNvSpPr>
            <a:spLocks noGrp="1"/>
          </p:cNvSpPr>
          <p:nvPr/>
        </p:nvSpPr>
        <p:spPr>
          <a:xfrm>
            <a:off x="609600" y="1428750"/>
            <a:ext cx="5715000" cy="1905000"/>
          </a:xfrm>
          <a:prstGeom prst="rect">
            <a:avLst/>
          </a:prstGeom>
          <a:noFill/>
          <a:ln w="0">
            <a:noFill/>
            <a:prstDash val="solid"/>
          </a:ln>
        </p:spPr>
        <p:txBody>
          <a:bodyPr lIns="0" tIns="0" rIns="0" bIns="0" anchor="t">
            <a:normAutofit/>
          </a:bodyPr>
          <a:lstStyle/>
          <a:p>
            <a:pPr algn="l">
              <a:buNone/>
              <a:defRPr sz="5400" b="1">
                <a:solidFill>
                  <a:srgbClr val="0F2A43"/>
                </a:solidFill>
                <a:latin typeface="Arial"/>
                <a:ea typeface="Arial"/>
                <a:cs typeface="Arial"/>
              </a:defRPr>
            </a:pPr>
            <a:r>
              <a:rPr sz="5400" b="1" dirty="0">
                <a:solidFill>
                  <a:srgbClr val="0F2A43"/>
                </a:solidFill>
                <a:latin typeface="Arial"/>
                <a:ea typeface="Arial"/>
                <a:cs typeface="Arial"/>
              </a:rPr>
              <a:t>AI</a:t>
            </a:r>
            <a:r>
              <a:rPr lang="en-US" sz="5400" b="1" dirty="0">
                <a:solidFill>
                  <a:srgbClr val="0F2A43"/>
                </a:solidFill>
                <a:latin typeface="Arial"/>
                <a:ea typeface="Arial"/>
                <a:cs typeface="Arial"/>
              </a:rPr>
              <a:t> </a:t>
            </a:r>
            <a:r>
              <a:rPr sz="5400" b="1" dirty="0">
                <a:solidFill>
                  <a:srgbClr val="0F2A43"/>
                </a:solidFill>
                <a:latin typeface="Arial"/>
                <a:ea typeface="Arial"/>
                <a:cs typeface="Arial"/>
              </a:rPr>
              <a:t>Study Mentor</a:t>
            </a:r>
          </a:p>
        </p:txBody>
      </p:sp>
      <p:sp>
        <p:nvSpPr>
          <p:cNvPr id="4" name="Rectangle 3">
            <a:extLst>
              <a:ext uri="{FF2B5EF4-FFF2-40B4-BE49-F238E27FC236}">
                <a16:creationId xmlns:a16="http://schemas.microsoft.com/office/drawing/2014/main" id="{1ABF6D33-EBB5-46A1-A829-9B0E8DE9F7F7}"/>
              </a:ext>
            </a:extLst>
          </p:cNvPr>
          <p:cNvSpPr>
            <a:spLocks noGrp="1"/>
          </p:cNvSpPr>
          <p:nvPr/>
        </p:nvSpPr>
        <p:spPr>
          <a:xfrm>
            <a:off x="609600" y="5829300"/>
            <a:ext cx="5715000" cy="247650"/>
          </a:xfrm>
          <a:prstGeom prst="rect">
            <a:avLst/>
          </a:prstGeom>
          <a:noFill/>
          <a:ln w="0">
            <a:noFill/>
            <a:prstDash val="solid"/>
          </a:ln>
        </p:spPr>
        <p:txBody>
          <a:bodyPr lIns="0" tIns="0" rIns="0" bIns="0" anchor="t">
            <a:normAutofit/>
          </a:bodyPr>
          <a:lstStyle/>
          <a:p>
            <a:pPr>
              <a:defRPr sz="1200" b="1">
                <a:solidFill>
                  <a:srgbClr val="FF9B45"/>
                </a:solidFill>
                <a:latin typeface="Arial"/>
                <a:ea typeface="Arial"/>
                <a:cs typeface="Arial"/>
              </a:defRPr>
            </a:pPr>
            <a:r>
              <a:rPr lang="en-US" sz="1200" b="1" dirty="0"/>
              <a:t>Pearson (2025), Unit 22 Assignment Brief Part 1</a:t>
            </a:r>
            <a:endParaRPr sz="1200" b="1" dirty="0">
              <a:solidFill>
                <a:srgbClr val="FF9B45"/>
              </a:solidFill>
              <a:latin typeface="Arial"/>
              <a:ea typeface="Arial"/>
              <a:cs typeface="Arial"/>
            </a:endParaRPr>
          </a:p>
        </p:txBody>
      </p:sp>
      <p:sp>
        <p:nvSpPr>
          <p:cNvPr id="5" name="Rectangle: Rounded Corners 4">
            <a:extLst>
              <a:ext uri="{FF2B5EF4-FFF2-40B4-BE49-F238E27FC236}">
                <a16:creationId xmlns:a16="http://schemas.microsoft.com/office/drawing/2014/main" id="{8B45996D-C585-422A-AF63-02F370C01A7C}"/>
              </a:ext>
            </a:extLst>
          </p:cNvPr>
          <p:cNvSpPr>
            <a:spLocks noGrp="1"/>
          </p:cNvSpPr>
          <p:nvPr/>
        </p:nvSpPr>
        <p:spPr>
          <a:xfrm>
            <a:off x="7810500" y="857250"/>
            <a:ext cx="2571750" cy="5048250"/>
          </a:xfrm>
          <a:prstGeom prst="roundRect">
            <a:avLst>
              <a:gd name="adj" fmla="val 2963"/>
            </a:avLst>
          </a:prstGeom>
          <a:solidFill>
            <a:srgbClr val="0F2A43"/>
          </a:solidFill>
          <a:ln w="0">
            <a:solidFill>
              <a:srgbClr val="0F2A43"/>
            </a:solidFill>
            <a:prstDash val="solid"/>
          </a:ln>
        </p:spPr>
      </p:sp>
      <p:sp>
        <p:nvSpPr>
          <p:cNvPr id="6" name="Rectangle: Rounded Corners 5">
            <a:extLst>
              <a:ext uri="{FF2B5EF4-FFF2-40B4-BE49-F238E27FC236}">
                <a16:creationId xmlns:a16="http://schemas.microsoft.com/office/drawing/2014/main" id="{BA052B62-C56B-46FF-9215-CB768A814D38}"/>
              </a:ext>
            </a:extLst>
          </p:cNvPr>
          <p:cNvSpPr>
            <a:spLocks noGrp="1"/>
          </p:cNvSpPr>
          <p:nvPr/>
        </p:nvSpPr>
        <p:spPr>
          <a:xfrm>
            <a:off x="7905750" y="971550"/>
            <a:ext cx="2381250" cy="4819650"/>
          </a:xfrm>
          <a:prstGeom prst="roundRect">
            <a:avLst>
              <a:gd name="adj" fmla="val 3200"/>
            </a:avLst>
          </a:prstGeom>
          <a:solidFill>
            <a:srgbClr val="FFFFFF"/>
          </a:solidFill>
          <a:ln w="0">
            <a:solidFill>
              <a:srgbClr val="FFFFFF"/>
            </a:solidFill>
            <a:prstDash val="solid"/>
          </a:ln>
        </p:spPr>
      </p:sp>
      <p:sp>
        <p:nvSpPr>
          <p:cNvPr id="7" name="Rectangle: Rounded Corners 6">
            <a:extLst>
              <a:ext uri="{FF2B5EF4-FFF2-40B4-BE49-F238E27FC236}">
                <a16:creationId xmlns:a16="http://schemas.microsoft.com/office/drawing/2014/main" id="{81A0C219-D2A3-4D26-8EAF-3512EEDB9DAE}"/>
              </a:ext>
            </a:extLst>
          </p:cNvPr>
          <p:cNvSpPr>
            <a:spLocks noGrp="1"/>
          </p:cNvSpPr>
          <p:nvPr/>
        </p:nvSpPr>
        <p:spPr>
          <a:xfrm>
            <a:off x="8772525" y="904875"/>
            <a:ext cx="647700" cy="95250"/>
          </a:xfrm>
          <a:prstGeom prst="roundRect">
            <a:avLst>
              <a:gd name="adj" fmla="val 50000"/>
            </a:avLst>
          </a:prstGeom>
          <a:solidFill>
            <a:srgbClr val="0B1220"/>
          </a:solidFill>
          <a:ln w="0">
            <a:solidFill>
              <a:srgbClr val="0B1220"/>
            </a:solidFill>
            <a:prstDash val="solid"/>
          </a:ln>
        </p:spPr>
      </p:sp>
      <p:sp>
        <p:nvSpPr>
          <p:cNvPr id="8" name="Rectangle 7">
            <a:extLst>
              <a:ext uri="{FF2B5EF4-FFF2-40B4-BE49-F238E27FC236}">
                <a16:creationId xmlns:a16="http://schemas.microsoft.com/office/drawing/2014/main" id="{3E9F72C4-0902-4D14-9A13-2B3227E44EF3}"/>
              </a:ext>
            </a:extLst>
          </p:cNvPr>
          <p:cNvSpPr>
            <a:spLocks noGrp="1"/>
          </p:cNvSpPr>
          <p:nvPr/>
        </p:nvSpPr>
        <p:spPr>
          <a:xfrm>
            <a:off x="8039100" y="1219200"/>
            <a:ext cx="2114550" cy="247650"/>
          </a:xfrm>
          <a:prstGeom prst="rect">
            <a:avLst/>
          </a:prstGeom>
          <a:noFill/>
          <a:ln w="0">
            <a:noFill/>
            <a:prstDash val="solid"/>
          </a:ln>
        </p:spPr>
        <p:txBody>
          <a:bodyPr lIns="0" tIns="0" rIns="0" bIns="0" anchor="t">
            <a:normAutofit/>
          </a:bodyPr>
          <a:lstStyle/>
          <a:p>
            <a:pPr algn="l">
              <a:buNone/>
              <a:defRPr sz="1200" b="1">
                <a:solidFill>
                  <a:srgbClr val="0F2A43"/>
                </a:solidFill>
                <a:latin typeface="Arial"/>
                <a:ea typeface="Arial"/>
                <a:cs typeface="Arial"/>
              </a:defRPr>
            </a:pPr>
            <a:r>
              <a:rPr sz="1200" b="1">
                <a:solidFill>
                  <a:srgbClr val="0F2A43"/>
                </a:solidFill>
                <a:latin typeface="Arial"/>
                <a:ea typeface="Arial"/>
                <a:cs typeface="Arial"/>
              </a:rPr>
              <a:t>Ask anything</a:t>
            </a:r>
          </a:p>
        </p:txBody>
      </p:sp>
      <p:sp>
        <p:nvSpPr>
          <p:cNvPr id="9" name="Rectangle: Rounded Corners 8">
            <a:extLst>
              <a:ext uri="{FF2B5EF4-FFF2-40B4-BE49-F238E27FC236}">
                <a16:creationId xmlns:a16="http://schemas.microsoft.com/office/drawing/2014/main" id="{6381BAFA-8172-4C73-B1B4-79FCDD7341DD}"/>
              </a:ext>
            </a:extLst>
          </p:cNvPr>
          <p:cNvSpPr>
            <a:spLocks noGrp="1"/>
          </p:cNvSpPr>
          <p:nvPr/>
        </p:nvSpPr>
        <p:spPr>
          <a:xfrm>
            <a:off x="8001000" y="1638300"/>
            <a:ext cx="2190750" cy="514350"/>
          </a:xfrm>
          <a:prstGeom prst="roundRect">
            <a:avLst>
              <a:gd name="adj" fmla="val 14815"/>
            </a:avLst>
          </a:prstGeom>
          <a:solidFill>
            <a:srgbClr val="F2F7FA"/>
          </a:solidFill>
          <a:ln w="9525">
            <a:solidFill>
              <a:srgbClr val="D7E0E8"/>
            </a:solidFill>
            <a:prstDash val="solid"/>
          </a:ln>
        </p:spPr>
      </p:sp>
      <p:sp>
        <p:nvSpPr>
          <p:cNvPr id="10" name="Rectangle 9">
            <a:extLst>
              <a:ext uri="{FF2B5EF4-FFF2-40B4-BE49-F238E27FC236}">
                <a16:creationId xmlns:a16="http://schemas.microsoft.com/office/drawing/2014/main" id="{EF1BD9B9-C984-40A8-823C-C36F9861B111}"/>
              </a:ext>
            </a:extLst>
          </p:cNvPr>
          <p:cNvSpPr>
            <a:spLocks noGrp="1"/>
          </p:cNvSpPr>
          <p:nvPr/>
        </p:nvSpPr>
        <p:spPr>
          <a:xfrm>
            <a:off x="8096250" y="1752600"/>
            <a:ext cx="2000250" cy="304800"/>
          </a:xfrm>
          <a:prstGeom prst="rect">
            <a:avLst/>
          </a:prstGeom>
          <a:noFill/>
          <a:ln w="0">
            <a:noFill/>
            <a:prstDash val="solid"/>
          </a:ln>
        </p:spPr>
        <p:txBody>
          <a:bodyPr lIns="0" tIns="0" rIns="0" bIns="0" anchor="t">
            <a:normAutofit/>
          </a:bodyPr>
          <a:lstStyle/>
          <a:p>
            <a:pPr algn="l">
              <a:buNone/>
              <a:defRPr sz="1050" b="0">
                <a:solidFill>
                  <a:srgbClr val="0B1220"/>
                </a:solidFill>
                <a:latin typeface="Arial"/>
                <a:ea typeface="Arial"/>
                <a:cs typeface="Arial"/>
              </a:defRPr>
            </a:pPr>
            <a:r>
              <a:rPr sz="1050" b="0">
                <a:solidFill>
                  <a:srgbClr val="0B1220"/>
                </a:solidFill>
                <a:latin typeface="Arial"/>
                <a:ea typeface="Arial"/>
                <a:cs typeface="Arial"/>
              </a:rPr>
              <a:t>Explain an equation</a:t>
            </a:r>
          </a:p>
        </p:txBody>
      </p:sp>
      <p:sp>
        <p:nvSpPr>
          <p:cNvPr id="11" name="Rectangle: Rounded Corners 10">
            <a:extLst>
              <a:ext uri="{FF2B5EF4-FFF2-40B4-BE49-F238E27FC236}">
                <a16:creationId xmlns:a16="http://schemas.microsoft.com/office/drawing/2014/main" id="{BE4765AD-925B-4CF1-9C64-69F0C593A22B}"/>
              </a:ext>
            </a:extLst>
          </p:cNvPr>
          <p:cNvSpPr>
            <a:spLocks noGrp="1"/>
          </p:cNvSpPr>
          <p:nvPr/>
        </p:nvSpPr>
        <p:spPr>
          <a:xfrm>
            <a:off x="8001000" y="2305050"/>
            <a:ext cx="2190750" cy="514350"/>
          </a:xfrm>
          <a:prstGeom prst="roundRect">
            <a:avLst>
              <a:gd name="adj" fmla="val 14815"/>
            </a:avLst>
          </a:prstGeom>
          <a:solidFill>
            <a:srgbClr val="F2F7FA"/>
          </a:solidFill>
          <a:ln w="9525">
            <a:solidFill>
              <a:srgbClr val="D7E0E8"/>
            </a:solidFill>
            <a:prstDash val="solid"/>
          </a:ln>
        </p:spPr>
      </p:sp>
      <p:sp>
        <p:nvSpPr>
          <p:cNvPr id="12" name="Rectangle 11">
            <a:extLst>
              <a:ext uri="{FF2B5EF4-FFF2-40B4-BE49-F238E27FC236}">
                <a16:creationId xmlns:a16="http://schemas.microsoft.com/office/drawing/2014/main" id="{2D0C1AC5-8CFF-4CC9-A590-1A634725B1D0}"/>
              </a:ext>
            </a:extLst>
          </p:cNvPr>
          <p:cNvSpPr>
            <a:spLocks noGrp="1"/>
          </p:cNvSpPr>
          <p:nvPr/>
        </p:nvSpPr>
        <p:spPr>
          <a:xfrm>
            <a:off x="8096250" y="2419350"/>
            <a:ext cx="2000250" cy="304800"/>
          </a:xfrm>
          <a:prstGeom prst="rect">
            <a:avLst/>
          </a:prstGeom>
          <a:noFill/>
          <a:ln w="0">
            <a:noFill/>
            <a:prstDash val="solid"/>
          </a:ln>
        </p:spPr>
        <p:txBody>
          <a:bodyPr lIns="0" tIns="0" rIns="0" bIns="0" anchor="t">
            <a:normAutofit/>
          </a:bodyPr>
          <a:lstStyle/>
          <a:p>
            <a:pPr algn="l">
              <a:buNone/>
              <a:defRPr sz="1050" b="0">
                <a:solidFill>
                  <a:srgbClr val="0B1220"/>
                </a:solidFill>
                <a:latin typeface="Arial"/>
                <a:ea typeface="Arial"/>
                <a:cs typeface="Arial"/>
              </a:defRPr>
            </a:pPr>
            <a:r>
              <a:rPr sz="1050" b="0">
                <a:solidFill>
                  <a:srgbClr val="0B1220"/>
                </a:solidFill>
                <a:latin typeface="Arial"/>
                <a:ea typeface="Arial"/>
                <a:cs typeface="Arial"/>
              </a:rPr>
              <a:t>Step-by-step answer</a:t>
            </a:r>
          </a:p>
        </p:txBody>
      </p:sp>
      <p:sp>
        <p:nvSpPr>
          <p:cNvPr id="13" name="Rectangle: Rounded Corners 12">
            <a:extLst>
              <a:ext uri="{FF2B5EF4-FFF2-40B4-BE49-F238E27FC236}">
                <a16:creationId xmlns:a16="http://schemas.microsoft.com/office/drawing/2014/main" id="{6BDB0EC1-0C1F-4B21-B031-73050CC0A5F5}"/>
              </a:ext>
            </a:extLst>
          </p:cNvPr>
          <p:cNvSpPr>
            <a:spLocks noGrp="1"/>
          </p:cNvSpPr>
          <p:nvPr/>
        </p:nvSpPr>
        <p:spPr>
          <a:xfrm>
            <a:off x="8001000" y="2971800"/>
            <a:ext cx="2190750" cy="514350"/>
          </a:xfrm>
          <a:prstGeom prst="roundRect">
            <a:avLst>
              <a:gd name="adj" fmla="val 14815"/>
            </a:avLst>
          </a:prstGeom>
          <a:solidFill>
            <a:srgbClr val="FFF3E8"/>
          </a:solidFill>
          <a:ln w="9525">
            <a:solidFill>
              <a:srgbClr val="D7E0E8"/>
            </a:solidFill>
            <a:prstDash val="solid"/>
          </a:ln>
        </p:spPr>
      </p:sp>
      <p:sp>
        <p:nvSpPr>
          <p:cNvPr id="14" name="Rectangle 13">
            <a:extLst>
              <a:ext uri="{FF2B5EF4-FFF2-40B4-BE49-F238E27FC236}">
                <a16:creationId xmlns:a16="http://schemas.microsoft.com/office/drawing/2014/main" id="{9A0B0073-DC4E-451E-AC88-561EA2BB72FB}"/>
              </a:ext>
            </a:extLst>
          </p:cNvPr>
          <p:cNvSpPr>
            <a:spLocks noGrp="1"/>
          </p:cNvSpPr>
          <p:nvPr/>
        </p:nvSpPr>
        <p:spPr>
          <a:xfrm>
            <a:off x="8096250" y="3086100"/>
            <a:ext cx="2000250" cy="304800"/>
          </a:xfrm>
          <a:prstGeom prst="rect">
            <a:avLst/>
          </a:prstGeom>
          <a:noFill/>
          <a:ln w="0">
            <a:noFill/>
            <a:prstDash val="solid"/>
          </a:ln>
        </p:spPr>
        <p:txBody>
          <a:bodyPr lIns="0" tIns="0" rIns="0" bIns="0" anchor="t">
            <a:normAutofit/>
          </a:bodyPr>
          <a:lstStyle/>
          <a:p>
            <a:pPr algn="l">
              <a:buNone/>
              <a:defRPr sz="1050" b="0">
                <a:solidFill>
                  <a:srgbClr val="FF9B45"/>
                </a:solidFill>
                <a:latin typeface="Arial"/>
                <a:ea typeface="Arial"/>
                <a:cs typeface="Arial"/>
              </a:defRPr>
            </a:pPr>
            <a:r>
              <a:rPr sz="1050" b="0">
                <a:solidFill>
                  <a:srgbClr val="FF9B45"/>
                </a:solidFill>
                <a:latin typeface="Arial"/>
                <a:ea typeface="Arial"/>
                <a:cs typeface="Arial"/>
              </a:rPr>
              <a:t>Try a similar problem</a:t>
            </a:r>
          </a:p>
        </p:txBody>
      </p:sp>
      <p:sp>
        <p:nvSpPr>
          <p:cNvPr id="15" name="Oval 14">
            <a:extLst>
              <a:ext uri="{FF2B5EF4-FFF2-40B4-BE49-F238E27FC236}">
                <a16:creationId xmlns:a16="http://schemas.microsoft.com/office/drawing/2014/main" id="{CA4FCFE4-B5D5-4AB9-BCAC-4D1DA0F88C0F}"/>
              </a:ext>
            </a:extLst>
          </p:cNvPr>
          <p:cNvSpPr>
            <a:spLocks noGrp="1"/>
          </p:cNvSpPr>
          <p:nvPr/>
        </p:nvSpPr>
        <p:spPr>
          <a:xfrm>
            <a:off x="9058275" y="5676900"/>
            <a:ext cx="76200" cy="76200"/>
          </a:xfrm>
          <a:prstGeom prst="ellipse">
            <a:avLst/>
          </a:prstGeom>
          <a:solidFill>
            <a:srgbClr val="3D8DFF"/>
          </a:solidFill>
          <a:ln w="0">
            <a:solidFill>
              <a:srgbClr val="3D8DFF"/>
            </a:solidFill>
            <a:prstDash val="solid"/>
          </a:ln>
        </p:spPr>
      </p:sp>
    </p:spTree>
    <p:extLst>
      <p:ext uri="{BB962C8B-B14F-4D97-AF65-F5344CB8AC3E}">
        <p14:creationId xmlns:p14="http://schemas.microsoft.com/office/powerpoint/2010/main" val="1229384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F563582-6770-4AA0-8436-482176DAD8D1}"/>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FEFDF853-6D4C-4CCE-8F02-86D67B5F4B98}"/>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dirty="0">
                <a:solidFill>
                  <a:srgbClr val="586879"/>
                </a:solidFill>
                <a:latin typeface="Arial"/>
                <a:ea typeface="Arial"/>
                <a:cs typeface="Arial"/>
              </a:rPr>
              <a:t>02</a:t>
            </a:r>
          </a:p>
        </p:txBody>
      </p:sp>
      <p:sp>
        <p:nvSpPr>
          <p:cNvPr id="3" name="Rectangle 2">
            <a:extLst>
              <a:ext uri="{FF2B5EF4-FFF2-40B4-BE49-F238E27FC236}">
                <a16:creationId xmlns:a16="http://schemas.microsoft.com/office/drawing/2014/main" id="{215D7C6C-5499-4F6B-B8C5-6E50D69210FA}"/>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BF362418-50B1-408E-B8B1-1613FC1B2AF2}"/>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314EC511-4497-45A0-8182-7F6EC7390D9D}"/>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What BrightPath needs to solve</a:t>
            </a:r>
          </a:p>
        </p:txBody>
      </p:sp>
      <p:sp>
        <p:nvSpPr>
          <p:cNvPr id="6" name="Rectangle 5">
            <a:extLst>
              <a:ext uri="{FF2B5EF4-FFF2-40B4-BE49-F238E27FC236}">
                <a16:creationId xmlns:a16="http://schemas.microsoft.com/office/drawing/2014/main" id="{3B7D5898-0933-4860-AD72-4806109E9904}"/>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defRPr sz="1350" b="0">
                <a:solidFill>
                  <a:srgbClr val="586879"/>
                </a:solidFill>
                <a:latin typeface="Arial"/>
                <a:ea typeface="Arial"/>
                <a:cs typeface="Arial"/>
              </a:defRPr>
            </a:pPr>
            <a:r>
              <a:rPr lang="en-US" sz="1350" dirty="0"/>
              <a:t>A clear business and user problem must be defined before selecting the solution.</a:t>
            </a:r>
            <a:endParaRPr sz="1350" b="0" dirty="0">
              <a:solidFill>
                <a:srgbClr val="586879"/>
              </a:solidFill>
              <a:latin typeface="Arial"/>
              <a:ea typeface="Arial"/>
              <a:cs typeface="Arial"/>
            </a:endParaRPr>
          </a:p>
        </p:txBody>
      </p:sp>
      <p:sp>
        <p:nvSpPr>
          <p:cNvPr id="7" name="Rectangle 6">
            <a:extLst>
              <a:ext uri="{FF2B5EF4-FFF2-40B4-BE49-F238E27FC236}">
                <a16:creationId xmlns:a16="http://schemas.microsoft.com/office/drawing/2014/main" id="{9AAF1A80-8F0B-482B-86D1-814B365B4D57}"/>
              </a:ext>
            </a:extLst>
          </p:cNvPr>
          <p:cNvSpPr>
            <a:spLocks noGrp="1"/>
          </p:cNvSpPr>
          <p:nvPr/>
        </p:nvSpPr>
        <p:spPr>
          <a:xfrm>
            <a:off x="864484" y="1856935"/>
            <a:ext cx="5257800" cy="38100"/>
          </a:xfrm>
          <a:prstGeom prst="rect">
            <a:avLst/>
          </a:prstGeom>
          <a:solidFill>
            <a:srgbClr val="3D8DFF"/>
          </a:solidFill>
          <a:ln w="0">
            <a:solidFill>
              <a:srgbClr val="3D8DFF"/>
            </a:solidFill>
            <a:prstDash val="solid"/>
          </a:ln>
        </p:spPr>
      </p:sp>
      <p:sp>
        <p:nvSpPr>
          <p:cNvPr id="8" name="Rectangle 7">
            <a:extLst>
              <a:ext uri="{FF2B5EF4-FFF2-40B4-BE49-F238E27FC236}">
                <a16:creationId xmlns:a16="http://schemas.microsoft.com/office/drawing/2014/main" id="{884D8435-DAAD-45F1-839B-981A6E417199}"/>
              </a:ext>
            </a:extLst>
          </p:cNvPr>
          <p:cNvSpPr>
            <a:spLocks noGrp="1"/>
          </p:cNvSpPr>
          <p:nvPr/>
        </p:nvSpPr>
        <p:spPr>
          <a:xfrm>
            <a:off x="864484" y="5046926"/>
            <a:ext cx="5257800" cy="38100"/>
          </a:xfrm>
          <a:prstGeom prst="rect">
            <a:avLst/>
          </a:prstGeom>
          <a:solidFill>
            <a:srgbClr val="FF9B45"/>
          </a:solidFill>
          <a:ln w="0">
            <a:solidFill>
              <a:srgbClr val="FF9B45"/>
            </a:solidFill>
            <a:prstDash val="solid"/>
          </a:ln>
        </p:spPr>
      </p:sp>
      <p:sp>
        <p:nvSpPr>
          <p:cNvPr id="9" name="Rectangle 8">
            <a:extLst>
              <a:ext uri="{FF2B5EF4-FFF2-40B4-BE49-F238E27FC236}">
                <a16:creationId xmlns:a16="http://schemas.microsoft.com/office/drawing/2014/main" id="{766439C6-0FCD-4BAD-A1A7-B02D4DBADB9E}"/>
              </a:ext>
            </a:extLst>
          </p:cNvPr>
          <p:cNvSpPr>
            <a:spLocks noGrp="1"/>
          </p:cNvSpPr>
          <p:nvPr/>
        </p:nvSpPr>
        <p:spPr>
          <a:xfrm>
            <a:off x="899638" y="2057844"/>
            <a:ext cx="5257800" cy="381000"/>
          </a:xfrm>
          <a:prstGeom prst="rect">
            <a:avLst/>
          </a:prstGeom>
          <a:noFill/>
          <a:ln w="0">
            <a:noFill/>
            <a:prstDash val="solid"/>
          </a:ln>
        </p:spPr>
        <p:txBody>
          <a:bodyPr lIns="0" tIns="0" rIns="0" bIns="0" anchor="t">
            <a:normAutofit/>
          </a:bodyPr>
          <a:lstStyle/>
          <a:p>
            <a:pPr algn="l">
              <a:buNone/>
              <a:defRPr sz="1800" b="1">
                <a:solidFill>
                  <a:srgbClr val="3D8DFF"/>
                </a:solidFill>
                <a:latin typeface="Arial"/>
                <a:ea typeface="Arial"/>
                <a:cs typeface="Arial"/>
              </a:defRPr>
            </a:pPr>
            <a:r>
              <a:rPr lang="en-US" sz="1800" b="1" dirty="0">
                <a:solidFill>
                  <a:srgbClr val="3D8DFF"/>
                </a:solidFill>
                <a:latin typeface="Arial"/>
                <a:ea typeface="Arial"/>
                <a:cs typeface="Arial"/>
              </a:rPr>
              <a:t>User &amp; </a:t>
            </a:r>
            <a:r>
              <a:rPr sz="1800" b="1" dirty="0">
                <a:solidFill>
                  <a:srgbClr val="3D8DFF"/>
                </a:solidFill>
                <a:latin typeface="Arial"/>
                <a:ea typeface="Arial"/>
                <a:cs typeface="Arial"/>
              </a:rPr>
              <a:t>Business problem</a:t>
            </a:r>
          </a:p>
        </p:txBody>
      </p:sp>
      <p:sp>
        <p:nvSpPr>
          <p:cNvPr id="10" name="Rectangle 9">
            <a:extLst>
              <a:ext uri="{FF2B5EF4-FFF2-40B4-BE49-F238E27FC236}">
                <a16:creationId xmlns:a16="http://schemas.microsoft.com/office/drawing/2014/main" id="{CD013038-2DAB-4217-9717-F751C3EBDE56}"/>
              </a:ext>
            </a:extLst>
          </p:cNvPr>
          <p:cNvSpPr>
            <a:spLocks noGrp="1"/>
          </p:cNvSpPr>
          <p:nvPr/>
        </p:nvSpPr>
        <p:spPr>
          <a:xfrm>
            <a:off x="990602" y="2398976"/>
            <a:ext cx="5257800" cy="2667000"/>
          </a:xfrm>
          <a:prstGeom prst="rect">
            <a:avLst/>
          </a:prstGeom>
          <a:noFill/>
          <a:ln w="0">
            <a:noFill/>
            <a:prstDash val="solid"/>
          </a:ln>
        </p:spPr>
        <p:txBody>
          <a:bodyPr lIns="0" tIns="0" rIns="0" bIns="0" anchor="t">
            <a:normAutofit lnSpcReduction="10000"/>
          </a:bodyPr>
          <a:lstStyle/>
          <a:p>
            <a:r>
              <a:rPr lang="en-US" sz="1400" b="1" dirty="0"/>
              <a:t>Students need immediate and understandable academic support</a:t>
            </a:r>
            <a:endParaRPr lang="en-US" sz="1400" dirty="0"/>
          </a:p>
          <a:p>
            <a:pPr marL="285750" indent="-285750">
              <a:buFont typeface="Arial" panose="020B0604020202020204" pitchFamily="34" charset="0"/>
              <a:buChar char="•"/>
            </a:pPr>
            <a:r>
              <a:rPr lang="en-US" sz="1400" dirty="0"/>
              <a:t>Learners may become stuck outside classroom hours. </a:t>
            </a:r>
          </a:p>
          <a:p>
            <a:pPr marL="285750" indent="-285750">
              <a:buFont typeface="Arial" panose="020B0604020202020204" pitchFamily="34" charset="0"/>
              <a:buChar char="•"/>
            </a:pPr>
            <a:r>
              <a:rPr lang="en-US" sz="1400" dirty="0"/>
              <a:t>Questions may come from different subjects and education levels. </a:t>
            </a:r>
          </a:p>
          <a:p>
            <a:pPr marL="285750" indent="-285750">
              <a:buFont typeface="Arial" panose="020B0604020202020204" pitchFamily="34" charset="0"/>
              <a:buChar char="•"/>
            </a:pPr>
            <a:r>
              <a:rPr lang="en-US" sz="1400" dirty="0"/>
              <a:t>Explanations must be simple, structured and appropriate for the learner. </a:t>
            </a:r>
          </a:p>
          <a:p>
            <a:pPr marL="285750" indent="-285750">
              <a:buFont typeface="Arial" panose="020B0604020202020204" pitchFamily="34" charset="0"/>
              <a:buChar char="•"/>
            </a:pPr>
            <a:r>
              <a:rPr lang="en-US" sz="1400" dirty="0"/>
              <a:t>Students need a clear next step after receiving help.</a:t>
            </a:r>
          </a:p>
          <a:p>
            <a:endParaRPr lang="en-US" sz="1400" dirty="0"/>
          </a:p>
          <a:p>
            <a:r>
              <a:rPr lang="en-US" sz="1400" b="1" dirty="0"/>
              <a:t>BrightPath must deliver a reliable MVP under strong constraints</a:t>
            </a:r>
            <a:endParaRPr lang="en-US" sz="1400" dirty="0"/>
          </a:p>
          <a:p>
            <a:pPr marL="285750" indent="-285750">
              <a:buFont typeface="Arial" panose="020B0604020202020204" pitchFamily="34" charset="0"/>
              <a:buChar char="•"/>
            </a:pPr>
            <a:r>
              <a:rPr lang="en-US" sz="1400" dirty="0"/>
              <a:t>Junior mobile development team </a:t>
            </a:r>
          </a:p>
          <a:p>
            <a:pPr marL="285750" indent="-285750">
              <a:buFont typeface="Arial" panose="020B0604020202020204" pitchFamily="34" charset="0"/>
              <a:buChar char="•"/>
            </a:pPr>
            <a:r>
              <a:rPr lang="en-US" sz="1400" dirty="0"/>
              <a:t>Limited development and AI budget </a:t>
            </a:r>
          </a:p>
          <a:p>
            <a:pPr marL="285750" indent="-285750">
              <a:buFont typeface="Arial" panose="020B0604020202020204" pitchFamily="34" charset="0"/>
              <a:buChar char="•"/>
            </a:pPr>
            <a:r>
              <a:rPr lang="en-US" sz="1400" dirty="0"/>
              <a:t>14-week MVP schedule </a:t>
            </a:r>
          </a:p>
          <a:p>
            <a:pPr marL="285750" indent="-285750">
              <a:buFont typeface="Arial" panose="020B0604020202020204" pitchFamily="34" charset="0"/>
              <a:buChar char="•"/>
            </a:pPr>
            <a:r>
              <a:rPr lang="en-US" sz="1400" dirty="0"/>
              <a:t>Student privacy and safety requirements </a:t>
            </a:r>
          </a:p>
          <a:p>
            <a:pPr marL="285750" indent="-285750">
              <a:buFont typeface="Arial" panose="020B0604020202020204" pitchFamily="34" charset="0"/>
              <a:buChar char="•"/>
            </a:pPr>
            <a:r>
              <a:rPr lang="en-US" sz="1400" dirty="0"/>
              <a:t>Need to control repeated AI API calls</a:t>
            </a:r>
          </a:p>
          <a:p>
            <a:endParaRPr lang="en-US" sz="1400" dirty="0"/>
          </a:p>
        </p:txBody>
      </p:sp>
      <p:sp>
        <p:nvSpPr>
          <p:cNvPr id="11" name="Rectangle 10">
            <a:extLst>
              <a:ext uri="{FF2B5EF4-FFF2-40B4-BE49-F238E27FC236}">
                <a16:creationId xmlns:a16="http://schemas.microsoft.com/office/drawing/2014/main" id="{AE055943-A8ED-4DB4-ACE1-8EE7B0AA4B7D}"/>
              </a:ext>
            </a:extLst>
          </p:cNvPr>
          <p:cNvSpPr>
            <a:spLocks noGrp="1"/>
          </p:cNvSpPr>
          <p:nvPr/>
        </p:nvSpPr>
        <p:spPr>
          <a:xfrm>
            <a:off x="899638" y="5216608"/>
            <a:ext cx="5257800" cy="381000"/>
          </a:xfrm>
          <a:prstGeom prst="rect">
            <a:avLst/>
          </a:prstGeom>
          <a:noFill/>
          <a:ln w="0">
            <a:noFill/>
            <a:prstDash val="solid"/>
          </a:ln>
        </p:spPr>
        <p:txBody>
          <a:bodyPr lIns="0" tIns="0" rIns="0" bIns="0" anchor="t">
            <a:normAutofit/>
          </a:bodyPr>
          <a:lstStyle/>
          <a:p>
            <a:pPr algn="l">
              <a:buNone/>
              <a:defRPr sz="1800" b="1">
                <a:solidFill>
                  <a:srgbClr val="FF9B45"/>
                </a:solidFill>
                <a:latin typeface="Arial"/>
                <a:ea typeface="Arial"/>
                <a:cs typeface="Arial"/>
              </a:defRPr>
            </a:pPr>
            <a:r>
              <a:rPr sz="1800" b="1" dirty="0">
                <a:solidFill>
                  <a:srgbClr val="FF9B45"/>
                </a:solidFill>
                <a:latin typeface="Arial"/>
                <a:ea typeface="Arial"/>
                <a:cs typeface="Arial"/>
              </a:rPr>
              <a:t>Proposed response</a:t>
            </a:r>
          </a:p>
        </p:txBody>
      </p:sp>
      <p:sp>
        <p:nvSpPr>
          <p:cNvPr id="12" name="Rectangle 11">
            <a:extLst>
              <a:ext uri="{FF2B5EF4-FFF2-40B4-BE49-F238E27FC236}">
                <a16:creationId xmlns:a16="http://schemas.microsoft.com/office/drawing/2014/main" id="{D7D005A6-D681-4D3D-991F-41AA124D424D}"/>
              </a:ext>
            </a:extLst>
          </p:cNvPr>
          <p:cNvSpPr>
            <a:spLocks noGrp="1"/>
          </p:cNvSpPr>
          <p:nvPr/>
        </p:nvSpPr>
        <p:spPr>
          <a:xfrm>
            <a:off x="990602" y="5686869"/>
            <a:ext cx="5257800" cy="2667000"/>
          </a:xfrm>
          <a:prstGeom prst="rect">
            <a:avLst/>
          </a:prstGeom>
          <a:noFill/>
          <a:ln w="0">
            <a:noFill/>
            <a:prstDash val="solid"/>
          </a:ln>
        </p:spPr>
        <p:txBody>
          <a:bodyPr lIns="0" tIns="0" rIns="0" bIns="0" anchor="t">
            <a:normAutofit/>
          </a:bodyPr>
          <a:lstStyle/>
          <a:p>
            <a:pPr>
              <a:defRPr sz="1350" b="0">
                <a:solidFill>
                  <a:srgbClr val="0B1220"/>
                </a:solidFill>
                <a:latin typeface="Arial"/>
                <a:ea typeface="Arial"/>
                <a:cs typeface="Arial"/>
              </a:defRPr>
            </a:pPr>
            <a:r>
              <a:rPr lang="en-US" sz="1350" dirty="0"/>
              <a:t>Develop an Android-first AI Study Mentor that combines learning journeys, AI tutoring, progress tracking, daily missions and gamification in one student-focused application.</a:t>
            </a:r>
            <a:endParaRPr sz="1350" b="0" dirty="0">
              <a:solidFill>
                <a:srgbClr val="0B1220"/>
              </a:solidFill>
              <a:latin typeface="Arial"/>
              <a:ea typeface="Arial"/>
              <a:cs typeface="Arial"/>
            </a:endParaRPr>
          </a:p>
        </p:txBody>
      </p:sp>
      <p:pic>
        <p:nvPicPr>
          <p:cNvPr id="15" name="Picture 14">
            <a:extLst>
              <a:ext uri="{FF2B5EF4-FFF2-40B4-BE49-F238E27FC236}">
                <a16:creationId xmlns:a16="http://schemas.microsoft.com/office/drawing/2014/main" id="{D47DADF1-CA27-C194-F830-35D4D724C9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8182" y="723900"/>
            <a:ext cx="2606042" cy="5791205"/>
          </a:xfrm>
          <a:prstGeom prst="rect">
            <a:avLst/>
          </a:prstGeom>
        </p:spPr>
      </p:pic>
    </p:spTree>
    <p:extLst>
      <p:ext uri="{BB962C8B-B14F-4D97-AF65-F5344CB8AC3E}">
        <p14:creationId xmlns:p14="http://schemas.microsoft.com/office/powerpoint/2010/main" val="424311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2ED3E32-49BB-4C69-81BF-1408C2F8ECB6}"/>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8532BAA8-E9B3-4FEB-A6D3-221C88BD435D}"/>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03</a:t>
            </a:r>
          </a:p>
        </p:txBody>
      </p:sp>
      <p:sp>
        <p:nvSpPr>
          <p:cNvPr id="3" name="Rectangle 2">
            <a:extLst>
              <a:ext uri="{FF2B5EF4-FFF2-40B4-BE49-F238E27FC236}">
                <a16:creationId xmlns:a16="http://schemas.microsoft.com/office/drawing/2014/main" id="{0F2A8433-779D-4711-9362-1A998875FE3C}"/>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E2C25BE4-EC10-4997-9265-CD76D025ADE2}"/>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0ED25EA5-1F35-49A7-95C3-B493DC101A09}"/>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defRPr sz="2775" b="1">
                <a:solidFill>
                  <a:srgbClr val="0B1220"/>
                </a:solidFill>
                <a:latin typeface="Arial"/>
                <a:ea typeface="Arial"/>
                <a:cs typeface="Arial"/>
              </a:defRPr>
            </a:pPr>
            <a:r>
              <a:rPr lang="en-US" sz="2775" b="1" dirty="0"/>
              <a:t>A Clearly Defined Problem Statement</a:t>
            </a:r>
            <a:endParaRPr sz="2775" b="1" dirty="0">
              <a:solidFill>
                <a:srgbClr val="0B1220"/>
              </a:solidFill>
              <a:latin typeface="Arial"/>
              <a:ea typeface="Arial"/>
              <a:cs typeface="Arial"/>
            </a:endParaRPr>
          </a:p>
        </p:txBody>
      </p:sp>
      <p:sp>
        <p:nvSpPr>
          <p:cNvPr id="6" name="Rectangle 5">
            <a:extLst>
              <a:ext uri="{FF2B5EF4-FFF2-40B4-BE49-F238E27FC236}">
                <a16:creationId xmlns:a16="http://schemas.microsoft.com/office/drawing/2014/main" id="{13F977EA-8E3A-45A4-94CD-8CA04E2516FC}"/>
              </a:ext>
            </a:extLst>
          </p:cNvPr>
          <p:cNvSpPr>
            <a:spLocks noGrp="1"/>
          </p:cNvSpPr>
          <p:nvPr/>
        </p:nvSpPr>
        <p:spPr>
          <a:xfrm>
            <a:off x="908116" y="1552575"/>
            <a:ext cx="6997831" cy="5124451"/>
          </a:xfrm>
          <a:prstGeom prst="rect">
            <a:avLst/>
          </a:prstGeom>
          <a:noFill/>
          <a:ln w="0">
            <a:noFill/>
            <a:prstDash val="solid"/>
          </a:ln>
        </p:spPr>
        <p:txBody>
          <a:bodyPr lIns="0" tIns="0" rIns="0" bIns="0" anchor="t">
            <a:normAutofit/>
          </a:bodyPr>
          <a:lstStyle/>
          <a:p>
            <a:r>
              <a:rPr lang="en-US" sz="1400" b="1" dirty="0"/>
              <a:t>Main problem statement</a:t>
            </a:r>
          </a:p>
          <a:p>
            <a:pPr lvl="1"/>
            <a:r>
              <a:rPr lang="en-US" sz="1400" dirty="0"/>
              <a:t>BrightPath Learning needs to develop an Android-based AI Study Mentor for middle school, high school and university students who require immediate academic support outside classroom hours. The application must accept text and image questions, generate clear and level-appropriate explanations, protect student information and remain achievable within a 14-week MVP schedule and limited AI budget.</a:t>
            </a:r>
          </a:p>
          <a:p>
            <a:pPr lvl="1"/>
            <a:endParaRPr lang="en-US" sz="1400" dirty="0"/>
          </a:p>
          <a:p>
            <a:r>
              <a:rPr lang="en-US" sz="1400" b="1" dirty="0"/>
              <a:t>Current situation</a:t>
            </a:r>
          </a:p>
          <a:p>
            <a:pPr marL="285750" indent="-285750">
              <a:buFont typeface="Arial" panose="020B0604020202020204" pitchFamily="34" charset="0"/>
              <a:buChar char="•"/>
            </a:pPr>
            <a:r>
              <a:rPr lang="en-US" sz="1400" dirty="0"/>
              <a:t>Academic support may not be available when students become stuck. </a:t>
            </a:r>
          </a:p>
          <a:p>
            <a:pPr marL="285750" indent="-285750">
              <a:buFont typeface="Arial" panose="020B0604020202020204" pitchFamily="34" charset="0"/>
              <a:buChar char="•"/>
            </a:pPr>
            <a:r>
              <a:rPr lang="en-US" sz="1400" dirty="0"/>
              <a:t>Questions may involve text, equations, images or diagrams. </a:t>
            </a:r>
          </a:p>
          <a:p>
            <a:pPr marL="285750" indent="-285750">
              <a:buFont typeface="Arial" panose="020B0604020202020204" pitchFamily="34" charset="0"/>
              <a:buChar char="•"/>
            </a:pPr>
            <a:r>
              <a:rPr lang="en-US" sz="1400" dirty="0"/>
              <a:t>Answers that only provide final results do not support understanding. </a:t>
            </a:r>
          </a:p>
          <a:p>
            <a:pPr marL="285750" indent="-285750">
              <a:buFont typeface="Arial" panose="020B0604020202020204" pitchFamily="34" charset="0"/>
              <a:buChar char="•"/>
            </a:pPr>
            <a:r>
              <a:rPr lang="en-US" sz="1400" dirty="0"/>
              <a:t>BrightPath has a junior team and limited development resources. </a:t>
            </a:r>
          </a:p>
          <a:p>
            <a:endParaRPr lang="en-US" sz="1400" b="1" dirty="0"/>
          </a:p>
          <a:p>
            <a:r>
              <a:rPr lang="en-US" sz="1400" b="1" dirty="0"/>
              <a:t>Desired outcome</a:t>
            </a:r>
          </a:p>
          <a:p>
            <a:pPr marL="285750" indent="-285750">
              <a:buFont typeface="Arial" panose="020B0604020202020204" pitchFamily="34" charset="0"/>
              <a:buChar char="•"/>
            </a:pPr>
            <a:r>
              <a:rPr lang="en-US" sz="1400" dirty="0"/>
              <a:t>Students can submit a question in minimal steps. </a:t>
            </a:r>
          </a:p>
          <a:p>
            <a:pPr marL="285750" indent="-285750">
              <a:buFont typeface="Arial" panose="020B0604020202020204" pitchFamily="34" charset="0"/>
              <a:buChar char="•"/>
            </a:pPr>
            <a:r>
              <a:rPr lang="en-US" sz="1400" dirty="0"/>
              <a:t>AI explains the concept and logical solution process. </a:t>
            </a:r>
          </a:p>
          <a:p>
            <a:pPr marL="285750" indent="-285750">
              <a:buFont typeface="Arial" panose="020B0604020202020204" pitchFamily="34" charset="0"/>
              <a:buChar char="•"/>
            </a:pPr>
            <a:r>
              <a:rPr lang="en-US" sz="1400" dirty="0"/>
              <a:t>The student can save, review and </a:t>
            </a:r>
            <a:r>
              <a:rPr lang="en-US" sz="1400" dirty="0" err="1"/>
              <a:t>practise</a:t>
            </a:r>
            <a:r>
              <a:rPr lang="en-US" sz="1400" dirty="0"/>
              <a:t> related content. </a:t>
            </a:r>
          </a:p>
          <a:p>
            <a:pPr marL="285750" indent="-285750">
              <a:buFont typeface="Arial" panose="020B0604020202020204" pitchFamily="34" charset="0"/>
              <a:buChar char="•"/>
            </a:pPr>
            <a:r>
              <a:rPr lang="en-US" sz="1400" dirty="0"/>
              <a:t>BrightPath can control security, reliability and AI operating costs. </a:t>
            </a:r>
          </a:p>
          <a:p>
            <a:endParaRPr lang="en-US" sz="1400" b="1" dirty="0"/>
          </a:p>
          <a:p>
            <a:r>
              <a:rPr lang="en-US" sz="1400" b="1" dirty="0"/>
              <a:t>Success statement</a:t>
            </a:r>
          </a:p>
          <a:p>
            <a:pPr lvl="1"/>
            <a:r>
              <a:rPr lang="en-US" sz="1400" dirty="0"/>
              <a:t>Success means that a student can ask, understand, </a:t>
            </a:r>
            <a:r>
              <a:rPr lang="en-US" sz="1400" dirty="0" err="1"/>
              <a:t>practise</a:t>
            </a:r>
            <a:r>
              <a:rPr lang="en-US" sz="1400" dirty="0"/>
              <a:t> and continue learning without requiring a teacher or lecturer to be available at that moment.</a:t>
            </a:r>
          </a:p>
        </p:txBody>
      </p:sp>
      <p:pic>
        <p:nvPicPr>
          <p:cNvPr id="12" name="Picture 11">
            <a:extLst>
              <a:ext uri="{FF2B5EF4-FFF2-40B4-BE49-F238E27FC236}">
                <a16:creationId xmlns:a16="http://schemas.microsoft.com/office/drawing/2014/main" id="{2BB0E4E6-DF50-1919-0E4C-31829A626F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9342" y="600075"/>
            <a:ext cx="2724542" cy="6054538"/>
          </a:xfrm>
          <a:prstGeom prst="rect">
            <a:avLst/>
          </a:prstGeom>
        </p:spPr>
      </p:pic>
    </p:spTree>
    <p:extLst>
      <p:ext uri="{BB962C8B-B14F-4D97-AF65-F5344CB8AC3E}">
        <p14:creationId xmlns:p14="http://schemas.microsoft.com/office/powerpoint/2010/main" val="1319237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561BF0D-E786-4DF0-A7B5-CA8595927DA6}"/>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FE956D67-E34C-4625-BF22-81524F49A61D}"/>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04</a:t>
            </a:r>
          </a:p>
        </p:txBody>
      </p:sp>
      <p:sp>
        <p:nvSpPr>
          <p:cNvPr id="3" name="Rectangle 2">
            <a:extLst>
              <a:ext uri="{FF2B5EF4-FFF2-40B4-BE49-F238E27FC236}">
                <a16:creationId xmlns:a16="http://schemas.microsoft.com/office/drawing/2014/main" id="{135B8F66-6745-444C-8AF9-35A37164366A}"/>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3EAF2B6D-A139-4692-B060-1B848016BC4A}"/>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4F22ECE0-124C-4506-9390-54D2FC33C29B}"/>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r>
              <a:rPr lang="en-US" sz="2800" b="1" dirty="0"/>
              <a:t>Students Face Delays, Input Barriers and Weak Explanations</a:t>
            </a:r>
          </a:p>
        </p:txBody>
      </p:sp>
      <p:sp>
        <p:nvSpPr>
          <p:cNvPr id="6" name="Rectangle 5">
            <a:extLst>
              <a:ext uri="{FF2B5EF4-FFF2-40B4-BE49-F238E27FC236}">
                <a16:creationId xmlns:a16="http://schemas.microsoft.com/office/drawing/2014/main" id="{A3F9D929-B562-4DBE-AC9C-7DA7F5A7D423}"/>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r>
              <a:rPr lang="en-US" sz="1400" dirty="0"/>
              <a:t>The proposed application must remove friction at the moment a learner becomes stuck.</a:t>
            </a:r>
          </a:p>
        </p:txBody>
      </p:sp>
      <p:sp>
        <p:nvSpPr>
          <p:cNvPr id="7" name="Rectangle 6">
            <a:extLst>
              <a:ext uri="{FF2B5EF4-FFF2-40B4-BE49-F238E27FC236}">
                <a16:creationId xmlns:a16="http://schemas.microsoft.com/office/drawing/2014/main" id="{9571F73A-6765-4428-B7B1-E06AD78545D7}"/>
              </a:ext>
            </a:extLst>
          </p:cNvPr>
          <p:cNvSpPr>
            <a:spLocks noGrp="1"/>
          </p:cNvSpPr>
          <p:nvPr/>
        </p:nvSpPr>
        <p:spPr>
          <a:xfrm>
            <a:off x="609600" y="1755055"/>
            <a:ext cx="3479800" cy="2673481"/>
          </a:xfrm>
          <a:prstGeom prst="rect">
            <a:avLst/>
          </a:prstGeom>
          <a:solidFill>
            <a:srgbClr val="F2F7FA"/>
          </a:solidFill>
          <a:ln w="9525">
            <a:solidFill>
              <a:srgbClr val="D7E0E8"/>
            </a:solidFill>
            <a:prstDash val="solid"/>
          </a:ln>
        </p:spPr>
      </p:sp>
      <p:sp>
        <p:nvSpPr>
          <p:cNvPr id="8" name="Rectangle 7">
            <a:extLst>
              <a:ext uri="{FF2B5EF4-FFF2-40B4-BE49-F238E27FC236}">
                <a16:creationId xmlns:a16="http://schemas.microsoft.com/office/drawing/2014/main" id="{C3AF2857-83C6-407E-98CA-F35B299B5394}"/>
              </a:ext>
            </a:extLst>
          </p:cNvPr>
          <p:cNvSpPr>
            <a:spLocks noGrp="1"/>
          </p:cNvSpPr>
          <p:nvPr/>
        </p:nvSpPr>
        <p:spPr>
          <a:xfrm>
            <a:off x="800100" y="1926505"/>
            <a:ext cx="3098800" cy="209550"/>
          </a:xfrm>
          <a:prstGeom prst="rect">
            <a:avLst/>
          </a:prstGeom>
          <a:noFill/>
          <a:ln w="0">
            <a:noFill/>
            <a:prstDash val="solid"/>
          </a:ln>
        </p:spPr>
        <p:txBody>
          <a:bodyPr lIns="0" tIns="0" rIns="0" bIns="0" anchor="t">
            <a:normAutofit/>
          </a:bodyPr>
          <a:lstStyle/>
          <a:p>
            <a:pPr>
              <a:defRPr sz="1050" b="1">
                <a:solidFill>
                  <a:srgbClr val="3D8DFF"/>
                </a:solidFill>
                <a:latin typeface="Arial"/>
                <a:ea typeface="Arial"/>
                <a:cs typeface="Arial"/>
              </a:defRPr>
            </a:pPr>
            <a:r>
              <a:rPr lang="en-US" sz="1050" b="1" dirty="0"/>
              <a:t>Delayed support</a:t>
            </a:r>
            <a:endParaRPr sz="1050" b="1" dirty="0">
              <a:solidFill>
                <a:srgbClr val="3D8DFF"/>
              </a:solidFill>
              <a:latin typeface="Arial"/>
              <a:ea typeface="Arial"/>
              <a:cs typeface="Arial"/>
            </a:endParaRPr>
          </a:p>
        </p:txBody>
      </p:sp>
      <p:sp>
        <p:nvSpPr>
          <p:cNvPr id="10" name="Rectangle 9">
            <a:extLst>
              <a:ext uri="{FF2B5EF4-FFF2-40B4-BE49-F238E27FC236}">
                <a16:creationId xmlns:a16="http://schemas.microsoft.com/office/drawing/2014/main" id="{172C0C7B-8EF4-43E3-8D98-6DB244E634A2}"/>
              </a:ext>
            </a:extLst>
          </p:cNvPr>
          <p:cNvSpPr>
            <a:spLocks noGrp="1"/>
          </p:cNvSpPr>
          <p:nvPr/>
        </p:nvSpPr>
        <p:spPr>
          <a:xfrm>
            <a:off x="800100" y="2363182"/>
            <a:ext cx="3098800" cy="2065354"/>
          </a:xfrm>
          <a:prstGeom prst="rect">
            <a:avLst/>
          </a:prstGeom>
          <a:noFill/>
          <a:ln w="0">
            <a:noFill/>
            <a:prstDash val="solid"/>
          </a:ln>
        </p:spPr>
        <p:txBody>
          <a:bodyPr lIns="0" tIns="0" rIns="0" bIns="0" anchor="t">
            <a:noAutofit/>
          </a:bodyPr>
          <a:lstStyle/>
          <a:p>
            <a:r>
              <a:rPr lang="en-US" sz="1300" b="1" dirty="0"/>
              <a:t>Issue: </a:t>
            </a:r>
            <a:r>
              <a:rPr lang="en-US" sz="1300" dirty="0"/>
              <a:t>Students may need help outside classroom hours when a teacher or lecturer is unavailable.</a:t>
            </a:r>
          </a:p>
          <a:p>
            <a:r>
              <a:rPr lang="en-US" sz="1300" b="1" dirty="0"/>
              <a:t>Impact</a:t>
            </a:r>
            <a:endParaRPr lang="en-US" sz="1300" dirty="0"/>
          </a:p>
          <a:p>
            <a:pPr marL="285750" indent="-285750">
              <a:buFont typeface="Arial" panose="020B0604020202020204" pitchFamily="34" charset="0"/>
              <a:buChar char="•"/>
            </a:pPr>
            <a:r>
              <a:rPr lang="en-US" sz="1300" dirty="0"/>
              <a:t>Learning is interrupted. </a:t>
            </a:r>
          </a:p>
          <a:p>
            <a:pPr marL="285750" indent="-285750">
              <a:buFont typeface="Arial" panose="020B0604020202020204" pitchFamily="34" charset="0"/>
              <a:buChar char="•"/>
            </a:pPr>
            <a:r>
              <a:rPr lang="en-US" sz="1300" dirty="0"/>
              <a:t>Homework may remain incomplete. </a:t>
            </a:r>
          </a:p>
          <a:p>
            <a:pPr marL="285750" indent="-285750">
              <a:buFont typeface="Arial" panose="020B0604020202020204" pitchFamily="34" charset="0"/>
              <a:buChar char="•"/>
            </a:pPr>
            <a:r>
              <a:rPr lang="en-US" sz="1300" dirty="0"/>
              <a:t>Students may lose confidence or abandon the task. </a:t>
            </a:r>
          </a:p>
          <a:p>
            <a:r>
              <a:rPr lang="en-US" sz="1300" b="1" dirty="0"/>
              <a:t>System response: </a:t>
            </a:r>
            <a:r>
              <a:rPr lang="en-US" sz="1300" dirty="0"/>
              <a:t>Provide immediate AI-supported question answering.</a:t>
            </a:r>
          </a:p>
        </p:txBody>
      </p:sp>
      <p:sp>
        <p:nvSpPr>
          <p:cNvPr id="11" name="Rectangle 10">
            <a:extLst>
              <a:ext uri="{FF2B5EF4-FFF2-40B4-BE49-F238E27FC236}">
                <a16:creationId xmlns:a16="http://schemas.microsoft.com/office/drawing/2014/main" id="{90BB799C-1198-46BA-9B50-6BA84CA55D12}"/>
              </a:ext>
            </a:extLst>
          </p:cNvPr>
          <p:cNvSpPr>
            <a:spLocks noGrp="1"/>
          </p:cNvSpPr>
          <p:nvPr/>
        </p:nvSpPr>
        <p:spPr>
          <a:xfrm>
            <a:off x="4356100" y="1755055"/>
            <a:ext cx="3479800" cy="2673481"/>
          </a:xfrm>
          <a:prstGeom prst="rect">
            <a:avLst/>
          </a:prstGeom>
          <a:solidFill>
            <a:srgbClr val="F2F7FA"/>
          </a:solidFill>
          <a:ln w="9525">
            <a:solidFill>
              <a:srgbClr val="D7E0E8"/>
            </a:solidFill>
            <a:prstDash val="solid"/>
          </a:ln>
        </p:spPr>
      </p:sp>
      <p:sp>
        <p:nvSpPr>
          <p:cNvPr id="12" name="Rectangle 11">
            <a:extLst>
              <a:ext uri="{FF2B5EF4-FFF2-40B4-BE49-F238E27FC236}">
                <a16:creationId xmlns:a16="http://schemas.microsoft.com/office/drawing/2014/main" id="{91EA7861-7A5F-4D77-966F-F159715F96F3}"/>
              </a:ext>
            </a:extLst>
          </p:cNvPr>
          <p:cNvSpPr>
            <a:spLocks noGrp="1"/>
          </p:cNvSpPr>
          <p:nvPr/>
        </p:nvSpPr>
        <p:spPr>
          <a:xfrm>
            <a:off x="4546600" y="1926505"/>
            <a:ext cx="3098800" cy="209550"/>
          </a:xfrm>
          <a:prstGeom prst="rect">
            <a:avLst/>
          </a:prstGeom>
          <a:noFill/>
          <a:ln w="0">
            <a:noFill/>
            <a:prstDash val="solid"/>
          </a:ln>
        </p:spPr>
        <p:txBody>
          <a:bodyPr lIns="0" tIns="0" rIns="0" bIns="0" anchor="t">
            <a:normAutofit/>
          </a:bodyPr>
          <a:lstStyle/>
          <a:p>
            <a:pPr>
              <a:defRPr sz="1050" b="1">
                <a:solidFill>
                  <a:srgbClr val="FF9B45"/>
                </a:solidFill>
                <a:latin typeface="Arial"/>
                <a:ea typeface="Arial"/>
                <a:cs typeface="Arial"/>
              </a:defRPr>
            </a:pPr>
            <a:r>
              <a:rPr lang="en-US" sz="1050" b="1" dirty="0"/>
              <a:t>Multiple question formats</a:t>
            </a:r>
            <a:endParaRPr sz="1050" b="1" dirty="0">
              <a:solidFill>
                <a:srgbClr val="FF9B45"/>
              </a:solidFill>
              <a:latin typeface="Arial"/>
              <a:ea typeface="Arial"/>
              <a:cs typeface="Arial"/>
            </a:endParaRPr>
          </a:p>
        </p:txBody>
      </p:sp>
      <p:sp>
        <p:nvSpPr>
          <p:cNvPr id="14" name="Rectangle 13">
            <a:extLst>
              <a:ext uri="{FF2B5EF4-FFF2-40B4-BE49-F238E27FC236}">
                <a16:creationId xmlns:a16="http://schemas.microsoft.com/office/drawing/2014/main" id="{6E394079-EE2E-4EAA-9397-ED50DB6A177A}"/>
              </a:ext>
            </a:extLst>
          </p:cNvPr>
          <p:cNvSpPr>
            <a:spLocks noGrp="1"/>
          </p:cNvSpPr>
          <p:nvPr/>
        </p:nvSpPr>
        <p:spPr>
          <a:xfrm>
            <a:off x="4546600" y="2286000"/>
            <a:ext cx="3098800" cy="2652860"/>
          </a:xfrm>
          <a:prstGeom prst="rect">
            <a:avLst/>
          </a:prstGeom>
          <a:noFill/>
          <a:ln w="0">
            <a:noFill/>
            <a:prstDash val="solid"/>
          </a:ln>
        </p:spPr>
        <p:txBody>
          <a:bodyPr lIns="0" tIns="0" rIns="0" bIns="0" anchor="t">
            <a:noAutofit/>
          </a:bodyPr>
          <a:lstStyle/>
          <a:p>
            <a:r>
              <a:rPr lang="en-US" sz="1300" b="1" dirty="0"/>
              <a:t>Issue. </a:t>
            </a:r>
            <a:r>
              <a:rPr lang="en-US" sz="1300" dirty="0"/>
              <a:t>Academic questions may include:</a:t>
            </a:r>
          </a:p>
          <a:p>
            <a:pPr marL="285750" indent="-285750">
              <a:buFont typeface="Arial" panose="020B0604020202020204" pitchFamily="34" charset="0"/>
              <a:buChar char="•"/>
            </a:pPr>
            <a:r>
              <a:rPr lang="en-US" sz="1300" dirty="0"/>
              <a:t>typed text; </a:t>
            </a:r>
          </a:p>
          <a:p>
            <a:pPr marL="285750" indent="-285750">
              <a:buFont typeface="Arial" panose="020B0604020202020204" pitchFamily="34" charset="0"/>
              <a:buChar char="•"/>
            </a:pPr>
            <a:r>
              <a:rPr lang="en-US" sz="1300" dirty="0"/>
              <a:t>equations; </a:t>
            </a:r>
          </a:p>
          <a:p>
            <a:pPr marL="285750" indent="-285750">
              <a:buFont typeface="Arial" panose="020B0604020202020204" pitchFamily="34" charset="0"/>
              <a:buChar char="•"/>
            </a:pPr>
            <a:r>
              <a:rPr lang="en-US" sz="1300" dirty="0"/>
              <a:t>homework photographs; </a:t>
            </a:r>
          </a:p>
          <a:p>
            <a:pPr marL="285750" indent="-285750">
              <a:buFont typeface="Arial" panose="020B0604020202020204" pitchFamily="34" charset="0"/>
              <a:buChar char="•"/>
            </a:pPr>
            <a:r>
              <a:rPr lang="en-US" sz="1300" dirty="0"/>
              <a:t>diagrams; </a:t>
            </a:r>
          </a:p>
          <a:p>
            <a:pPr marL="285750" indent="-285750">
              <a:buFont typeface="Arial" panose="020B0604020202020204" pitchFamily="34" charset="0"/>
              <a:buChar char="•"/>
            </a:pPr>
            <a:r>
              <a:rPr lang="en-US" sz="1300" dirty="0"/>
              <a:t>programming code. </a:t>
            </a:r>
          </a:p>
          <a:p>
            <a:r>
              <a:rPr lang="en-US" sz="1300" b="1" dirty="0"/>
              <a:t>Impact: </a:t>
            </a:r>
            <a:r>
              <a:rPr lang="en-US" sz="1300" dirty="0"/>
              <a:t>A text-only system would not support many real study situations.</a:t>
            </a:r>
          </a:p>
          <a:p>
            <a:r>
              <a:rPr lang="en-US" sz="1300" b="1" dirty="0"/>
              <a:t>System response: </a:t>
            </a:r>
            <a:r>
              <a:rPr lang="en-US" sz="1300" dirty="0"/>
              <a:t>Support both text submission and image upload.</a:t>
            </a:r>
          </a:p>
        </p:txBody>
      </p:sp>
      <p:sp>
        <p:nvSpPr>
          <p:cNvPr id="15" name="Rectangle 14">
            <a:extLst>
              <a:ext uri="{FF2B5EF4-FFF2-40B4-BE49-F238E27FC236}">
                <a16:creationId xmlns:a16="http://schemas.microsoft.com/office/drawing/2014/main" id="{B9F76DF9-A5C7-40EF-8979-E22A12AE68B6}"/>
              </a:ext>
            </a:extLst>
          </p:cNvPr>
          <p:cNvSpPr>
            <a:spLocks noGrp="1"/>
          </p:cNvSpPr>
          <p:nvPr/>
        </p:nvSpPr>
        <p:spPr>
          <a:xfrm>
            <a:off x="8102600" y="1755054"/>
            <a:ext cx="3479800" cy="2673481"/>
          </a:xfrm>
          <a:prstGeom prst="rect">
            <a:avLst/>
          </a:prstGeom>
          <a:solidFill>
            <a:srgbClr val="F2F7FA"/>
          </a:solidFill>
          <a:ln w="9525">
            <a:solidFill>
              <a:srgbClr val="D7E0E8"/>
            </a:solidFill>
            <a:prstDash val="solid"/>
          </a:ln>
        </p:spPr>
      </p:sp>
      <p:sp>
        <p:nvSpPr>
          <p:cNvPr id="16" name="Rectangle 15">
            <a:extLst>
              <a:ext uri="{FF2B5EF4-FFF2-40B4-BE49-F238E27FC236}">
                <a16:creationId xmlns:a16="http://schemas.microsoft.com/office/drawing/2014/main" id="{D746EBD2-7212-4C26-BC91-999254251D70}"/>
              </a:ext>
            </a:extLst>
          </p:cNvPr>
          <p:cNvSpPr>
            <a:spLocks noGrp="1"/>
          </p:cNvSpPr>
          <p:nvPr/>
        </p:nvSpPr>
        <p:spPr>
          <a:xfrm>
            <a:off x="8293100" y="1926505"/>
            <a:ext cx="3098800" cy="209550"/>
          </a:xfrm>
          <a:prstGeom prst="rect">
            <a:avLst/>
          </a:prstGeom>
          <a:noFill/>
          <a:ln w="0">
            <a:noFill/>
            <a:prstDash val="solid"/>
          </a:ln>
        </p:spPr>
        <p:txBody>
          <a:bodyPr lIns="0" tIns="0" rIns="0" bIns="0" anchor="t">
            <a:normAutofit/>
          </a:bodyPr>
          <a:lstStyle/>
          <a:p>
            <a:pPr>
              <a:defRPr sz="1050" b="1">
                <a:solidFill>
                  <a:srgbClr val="0DA6A6"/>
                </a:solidFill>
                <a:latin typeface="Arial"/>
                <a:ea typeface="Arial"/>
                <a:cs typeface="Arial"/>
              </a:defRPr>
            </a:pPr>
            <a:r>
              <a:rPr lang="en-US" sz="1050" b="1" dirty="0"/>
              <a:t>Answers may not support understanding</a:t>
            </a:r>
            <a:endParaRPr sz="1050" b="1" dirty="0">
              <a:solidFill>
                <a:srgbClr val="0DA6A6"/>
              </a:solidFill>
              <a:latin typeface="Arial"/>
              <a:ea typeface="Arial"/>
              <a:cs typeface="Arial"/>
            </a:endParaRPr>
          </a:p>
        </p:txBody>
      </p:sp>
      <p:sp>
        <p:nvSpPr>
          <p:cNvPr id="18" name="Rectangle 17">
            <a:extLst>
              <a:ext uri="{FF2B5EF4-FFF2-40B4-BE49-F238E27FC236}">
                <a16:creationId xmlns:a16="http://schemas.microsoft.com/office/drawing/2014/main" id="{9BE65CC4-4A44-446C-BB8B-BB1287CDECC2}"/>
              </a:ext>
            </a:extLst>
          </p:cNvPr>
          <p:cNvSpPr>
            <a:spLocks noGrp="1"/>
          </p:cNvSpPr>
          <p:nvPr/>
        </p:nvSpPr>
        <p:spPr>
          <a:xfrm>
            <a:off x="8293100" y="2286000"/>
            <a:ext cx="3098800" cy="1888012"/>
          </a:xfrm>
          <a:prstGeom prst="rect">
            <a:avLst/>
          </a:prstGeom>
          <a:noFill/>
          <a:ln w="0">
            <a:noFill/>
            <a:prstDash val="solid"/>
          </a:ln>
        </p:spPr>
        <p:txBody>
          <a:bodyPr lIns="0" tIns="0" rIns="0" bIns="0" anchor="t">
            <a:noAutofit/>
          </a:bodyPr>
          <a:lstStyle/>
          <a:p>
            <a:r>
              <a:rPr lang="en-US" sz="1300" b="1" dirty="0"/>
              <a:t>Issue: </a:t>
            </a:r>
            <a:r>
              <a:rPr lang="en-US" sz="1300" dirty="0"/>
              <a:t>A final answer alone does not explain:</a:t>
            </a:r>
          </a:p>
          <a:p>
            <a:pPr marL="285750" indent="-285750">
              <a:buFont typeface="Arial" panose="020B0604020202020204" pitchFamily="34" charset="0"/>
              <a:buChar char="•"/>
            </a:pPr>
            <a:r>
              <a:rPr lang="en-US" sz="1300" dirty="0"/>
              <a:t>the reasoning; </a:t>
            </a:r>
          </a:p>
          <a:p>
            <a:pPr marL="285750" indent="-285750">
              <a:buFont typeface="Arial" panose="020B0604020202020204" pitchFamily="34" charset="0"/>
              <a:buChar char="•"/>
            </a:pPr>
            <a:r>
              <a:rPr lang="en-US" sz="1300" dirty="0"/>
              <a:t>the formula; </a:t>
            </a:r>
          </a:p>
          <a:p>
            <a:pPr marL="285750" indent="-285750">
              <a:buFont typeface="Arial" panose="020B0604020202020204" pitchFamily="34" charset="0"/>
              <a:buChar char="•"/>
            </a:pPr>
            <a:r>
              <a:rPr lang="en-US" sz="1300" dirty="0"/>
              <a:t>the concept; </a:t>
            </a:r>
          </a:p>
          <a:p>
            <a:pPr marL="285750" indent="-285750">
              <a:buFont typeface="Arial" panose="020B0604020202020204" pitchFamily="34" charset="0"/>
              <a:buChar char="•"/>
            </a:pPr>
            <a:r>
              <a:rPr lang="en-US" sz="1300" dirty="0"/>
              <a:t>common mistakes. </a:t>
            </a:r>
          </a:p>
          <a:p>
            <a:r>
              <a:rPr lang="en-US" sz="1300" b="1" dirty="0"/>
              <a:t>Impact: </a:t>
            </a:r>
            <a:r>
              <a:rPr lang="en-US" sz="1300" dirty="0"/>
              <a:t>Students may copy the result without learning how to solve a similar problem.</a:t>
            </a:r>
          </a:p>
          <a:p>
            <a:r>
              <a:rPr lang="en-US" sz="1300" b="1" dirty="0"/>
              <a:t>System response: </a:t>
            </a:r>
            <a:r>
              <a:rPr lang="en-US" sz="1300" dirty="0"/>
              <a:t>Provide structured, step-by-step and concept-based explanations.</a:t>
            </a:r>
          </a:p>
        </p:txBody>
      </p:sp>
      <p:sp>
        <p:nvSpPr>
          <p:cNvPr id="20" name="Rectangle 19">
            <a:extLst>
              <a:ext uri="{FF2B5EF4-FFF2-40B4-BE49-F238E27FC236}">
                <a16:creationId xmlns:a16="http://schemas.microsoft.com/office/drawing/2014/main" id="{AD510FE4-5EE8-78EB-C1C2-9315134C7A15}"/>
              </a:ext>
            </a:extLst>
          </p:cNvPr>
          <p:cNvSpPr>
            <a:spLocks noGrp="1"/>
          </p:cNvSpPr>
          <p:nvPr/>
        </p:nvSpPr>
        <p:spPr>
          <a:xfrm>
            <a:off x="4356100" y="4685121"/>
            <a:ext cx="3479800" cy="2055043"/>
          </a:xfrm>
          <a:prstGeom prst="rect">
            <a:avLst/>
          </a:prstGeom>
          <a:solidFill>
            <a:srgbClr val="F2F7FA"/>
          </a:solidFill>
          <a:ln w="9525">
            <a:solidFill>
              <a:srgbClr val="D7E0E8"/>
            </a:solidFill>
            <a:prstDash val="solid"/>
          </a:ln>
        </p:spPr>
      </p:sp>
      <p:sp>
        <p:nvSpPr>
          <p:cNvPr id="21" name="Rectangle 20">
            <a:extLst>
              <a:ext uri="{FF2B5EF4-FFF2-40B4-BE49-F238E27FC236}">
                <a16:creationId xmlns:a16="http://schemas.microsoft.com/office/drawing/2014/main" id="{14BE3EDE-71B1-0512-A0A3-4ED06C8CA782}"/>
              </a:ext>
            </a:extLst>
          </p:cNvPr>
          <p:cNvSpPr>
            <a:spLocks noGrp="1"/>
          </p:cNvSpPr>
          <p:nvPr/>
        </p:nvSpPr>
        <p:spPr>
          <a:xfrm>
            <a:off x="4546600" y="5074467"/>
            <a:ext cx="3098800" cy="1641639"/>
          </a:xfrm>
          <a:prstGeom prst="rect">
            <a:avLst/>
          </a:prstGeom>
          <a:noFill/>
          <a:ln w="0">
            <a:noFill/>
            <a:prstDash val="solid"/>
          </a:ln>
        </p:spPr>
        <p:txBody>
          <a:bodyPr lIns="0" tIns="0" rIns="0" bIns="0" anchor="t">
            <a:noAutofit/>
          </a:bodyPr>
          <a:lstStyle/>
          <a:p>
            <a:r>
              <a:rPr lang="en-US" sz="1300" b="1" dirty="0"/>
              <a:t>Issue: </a:t>
            </a:r>
            <a:r>
              <a:rPr lang="en-US" sz="1300" dirty="0"/>
              <a:t>Middle school, high school and university students require different levels of language and detail.</a:t>
            </a:r>
          </a:p>
          <a:p>
            <a:r>
              <a:rPr lang="en-US" sz="1300" b="1" dirty="0"/>
              <a:t>Impact: </a:t>
            </a:r>
            <a:r>
              <a:rPr lang="en-US" sz="1300" dirty="0"/>
              <a:t>An answer may be too difficult, too basic or too long.</a:t>
            </a:r>
          </a:p>
          <a:p>
            <a:r>
              <a:rPr lang="en-US" sz="1300" b="1" dirty="0"/>
              <a:t>System response: </a:t>
            </a:r>
            <a:r>
              <a:rPr lang="en-US" sz="1300" dirty="0"/>
              <a:t>Adapt the explanation to education level and preferred explanation style.</a:t>
            </a:r>
          </a:p>
        </p:txBody>
      </p:sp>
      <p:sp>
        <p:nvSpPr>
          <p:cNvPr id="22" name="Rectangle 21">
            <a:extLst>
              <a:ext uri="{FF2B5EF4-FFF2-40B4-BE49-F238E27FC236}">
                <a16:creationId xmlns:a16="http://schemas.microsoft.com/office/drawing/2014/main" id="{48414A2C-4E6A-7292-4E19-D4484C6B1EB6}"/>
              </a:ext>
            </a:extLst>
          </p:cNvPr>
          <p:cNvSpPr>
            <a:spLocks noGrp="1"/>
          </p:cNvSpPr>
          <p:nvPr/>
        </p:nvSpPr>
        <p:spPr>
          <a:xfrm>
            <a:off x="4546600" y="4797114"/>
            <a:ext cx="3098800" cy="209550"/>
          </a:xfrm>
          <a:prstGeom prst="rect">
            <a:avLst/>
          </a:prstGeom>
          <a:noFill/>
          <a:ln w="0">
            <a:noFill/>
            <a:prstDash val="solid"/>
          </a:ln>
        </p:spPr>
        <p:txBody>
          <a:bodyPr lIns="0" tIns="0" rIns="0" bIns="0" anchor="t">
            <a:normAutofit/>
          </a:bodyPr>
          <a:lstStyle/>
          <a:p>
            <a:pPr>
              <a:defRPr sz="1050" b="1">
                <a:solidFill>
                  <a:srgbClr val="3D8DFF"/>
                </a:solidFill>
                <a:latin typeface="Arial"/>
                <a:ea typeface="Arial"/>
                <a:cs typeface="Arial"/>
              </a:defRPr>
            </a:pPr>
            <a:r>
              <a:rPr lang="en-US" sz="1050" b="1" dirty="0"/>
              <a:t>Explanations may not fit the learner</a:t>
            </a:r>
            <a:endParaRPr sz="1050" b="1" dirty="0">
              <a:solidFill>
                <a:srgbClr val="3D8DFF"/>
              </a:solidFill>
              <a:latin typeface="Arial"/>
              <a:ea typeface="Arial"/>
              <a:cs typeface="Arial"/>
            </a:endParaRPr>
          </a:p>
        </p:txBody>
      </p:sp>
    </p:spTree>
    <p:extLst>
      <p:ext uri="{BB962C8B-B14F-4D97-AF65-F5344CB8AC3E}">
        <p14:creationId xmlns:p14="http://schemas.microsoft.com/office/powerpoint/2010/main" val="429847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D50B40D-839F-44AE-8C6B-A399E2D28BCE}"/>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DDEA296A-2A76-431D-B4AF-2816D6FA3635}"/>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05</a:t>
            </a:r>
          </a:p>
        </p:txBody>
      </p:sp>
      <p:sp>
        <p:nvSpPr>
          <p:cNvPr id="3" name="Rectangle 2">
            <a:extLst>
              <a:ext uri="{FF2B5EF4-FFF2-40B4-BE49-F238E27FC236}">
                <a16:creationId xmlns:a16="http://schemas.microsoft.com/office/drawing/2014/main" id="{B5B61B11-6DF1-48B3-BB15-6ED475A28744}"/>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0399040A-CEFC-4521-AAF1-100015AD3D91}"/>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3F8CF997-F27D-443A-817F-DFAD97D6C18D}"/>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defRPr sz="2775" b="1">
                <a:solidFill>
                  <a:srgbClr val="0B1220"/>
                </a:solidFill>
                <a:latin typeface="Arial"/>
                <a:ea typeface="Arial"/>
                <a:cs typeface="Arial"/>
              </a:defRPr>
            </a:pPr>
            <a:r>
              <a:rPr lang="en-US" sz="2775" b="1" dirty="0"/>
              <a:t>Project Constraints and Development Challenges</a:t>
            </a:r>
            <a:endParaRPr sz="2775" b="1" dirty="0">
              <a:solidFill>
                <a:srgbClr val="0B1220"/>
              </a:solidFill>
              <a:latin typeface="Arial"/>
              <a:ea typeface="Arial"/>
              <a:cs typeface="Arial"/>
            </a:endParaRPr>
          </a:p>
        </p:txBody>
      </p:sp>
      <p:sp>
        <p:nvSpPr>
          <p:cNvPr id="6" name="Rectangle 5">
            <a:extLst>
              <a:ext uri="{FF2B5EF4-FFF2-40B4-BE49-F238E27FC236}">
                <a16:creationId xmlns:a16="http://schemas.microsoft.com/office/drawing/2014/main" id="{C2235F9A-A3ED-47AC-97CA-61711C7DE3F6}"/>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defRPr sz="1350" b="0">
                <a:solidFill>
                  <a:srgbClr val="586879"/>
                </a:solidFill>
                <a:latin typeface="Arial"/>
                <a:ea typeface="Arial"/>
                <a:cs typeface="Arial"/>
              </a:defRPr>
            </a:pPr>
            <a:r>
              <a:rPr lang="en-US" sz="1350" dirty="0"/>
              <a:t>Project Challenges</a:t>
            </a:r>
            <a:endParaRPr sz="1350" b="0" dirty="0">
              <a:solidFill>
                <a:srgbClr val="586879"/>
              </a:solidFill>
              <a:latin typeface="Arial"/>
              <a:ea typeface="Arial"/>
              <a:cs typeface="Arial"/>
            </a:endParaRPr>
          </a:p>
        </p:txBody>
      </p:sp>
      <p:graphicFrame>
        <p:nvGraphicFramePr>
          <p:cNvPr id="14" name="Table 13">
            <a:extLst>
              <a:ext uri="{FF2B5EF4-FFF2-40B4-BE49-F238E27FC236}">
                <a16:creationId xmlns:a16="http://schemas.microsoft.com/office/drawing/2014/main" id="{697E5A55-7267-8A85-BE55-CD732FCEE78A}"/>
              </a:ext>
            </a:extLst>
          </p:cNvPr>
          <p:cNvGraphicFramePr>
            <a:graphicFrameLocks noGrp="1"/>
          </p:cNvGraphicFramePr>
          <p:nvPr>
            <p:extLst>
              <p:ext uri="{D42A27DB-BD31-4B8C-83A1-F6EECF244321}">
                <p14:modId xmlns:p14="http://schemas.microsoft.com/office/powerpoint/2010/main" val="4135535840"/>
              </p:ext>
            </p:extLst>
          </p:nvPr>
        </p:nvGraphicFramePr>
        <p:xfrm>
          <a:off x="886118" y="2499280"/>
          <a:ext cx="5991838" cy="2103120"/>
        </p:xfrm>
        <a:graphic>
          <a:graphicData uri="http://schemas.openxmlformats.org/drawingml/2006/table">
            <a:tbl>
              <a:tblPr>
                <a:tableStyleId>{3C2FFA5D-87B4-456A-9821-1D502468CF0F}</a:tableStyleId>
              </a:tblPr>
              <a:tblGrid>
                <a:gridCol w="2629218">
                  <a:extLst>
                    <a:ext uri="{9D8B030D-6E8A-4147-A177-3AD203B41FA5}">
                      <a16:colId xmlns:a16="http://schemas.microsoft.com/office/drawing/2014/main" val="679820246"/>
                    </a:ext>
                  </a:extLst>
                </a:gridCol>
                <a:gridCol w="3362620">
                  <a:extLst>
                    <a:ext uri="{9D8B030D-6E8A-4147-A177-3AD203B41FA5}">
                      <a16:colId xmlns:a16="http://schemas.microsoft.com/office/drawing/2014/main" val="1898624937"/>
                    </a:ext>
                  </a:extLst>
                </a:gridCol>
              </a:tblGrid>
              <a:tr h="345887">
                <a:tc>
                  <a:txBody>
                    <a:bodyPr/>
                    <a:lstStyle/>
                    <a:p>
                      <a:pPr>
                        <a:buNone/>
                      </a:pPr>
                      <a:r>
                        <a:rPr lang="en-US" b="1" dirty="0"/>
                        <a:t>Challenge</a:t>
                      </a:r>
                    </a:p>
                  </a:txBody>
                  <a:tcPr anchor="ctr"/>
                </a:tc>
                <a:tc>
                  <a:txBody>
                    <a:bodyPr/>
                    <a:lstStyle/>
                    <a:p>
                      <a:pPr>
                        <a:buNone/>
                      </a:pPr>
                      <a:r>
                        <a:rPr lang="en-US" b="1" dirty="0"/>
                        <a:t>Business Impact</a:t>
                      </a:r>
                    </a:p>
                  </a:txBody>
                  <a:tcPr anchor="ctr"/>
                </a:tc>
                <a:extLst>
                  <a:ext uri="{0D108BD9-81ED-4DB2-BD59-A6C34878D82A}">
                    <a16:rowId xmlns:a16="http://schemas.microsoft.com/office/drawing/2014/main" val="3025292198"/>
                  </a:ext>
                </a:extLst>
              </a:tr>
              <a:tr h="345887">
                <a:tc>
                  <a:txBody>
                    <a:bodyPr/>
                    <a:lstStyle/>
                    <a:p>
                      <a:pPr>
                        <a:buNone/>
                      </a:pPr>
                      <a:r>
                        <a:rPr lang="en-US"/>
                        <a:t>Junior development team</a:t>
                      </a:r>
                    </a:p>
                  </a:txBody>
                  <a:tcPr anchor="ctr"/>
                </a:tc>
                <a:tc>
                  <a:txBody>
                    <a:bodyPr/>
                    <a:lstStyle/>
                    <a:p>
                      <a:pPr>
                        <a:buNone/>
                      </a:pPr>
                      <a:r>
                        <a:rPr lang="en-US"/>
                        <a:t>Longer implementation time</a:t>
                      </a:r>
                    </a:p>
                  </a:txBody>
                  <a:tcPr anchor="ctr"/>
                </a:tc>
                <a:extLst>
                  <a:ext uri="{0D108BD9-81ED-4DB2-BD59-A6C34878D82A}">
                    <a16:rowId xmlns:a16="http://schemas.microsoft.com/office/drawing/2014/main" val="2180587936"/>
                  </a:ext>
                </a:extLst>
              </a:tr>
              <a:tr h="345887">
                <a:tc>
                  <a:txBody>
                    <a:bodyPr/>
                    <a:lstStyle/>
                    <a:p>
                      <a:pPr>
                        <a:buNone/>
                      </a:pPr>
                      <a:r>
                        <a:rPr lang="en-US"/>
                        <a:t>Limited AI budget</a:t>
                      </a:r>
                    </a:p>
                  </a:txBody>
                  <a:tcPr anchor="ctr"/>
                </a:tc>
                <a:tc>
                  <a:txBody>
                    <a:bodyPr/>
                    <a:lstStyle/>
                    <a:p>
                      <a:pPr>
                        <a:buNone/>
                      </a:pPr>
                      <a:r>
                        <a:rPr lang="en-US" dirty="0"/>
                        <a:t>High API operating cost</a:t>
                      </a:r>
                    </a:p>
                  </a:txBody>
                  <a:tcPr anchor="ctr"/>
                </a:tc>
                <a:extLst>
                  <a:ext uri="{0D108BD9-81ED-4DB2-BD59-A6C34878D82A}">
                    <a16:rowId xmlns:a16="http://schemas.microsoft.com/office/drawing/2014/main" val="2445207251"/>
                  </a:ext>
                </a:extLst>
              </a:tr>
              <a:tr h="345887">
                <a:tc>
                  <a:txBody>
                    <a:bodyPr/>
                    <a:lstStyle/>
                    <a:p>
                      <a:pPr>
                        <a:buNone/>
                      </a:pPr>
                      <a:r>
                        <a:rPr lang="en-US"/>
                        <a:t>Student privacy</a:t>
                      </a:r>
                    </a:p>
                  </a:txBody>
                  <a:tcPr anchor="ctr"/>
                </a:tc>
                <a:tc>
                  <a:txBody>
                    <a:bodyPr/>
                    <a:lstStyle/>
                    <a:p>
                      <a:pPr>
                        <a:buNone/>
                      </a:pPr>
                      <a:r>
                        <a:rPr lang="en-US"/>
                        <a:t>Security and compliance requirements</a:t>
                      </a:r>
                    </a:p>
                  </a:txBody>
                  <a:tcPr anchor="ctr"/>
                </a:tc>
                <a:extLst>
                  <a:ext uri="{0D108BD9-81ED-4DB2-BD59-A6C34878D82A}">
                    <a16:rowId xmlns:a16="http://schemas.microsoft.com/office/drawing/2014/main" val="605120600"/>
                  </a:ext>
                </a:extLst>
              </a:tr>
              <a:tr h="345887">
                <a:tc>
                  <a:txBody>
                    <a:bodyPr/>
                    <a:lstStyle/>
                    <a:p>
                      <a:pPr>
                        <a:buNone/>
                      </a:pPr>
                      <a:r>
                        <a:rPr lang="en-US"/>
                        <a:t>14-week MVP</a:t>
                      </a:r>
                    </a:p>
                  </a:txBody>
                  <a:tcPr anchor="ctr"/>
                </a:tc>
                <a:tc>
                  <a:txBody>
                    <a:bodyPr/>
                    <a:lstStyle/>
                    <a:p>
                      <a:pPr>
                        <a:buNone/>
                      </a:pPr>
                      <a:r>
                        <a:rPr lang="en-US" dirty="0"/>
                        <a:t>Limited feature scope</a:t>
                      </a:r>
                    </a:p>
                  </a:txBody>
                  <a:tcPr anchor="ctr"/>
                </a:tc>
                <a:extLst>
                  <a:ext uri="{0D108BD9-81ED-4DB2-BD59-A6C34878D82A}">
                    <a16:rowId xmlns:a16="http://schemas.microsoft.com/office/drawing/2014/main" val="2109503301"/>
                  </a:ext>
                </a:extLst>
              </a:tr>
            </a:tbl>
          </a:graphicData>
        </a:graphic>
      </p:graphicFrame>
      <p:sp>
        <p:nvSpPr>
          <p:cNvPr id="15" name="Rectangle 14">
            <a:extLst>
              <a:ext uri="{FF2B5EF4-FFF2-40B4-BE49-F238E27FC236}">
                <a16:creationId xmlns:a16="http://schemas.microsoft.com/office/drawing/2014/main" id="{6870E642-D28B-2EE0-276D-FB5DBA38C4E2}"/>
              </a:ext>
            </a:extLst>
          </p:cNvPr>
          <p:cNvSpPr>
            <a:spLocks noGrp="1"/>
          </p:cNvSpPr>
          <p:nvPr/>
        </p:nvSpPr>
        <p:spPr>
          <a:xfrm>
            <a:off x="7573259" y="2493978"/>
            <a:ext cx="6713456" cy="1870044"/>
          </a:xfrm>
          <a:prstGeom prst="rect">
            <a:avLst/>
          </a:prstGeom>
          <a:noFill/>
          <a:ln w="0">
            <a:noFill/>
            <a:prstDash val="solid"/>
          </a:ln>
        </p:spPr>
        <p:txBody>
          <a:bodyPr lIns="0" tIns="0" rIns="0" bIns="0" anchor="t">
            <a:normAutofit lnSpcReduction="10000"/>
          </a:bodyPr>
          <a:lstStyle/>
          <a:p>
            <a:r>
              <a:rPr lang="en-US" b="1" dirty="0"/>
              <a:t>Design Responses</a:t>
            </a:r>
          </a:p>
          <a:p>
            <a:endParaRPr lang="en-US" b="1" dirty="0"/>
          </a:p>
          <a:p>
            <a:pPr marL="285750" indent="-285750">
              <a:buFont typeface="Arial" panose="020B0604020202020204" pitchFamily="34" charset="0"/>
              <a:buChar char="•"/>
            </a:pPr>
            <a:r>
              <a:rPr lang="en-US" dirty="0"/>
              <a:t>Android-first MVP</a:t>
            </a:r>
          </a:p>
          <a:p>
            <a:pPr marL="285750" indent="-285750">
              <a:buFont typeface="Arial" panose="020B0604020202020204" pitchFamily="34" charset="0"/>
              <a:buChar char="•"/>
            </a:pPr>
            <a:r>
              <a:rPr lang="en-US" dirty="0"/>
              <a:t>Secure REST API Backend</a:t>
            </a:r>
          </a:p>
          <a:p>
            <a:pPr marL="285750" indent="-285750">
              <a:buFont typeface="Arial" panose="020B0604020202020204" pitchFamily="34" charset="0"/>
              <a:buChar char="•"/>
            </a:pPr>
            <a:r>
              <a:rPr lang="en-US" dirty="0"/>
              <a:t>AI Cost </a:t>
            </a:r>
            <a:r>
              <a:rPr lang="en-US" dirty="0" err="1"/>
              <a:t>Optimisation</a:t>
            </a:r>
            <a:endParaRPr lang="en-US" dirty="0"/>
          </a:p>
          <a:p>
            <a:pPr marL="285750" indent="-285750">
              <a:buFont typeface="Arial" panose="020B0604020202020204" pitchFamily="34" charset="0"/>
              <a:buChar char="•"/>
            </a:pPr>
            <a:r>
              <a:rPr lang="en-US" dirty="0" err="1"/>
              <a:t>MoSCoW</a:t>
            </a:r>
            <a:r>
              <a:rPr lang="en-US" dirty="0"/>
              <a:t> </a:t>
            </a:r>
            <a:r>
              <a:rPr lang="en-US" dirty="0" err="1"/>
              <a:t>Prioritisation</a:t>
            </a:r>
            <a:endParaRPr lang="en-US" dirty="0"/>
          </a:p>
          <a:p>
            <a:pPr marL="285750" indent="-285750">
              <a:buFont typeface="Arial" panose="020B0604020202020204" pitchFamily="34" charset="0"/>
              <a:buChar char="•"/>
            </a:pPr>
            <a:r>
              <a:rPr lang="en-US" dirty="0"/>
              <a:t>Team Training</a:t>
            </a:r>
          </a:p>
        </p:txBody>
      </p:sp>
    </p:spTree>
    <p:extLst>
      <p:ext uri="{BB962C8B-B14F-4D97-AF65-F5344CB8AC3E}">
        <p14:creationId xmlns:p14="http://schemas.microsoft.com/office/powerpoint/2010/main" val="1801456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4799C75-6D2E-47E8-BF44-9932570E1951}"/>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2F6FF05C-D49C-42E2-8A27-1D75D734465D}"/>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06</a:t>
            </a:r>
          </a:p>
        </p:txBody>
      </p:sp>
      <p:sp>
        <p:nvSpPr>
          <p:cNvPr id="3" name="Rectangle 2">
            <a:extLst>
              <a:ext uri="{FF2B5EF4-FFF2-40B4-BE49-F238E27FC236}">
                <a16:creationId xmlns:a16="http://schemas.microsoft.com/office/drawing/2014/main" id="{C33FD25A-5933-4D98-AAA3-A149112891D1}"/>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FFF99F55-054A-4279-9C46-ADD00D41E6F9}"/>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646B23DE-0F28-4A81-AA6E-F0493D07016F}"/>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defRPr sz="2775" b="1">
                <a:solidFill>
                  <a:srgbClr val="0B1220"/>
                </a:solidFill>
                <a:latin typeface="Arial"/>
                <a:ea typeface="Arial"/>
                <a:cs typeface="Arial"/>
              </a:defRPr>
            </a:pPr>
            <a:r>
              <a:rPr lang="en-US" sz="2775" b="1" dirty="0"/>
              <a:t>Stakeholders and Their Expectations</a:t>
            </a:r>
            <a:endParaRPr sz="2775" b="1" dirty="0">
              <a:solidFill>
                <a:srgbClr val="0B1220"/>
              </a:solidFill>
              <a:latin typeface="Arial"/>
              <a:ea typeface="Arial"/>
              <a:cs typeface="Arial"/>
            </a:endParaRPr>
          </a:p>
        </p:txBody>
      </p:sp>
      <p:sp>
        <p:nvSpPr>
          <p:cNvPr id="6" name="Rectangle 5">
            <a:extLst>
              <a:ext uri="{FF2B5EF4-FFF2-40B4-BE49-F238E27FC236}">
                <a16:creationId xmlns:a16="http://schemas.microsoft.com/office/drawing/2014/main" id="{E10768A3-BEC4-4721-9D61-51413680B566}"/>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r>
              <a:rPr lang="en-US" sz="1400" dirty="0"/>
              <a:t>The solution must balance learning value, delivery constraints and student protection.</a:t>
            </a:r>
          </a:p>
        </p:txBody>
      </p:sp>
      <p:graphicFrame>
        <p:nvGraphicFramePr>
          <p:cNvPr id="20" name="Table 19">
            <a:extLst>
              <a:ext uri="{FF2B5EF4-FFF2-40B4-BE49-F238E27FC236}">
                <a16:creationId xmlns:a16="http://schemas.microsoft.com/office/drawing/2014/main" id="{A2FF2D7C-5A44-D194-69AC-3B5F27211786}"/>
              </a:ext>
            </a:extLst>
          </p:cNvPr>
          <p:cNvGraphicFramePr>
            <a:graphicFrameLocks noGrp="1"/>
          </p:cNvGraphicFramePr>
          <p:nvPr>
            <p:extLst>
              <p:ext uri="{D42A27DB-BD31-4B8C-83A1-F6EECF244321}">
                <p14:modId xmlns:p14="http://schemas.microsoft.com/office/powerpoint/2010/main" val="1849665445"/>
              </p:ext>
            </p:extLst>
          </p:nvPr>
        </p:nvGraphicFramePr>
        <p:xfrm>
          <a:off x="1076959" y="1945530"/>
          <a:ext cx="9811839" cy="4398120"/>
        </p:xfrm>
        <a:graphic>
          <a:graphicData uri="http://schemas.openxmlformats.org/drawingml/2006/table">
            <a:tbl>
              <a:tblPr>
                <a:tableStyleId>{3C2FFA5D-87B4-456A-9821-1D502468CF0F}</a:tableStyleId>
              </a:tblPr>
              <a:tblGrid>
                <a:gridCol w="3270613">
                  <a:extLst>
                    <a:ext uri="{9D8B030D-6E8A-4147-A177-3AD203B41FA5}">
                      <a16:colId xmlns:a16="http://schemas.microsoft.com/office/drawing/2014/main" val="142287467"/>
                    </a:ext>
                  </a:extLst>
                </a:gridCol>
                <a:gridCol w="3270613">
                  <a:extLst>
                    <a:ext uri="{9D8B030D-6E8A-4147-A177-3AD203B41FA5}">
                      <a16:colId xmlns:a16="http://schemas.microsoft.com/office/drawing/2014/main" val="4087628169"/>
                    </a:ext>
                  </a:extLst>
                </a:gridCol>
                <a:gridCol w="3270613">
                  <a:extLst>
                    <a:ext uri="{9D8B030D-6E8A-4147-A177-3AD203B41FA5}">
                      <a16:colId xmlns:a16="http://schemas.microsoft.com/office/drawing/2014/main" val="1755878901"/>
                    </a:ext>
                  </a:extLst>
                </a:gridCol>
              </a:tblGrid>
              <a:tr h="341281">
                <a:tc>
                  <a:txBody>
                    <a:bodyPr/>
                    <a:lstStyle/>
                    <a:p>
                      <a:pPr>
                        <a:buNone/>
                      </a:pPr>
                      <a:r>
                        <a:rPr lang="en-US" sz="1700" b="1" dirty="0"/>
                        <a:t>Stakeholder</a:t>
                      </a:r>
                    </a:p>
                  </a:txBody>
                  <a:tcPr marL="85320" marR="85320" marT="42660" marB="42660" anchor="ctr"/>
                </a:tc>
                <a:tc>
                  <a:txBody>
                    <a:bodyPr/>
                    <a:lstStyle/>
                    <a:p>
                      <a:pPr>
                        <a:buNone/>
                      </a:pPr>
                      <a:r>
                        <a:rPr lang="en-US" sz="1700" b="1"/>
                        <a:t>Role</a:t>
                      </a:r>
                    </a:p>
                  </a:txBody>
                  <a:tcPr marL="85320" marR="85320" marT="42660" marB="42660" anchor="ctr"/>
                </a:tc>
                <a:tc>
                  <a:txBody>
                    <a:bodyPr/>
                    <a:lstStyle/>
                    <a:p>
                      <a:pPr>
                        <a:buNone/>
                      </a:pPr>
                      <a:r>
                        <a:rPr lang="en-US" sz="1700" b="1" dirty="0"/>
                        <a:t>Main expectations</a:t>
                      </a:r>
                    </a:p>
                  </a:txBody>
                  <a:tcPr marL="85320" marR="85320" marT="42660" marB="42660" anchor="ctr"/>
                </a:tc>
                <a:extLst>
                  <a:ext uri="{0D108BD9-81ED-4DB2-BD59-A6C34878D82A}">
                    <a16:rowId xmlns:a16="http://schemas.microsoft.com/office/drawing/2014/main" val="3933259352"/>
                  </a:ext>
                </a:extLst>
              </a:tr>
              <a:tr h="853203">
                <a:tc>
                  <a:txBody>
                    <a:bodyPr/>
                    <a:lstStyle/>
                    <a:p>
                      <a:pPr>
                        <a:buNone/>
                      </a:pPr>
                      <a:r>
                        <a:rPr lang="en-US" sz="1700"/>
                        <a:t>Students</a:t>
                      </a:r>
                    </a:p>
                  </a:txBody>
                  <a:tcPr marL="85320" marR="85320" marT="42660" marB="42660" anchor="ctr"/>
                </a:tc>
                <a:tc>
                  <a:txBody>
                    <a:bodyPr/>
                    <a:lstStyle/>
                    <a:p>
                      <a:pPr>
                        <a:buNone/>
                      </a:pPr>
                      <a:r>
                        <a:rPr lang="en-US" sz="1700"/>
                        <a:t>Primary end users</a:t>
                      </a:r>
                    </a:p>
                  </a:txBody>
                  <a:tcPr marL="85320" marR="85320" marT="42660" marB="42660" anchor="ctr"/>
                </a:tc>
                <a:tc>
                  <a:txBody>
                    <a:bodyPr/>
                    <a:lstStyle/>
                    <a:p>
                      <a:pPr>
                        <a:buNone/>
                      </a:pPr>
                      <a:r>
                        <a:rPr lang="en-US" sz="1700"/>
                        <a:t>Fast answers, clear explanations, simple navigation, learning progress and secure personal data</a:t>
                      </a:r>
                    </a:p>
                  </a:txBody>
                  <a:tcPr marL="85320" marR="85320" marT="42660" marB="42660" anchor="ctr"/>
                </a:tc>
                <a:extLst>
                  <a:ext uri="{0D108BD9-81ED-4DB2-BD59-A6C34878D82A}">
                    <a16:rowId xmlns:a16="http://schemas.microsoft.com/office/drawing/2014/main" val="2415827634"/>
                  </a:ext>
                </a:extLst>
              </a:tr>
              <a:tr h="853203">
                <a:tc>
                  <a:txBody>
                    <a:bodyPr/>
                    <a:lstStyle/>
                    <a:p>
                      <a:pPr>
                        <a:buNone/>
                      </a:pPr>
                      <a:r>
                        <a:rPr lang="en-US" sz="1700"/>
                        <a:t>BrightPath Learning Team</a:t>
                      </a:r>
                    </a:p>
                  </a:txBody>
                  <a:tcPr marL="85320" marR="85320" marT="42660" marB="42660" anchor="ctr"/>
                </a:tc>
                <a:tc>
                  <a:txBody>
                    <a:bodyPr/>
                    <a:lstStyle/>
                    <a:p>
                      <a:pPr>
                        <a:buNone/>
                      </a:pPr>
                      <a:r>
                        <a:rPr lang="en-US" sz="1700"/>
                        <a:t>Product owner and developer</a:t>
                      </a:r>
                    </a:p>
                  </a:txBody>
                  <a:tcPr marL="85320" marR="85320" marT="42660" marB="42660" anchor="ctr"/>
                </a:tc>
                <a:tc>
                  <a:txBody>
                    <a:bodyPr/>
                    <a:lstStyle/>
                    <a:p>
                      <a:pPr>
                        <a:buNone/>
                      </a:pPr>
                      <a:r>
                        <a:rPr lang="en-US" sz="1700"/>
                        <a:t>Deliver the MVP within 14 weeks, control AI costs, maintain the system and support future growth</a:t>
                      </a:r>
                    </a:p>
                  </a:txBody>
                  <a:tcPr marL="85320" marR="85320" marT="42660" marB="42660" anchor="ctr"/>
                </a:tc>
                <a:extLst>
                  <a:ext uri="{0D108BD9-81ED-4DB2-BD59-A6C34878D82A}">
                    <a16:rowId xmlns:a16="http://schemas.microsoft.com/office/drawing/2014/main" val="1462823470"/>
                  </a:ext>
                </a:extLst>
              </a:tr>
              <a:tr h="597242">
                <a:tc>
                  <a:txBody>
                    <a:bodyPr/>
                    <a:lstStyle/>
                    <a:p>
                      <a:pPr>
                        <a:buNone/>
                      </a:pPr>
                      <a:r>
                        <a:rPr lang="en-US" sz="1700"/>
                        <a:t>Parents or Guardians</a:t>
                      </a:r>
                    </a:p>
                  </a:txBody>
                  <a:tcPr marL="85320" marR="85320" marT="42660" marB="42660" anchor="ctr"/>
                </a:tc>
                <a:tc>
                  <a:txBody>
                    <a:bodyPr/>
                    <a:lstStyle/>
                    <a:p>
                      <a:pPr>
                        <a:buNone/>
                      </a:pPr>
                      <a:r>
                        <a:rPr lang="en-US" sz="1700"/>
                        <a:t>Supporting stakeholders</a:t>
                      </a:r>
                    </a:p>
                  </a:txBody>
                  <a:tcPr marL="85320" marR="85320" marT="42660" marB="42660" anchor="ctr"/>
                </a:tc>
                <a:tc>
                  <a:txBody>
                    <a:bodyPr/>
                    <a:lstStyle/>
                    <a:p>
                      <a:pPr>
                        <a:buNone/>
                      </a:pPr>
                      <a:r>
                        <a:rPr lang="en-US" sz="1700"/>
                        <a:t>Safe, age-appropriate use and protection of underage learners</a:t>
                      </a:r>
                    </a:p>
                  </a:txBody>
                  <a:tcPr marL="85320" marR="85320" marT="42660" marB="42660" anchor="ctr"/>
                </a:tc>
                <a:extLst>
                  <a:ext uri="{0D108BD9-81ED-4DB2-BD59-A6C34878D82A}">
                    <a16:rowId xmlns:a16="http://schemas.microsoft.com/office/drawing/2014/main" val="2115902446"/>
                  </a:ext>
                </a:extLst>
              </a:tr>
              <a:tr h="853203">
                <a:tc>
                  <a:txBody>
                    <a:bodyPr/>
                    <a:lstStyle/>
                    <a:p>
                      <a:pPr>
                        <a:buNone/>
                      </a:pPr>
                      <a:r>
                        <a:rPr lang="en-US" sz="1700"/>
                        <a:t>Privacy Regulators</a:t>
                      </a:r>
                    </a:p>
                  </a:txBody>
                  <a:tcPr marL="85320" marR="85320" marT="42660" marB="42660" anchor="ctr"/>
                </a:tc>
                <a:tc>
                  <a:txBody>
                    <a:bodyPr/>
                    <a:lstStyle/>
                    <a:p>
                      <a:pPr>
                        <a:buNone/>
                      </a:pPr>
                      <a:r>
                        <a:rPr lang="en-US" sz="1700"/>
                        <a:t>External stakeholders</a:t>
                      </a:r>
                    </a:p>
                  </a:txBody>
                  <a:tcPr marL="85320" marR="85320" marT="42660" marB="42660" anchor="ctr"/>
                </a:tc>
                <a:tc>
                  <a:txBody>
                    <a:bodyPr/>
                    <a:lstStyle/>
                    <a:p>
                      <a:pPr>
                        <a:buNone/>
                      </a:pPr>
                      <a:r>
                        <a:rPr lang="en-US" sz="1700"/>
                        <a:t>GDPR/COPPA compliance, consent, secure storage and appropriate data handling</a:t>
                      </a:r>
                    </a:p>
                  </a:txBody>
                  <a:tcPr marL="85320" marR="85320" marT="42660" marB="42660" anchor="ctr"/>
                </a:tc>
                <a:extLst>
                  <a:ext uri="{0D108BD9-81ED-4DB2-BD59-A6C34878D82A}">
                    <a16:rowId xmlns:a16="http://schemas.microsoft.com/office/drawing/2014/main" val="2044963478"/>
                  </a:ext>
                </a:extLst>
              </a:tr>
              <a:tr h="853203">
                <a:tc>
                  <a:txBody>
                    <a:bodyPr/>
                    <a:lstStyle/>
                    <a:p>
                      <a:pPr>
                        <a:buNone/>
                      </a:pPr>
                      <a:r>
                        <a:rPr lang="en-US" sz="1700"/>
                        <a:t>AI Service Provider</a:t>
                      </a:r>
                    </a:p>
                  </a:txBody>
                  <a:tcPr marL="85320" marR="85320" marT="42660" marB="42660" anchor="ctr"/>
                </a:tc>
                <a:tc>
                  <a:txBody>
                    <a:bodyPr/>
                    <a:lstStyle/>
                    <a:p>
                      <a:pPr>
                        <a:buNone/>
                      </a:pPr>
                      <a:r>
                        <a:rPr lang="en-US" sz="1700"/>
                        <a:t>External dependency</a:t>
                      </a:r>
                    </a:p>
                  </a:txBody>
                  <a:tcPr marL="85320" marR="85320" marT="42660" marB="42660" anchor="ctr"/>
                </a:tc>
                <a:tc>
                  <a:txBody>
                    <a:bodyPr/>
                    <a:lstStyle/>
                    <a:p>
                      <a:pPr>
                        <a:buNone/>
                      </a:pPr>
                      <a:r>
                        <a:rPr lang="en-US" sz="1700" dirty="0"/>
                        <a:t>Stable API access, predictable cost, acceptable response time and reliable integration</a:t>
                      </a:r>
                    </a:p>
                  </a:txBody>
                  <a:tcPr marL="85320" marR="85320" marT="42660" marB="42660" anchor="ctr"/>
                </a:tc>
                <a:extLst>
                  <a:ext uri="{0D108BD9-81ED-4DB2-BD59-A6C34878D82A}">
                    <a16:rowId xmlns:a16="http://schemas.microsoft.com/office/drawing/2014/main" val="3240197349"/>
                  </a:ext>
                </a:extLst>
              </a:tr>
            </a:tbl>
          </a:graphicData>
        </a:graphic>
      </p:graphicFrame>
    </p:spTree>
    <p:extLst>
      <p:ext uri="{BB962C8B-B14F-4D97-AF65-F5344CB8AC3E}">
        <p14:creationId xmlns:p14="http://schemas.microsoft.com/office/powerpoint/2010/main" val="1258583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E1F2909-A1FA-4032-9735-3A3E4E390DB9}"/>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8BF34A9C-E785-4D59-A224-71F0AB79DBA2}"/>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07</a:t>
            </a:r>
          </a:p>
        </p:txBody>
      </p:sp>
      <p:sp>
        <p:nvSpPr>
          <p:cNvPr id="3" name="Rectangle 2">
            <a:extLst>
              <a:ext uri="{FF2B5EF4-FFF2-40B4-BE49-F238E27FC236}">
                <a16:creationId xmlns:a16="http://schemas.microsoft.com/office/drawing/2014/main" id="{987D3466-60BB-4F6F-8D83-84B155068E15}"/>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B0DCDFE0-D646-4DE1-81DE-247506BC6B5E}"/>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F524EEDB-0755-4F02-ACF0-88BE861A2562}"/>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r>
              <a:rPr lang="en-US" sz="2800" b="1" dirty="0"/>
              <a:t>The Student Learning Journey</a:t>
            </a:r>
          </a:p>
        </p:txBody>
      </p:sp>
      <p:sp>
        <p:nvSpPr>
          <p:cNvPr id="6" name="Rectangle 5">
            <a:extLst>
              <a:ext uri="{FF2B5EF4-FFF2-40B4-BE49-F238E27FC236}">
                <a16:creationId xmlns:a16="http://schemas.microsoft.com/office/drawing/2014/main" id="{400D607F-0EA0-4B33-9EC7-D8A5CF4EDFCB}"/>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r>
              <a:rPr lang="en-US" sz="1400" dirty="0"/>
              <a:t>The application supports both structured learning and immediate AI assistance.</a:t>
            </a:r>
          </a:p>
        </p:txBody>
      </p:sp>
      <p:sp>
        <p:nvSpPr>
          <p:cNvPr id="8" name="Oval 7">
            <a:extLst>
              <a:ext uri="{FF2B5EF4-FFF2-40B4-BE49-F238E27FC236}">
                <a16:creationId xmlns:a16="http://schemas.microsoft.com/office/drawing/2014/main" id="{D0BDE941-0C4B-4C67-9833-12114F87B2F7}"/>
              </a:ext>
            </a:extLst>
          </p:cNvPr>
          <p:cNvSpPr>
            <a:spLocks noGrp="1"/>
          </p:cNvSpPr>
          <p:nvPr/>
        </p:nvSpPr>
        <p:spPr>
          <a:xfrm>
            <a:off x="1084770" y="1847726"/>
            <a:ext cx="533400" cy="533400"/>
          </a:xfrm>
          <a:prstGeom prst="ellipse">
            <a:avLst/>
          </a:prstGeom>
          <a:solidFill>
            <a:srgbClr val="3D8DFF"/>
          </a:solidFill>
          <a:ln w="0">
            <a:solidFill>
              <a:srgbClr val="3D8DFF"/>
            </a:solidFill>
            <a:prstDash val="solid"/>
          </a:ln>
        </p:spPr>
      </p:sp>
      <p:sp>
        <p:nvSpPr>
          <p:cNvPr id="9" name="Rectangle 8">
            <a:extLst>
              <a:ext uri="{FF2B5EF4-FFF2-40B4-BE49-F238E27FC236}">
                <a16:creationId xmlns:a16="http://schemas.microsoft.com/office/drawing/2014/main" id="{5C8DEA4A-4032-446A-BE87-BEDCE9D13C79}"/>
              </a:ext>
            </a:extLst>
          </p:cNvPr>
          <p:cNvSpPr>
            <a:spLocks noGrp="1"/>
          </p:cNvSpPr>
          <p:nvPr/>
        </p:nvSpPr>
        <p:spPr>
          <a:xfrm>
            <a:off x="1084770" y="1990601"/>
            <a:ext cx="533400" cy="266700"/>
          </a:xfrm>
          <a:prstGeom prst="rect">
            <a:avLst/>
          </a:prstGeom>
          <a:noFill/>
          <a:ln w="0">
            <a:noFill/>
            <a:prstDash val="solid"/>
          </a:ln>
        </p:spPr>
        <p:txBody>
          <a:bodyPr lIns="0" tIns="0" rIns="0" bIns="0" anchor="t">
            <a:normAutofit/>
          </a:bodyPr>
          <a:lstStyle/>
          <a:p>
            <a:pPr algn="ctr">
              <a:buNone/>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10" name="Rectangle 9">
            <a:extLst>
              <a:ext uri="{FF2B5EF4-FFF2-40B4-BE49-F238E27FC236}">
                <a16:creationId xmlns:a16="http://schemas.microsoft.com/office/drawing/2014/main" id="{448ADF5C-A86F-43B9-B709-753A2898239E}"/>
              </a:ext>
            </a:extLst>
          </p:cNvPr>
          <p:cNvSpPr>
            <a:spLocks noGrp="1"/>
          </p:cNvSpPr>
          <p:nvPr/>
        </p:nvSpPr>
        <p:spPr>
          <a:xfrm>
            <a:off x="894368" y="2032629"/>
            <a:ext cx="2381250" cy="323850"/>
          </a:xfrm>
          <a:prstGeom prst="rect">
            <a:avLst/>
          </a:prstGeom>
          <a:noFill/>
          <a:ln w="0">
            <a:noFill/>
            <a:prstDash val="solid"/>
          </a:ln>
        </p:spPr>
        <p:txBody>
          <a:bodyPr lIns="0" tIns="0" rIns="0" bIns="0" anchor="t">
            <a:normAutofit/>
          </a:bodyPr>
          <a:lstStyle/>
          <a:p>
            <a:pPr algn="ctr">
              <a:buNone/>
              <a:defRPr sz="1200" b="1">
                <a:solidFill>
                  <a:srgbClr val="0B1220"/>
                </a:solidFill>
                <a:latin typeface="Arial"/>
                <a:ea typeface="Arial"/>
                <a:cs typeface="Arial"/>
              </a:defRPr>
            </a:pPr>
            <a:r>
              <a:rPr lang="en-US" sz="1200" dirty="0"/>
              <a:t>Explore</a:t>
            </a:r>
            <a:endParaRPr lang="en-US" sz="1200" dirty="0">
              <a:solidFill>
                <a:srgbClr val="0B1220"/>
              </a:solidFill>
              <a:latin typeface="Arial"/>
              <a:cs typeface="Arial"/>
            </a:endParaRPr>
          </a:p>
        </p:txBody>
      </p:sp>
      <p:sp>
        <p:nvSpPr>
          <p:cNvPr id="12" name="Oval 11">
            <a:extLst>
              <a:ext uri="{FF2B5EF4-FFF2-40B4-BE49-F238E27FC236}">
                <a16:creationId xmlns:a16="http://schemas.microsoft.com/office/drawing/2014/main" id="{5A9E309C-F211-4C89-AF1E-34FF31176E88}"/>
              </a:ext>
            </a:extLst>
          </p:cNvPr>
          <p:cNvSpPr>
            <a:spLocks noGrp="1"/>
          </p:cNvSpPr>
          <p:nvPr/>
        </p:nvSpPr>
        <p:spPr>
          <a:xfrm>
            <a:off x="1084770" y="2597402"/>
            <a:ext cx="533400" cy="533400"/>
          </a:xfrm>
          <a:prstGeom prst="ellipse">
            <a:avLst/>
          </a:prstGeom>
          <a:solidFill>
            <a:srgbClr val="EAF5FB"/>
          </a:solidFill>
          <a:ln w="0">
            <a:solidFill>
              <a:srgbClr val="EAF5FB"/>
            </a:solidFill>
            <a:prstDash val="solid"/>
          </a:ln>
        </p:spPr>
      </p:sp>
      <p:sp>
        <p:nvSpPr>
          <p:cNvPr id="13" name="Rectangle 12">
            <a:extLst>
              <a:ext uri="{FF2B5EF4-FFF2-40B4-BE49-F238E27FC236}">
                <a16:creationId xmlns:a16="http://schemas.microsoft.com/office/drawing/2014/main" id="{4E643784-D4B8-4845-AAFF-12E8165DA52F}"/>
              </a:ext>
            </a:extLst>
          </p:cNvPr>
          <p:cNvSpPr>
            <a:spLocks noGrp="1"/>
          </p:cNvSpPr>
          <p:nvPr/>
        </p:nvSpPr>
        <p:spPr>
          <a:xfrm>
            <a:off x="1084770" y="2740277"/>
            <a:ext cx="533400" cy="266700"/>
          </a:xfrm>
          <a:prstGeom prst="rect">
            <a:avLst/>
          </a:prstGeom>
          <a:noFill/>
          <a:ln w="0">
            <a:noFill/>
            <a:prstDash val="solid"/>
          </a:ln>
        </p:spPr>
        <p:txBody>
          <a:bodyPr lIns="0" tIns="0" rIns="0" bIns="0" anchor="t">
            <a:normAutofit/>
          </a:bodyPr>
          <a:lstStyle/>
          <a:p>
            <a:pPr algn="ctr">
              <a:buNone/>
              <a:defRPr sz="1350" b="1">
                <a:solidFill>
                  <a:srgbClr val="0F2A43"/>
                </a:solidFill>
                <a:latin typeface="Arial"/>
                <a:ea typeface="Arial"/>
                <a:cs typeface="Arial"/>
              </a:defRPr>
            </a:pPr>
            <a:r>
              <a:rPr sz="1350" b="1" dirty="0">
                <a:solidFill>
                  <a:srgbClr val="0F2A43"/>
                </a:solidFill>
                <a:latin typeface="Arial"/>
                <a:ea typeface="Arial"/>
                <a:cs typeface="Arial"/>
              </a:rPr>
              <a:t>2</a:t>
            </a:r>
          </a:p>
        </p:txBody>
      </p:sp>
      <p:sp>
        <p:nvSpPr>
          <p:cNvPr id="14" name="Rectangle 13">
            <a:extLst>
              <a:ext uri="{FF2B5EF4-FFF2-40B4-BE49-F238E27FC236}">
                <a16:creationId xmlns:a16="http://schemas.microsoft.com/office/drawing/2014/main" id="{4A0570A8-C04D-4D0A-A9A4-D72DD1A3A501}"/>
              </a:ext>
            </a:extLst>
          </p:cNvPr>
          <p:cNvSpPr>
            <a:spLocks noGrp="1"/>
          </p:cNvSpPr>
          <p:nvPr/>
        </p:nvSpPr>
        <p:spPr>
          <a:xfrm>
            <a:off x="1361191" y="2745880"/>
            <a:ext cx="2381250" cy="381000"/>
          </a:xfrm>
          <a:prstGeom prst="rect">
            <a:avLst/>
          </a:prstGeom>
          <a:noFill/>
          <a:ln w="0">
            <a:noFill/>
            <a:prstDash val="solid"/>
          </a:ln>
        </p:spPr>
        <p:txBody>
          <a:bodyPr lIns="0" tIns="0" rIns="0" bIns="0" anchor="t">
            <a:normAutofit/>
          </a:bodyPr>
          <a:lstStyle/>
          <a:p>
            <a:pPr algn="ctr">
              <a:buNone/>
              <a:defRPr sz="1200" b="1">
                <a:solidFill>
                  <a:srgbClr val="0B1220"/>
                </a:solidFill>
                <a:latin typeface="Arial"/>
                <a:ea typeface="Arial"/>
                <a:cs typeface="Arial"/>
              </a:defRPr>
            </a:pPr>
            <a:r>
              <a:rPr lang="en-US" sz="1200" b="1" dirty="0"/>
              <a:t>Ask and understand</a:t>
            </a:r>
            <a:endParaRPr sz="1200" b="1" dirty="0">
              <a:solidFill>
                <a:srgbClr val="0B1220"/>
              </a:solidFill>
              <a:latin typeface="Arial"/>
              <a:ea typeface="Arial"/>
              <a:cs typeface="Arial"/>
            </a:endParaRPr>
          </a:p>
        </p:txBody>
      </p:sp>
      <p:sp>
        <p:nvSpPr>
          <p:cNvPr id="16" name="Oval 15">
            <a:extLst>
              <a:ext uri="{FF2B5EF4-FFF2-40B4-BE49-F238E27FC236}">
                <a16:creationId xmlns:a16="http://schemas.microsoft.com/office/drawing/2014/main" id="{29312A5A-C749-478F-9B5C-914E103B57C5}"/>
              </a:ext>
            </a:extLst>
          </p:cNvPr>
          <p:cNvSpPr>
            <a:spLocks noGrp="1"/>
          </p:cNvSpPr>
          <p:nvPr/>
        </p:nvSpPr>
        <p:spPr>
          <a:xfrm>
            <a:off x="1084770" y="3367922"/>
            <a:ext cx="533400" cy="533400"/>
          </a:xfrm>
          <a:prstGeom prst="ellipse">
            <a:avLst/>
          </a:prstGeom>
          <a:solidFill>
            <a:srgbClr val="3D8DFF"/>
          </a:solidFill>
          <a:ln w="0">
            <a:solidFill>
              <a:srgbClr val="3D8DFF"/>
            </a:solidFill>
            <a:prstDash val="solid"/>
          </a:ln>
        </p:spPr>
      </p:sp>
      <p:sp>
        <p:nvSpPr>
          <p:cNvPr id="17" name="Rectangle 16">
            <a:extLst>
              <a:ext uri="{FF2B5EF4-FFF2-40B4-BE49-F238E27FC236}">
                <a16:creationId xmlns:a16="http://schemas.microsoft.com/office/drawing/2014/main" id="{83979ADB-04B8-45E6-8514-C3128FB8030C}"/>
              </a:ext>
            </a:extLst>
          </p:cNvPr>
          <p:cNvSpPr>
            <a:spLocks noGrp="1"/>
          </p:cNvSpPr>
          <p:nvPr/>
        </p:nvSpPr>
        <p:spPr>
          <a:xfrm>
            <a:off x="1084770" y="3510797"/>
            <a:ext cx="533400" cy="266700"/>
          </a:xfrm>
          <a:prstGeom prst="rect">
            <a:avLst/>
          </a:prstGeom>
          <a:noFill/>
          <a:ln w="0">
            <a:noFill/>
            <a:prstDash val="solid"/>
          </a:ln>
        </p:spPr>
        <p:txBody>
          <a:bodyPr lIns="0" tIns="0" rIns="0" bIns="0" anchor="t">
            <a:normAutofit/>
          </a:bodyPr>
          <a:lstStyle/>
          <a:p>
            <a:pPr algn="ctr">
              <a:buNone/>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8" name="Rectangle 17">
            <a:extLst>
              <a:ext uri="{FF2B5EF4-FFF2-40B4-BE49-F238E27FC236}">
                <a16:creationId xmlns:a16="http://schemas.microsoft.com/office/drawing/2014/main" id="{193EB99C-F422-49E2-AA35-F6FC7AE3B60C}"/>
              </a:ext>
            </a:extLst>
          </p:cNvPr>
          <p:cNvSpPr>
            <a:spLocks noGrp="1"/>
          </p:cNvSpPr>
          <p:nvPr/>
        </p:nvSpPr>
        <p:spPr>
          <a:xfrm>
            <a:off x="973219" y="3495556"/>
            <a:ext cx="2381250" cy="381000"/>
          </a:xfrm>
          <a:prstGeom prst="rect">
            <a:avLst/>
          </a:prstGeom>
          <a:noFill/>
          <a:ln w="0">
            <a:noFill/>
            <a:prstDash val="solid"/>
          </a:ln>
        </p:spPr>
        <p:txBody>
          <a:bodyPr lIns="0" tIns="0" rIns="0" bIns="0" anchor="t">
            <a:normAutofit/>
          </a:bodyPr>
          <a:lstStyle/>
          <a:p>
            <a:pPr algn="ctr">
              <a:buNone/>
              <a:defRPr sz="1200" b="1">
                <a:solidFill>
                  <a:srgbClr val="0B1220"/>
                </a:solidFill>
                <a:latin typeface="Arial"/>
                <a:ea typeface="Arial"/>
                <a:cs typeface="Arial"/>
              </a:defRPr>
            </a:pPr>
            <a:r>
              <a:rPr lang="en-US" sz="1200" b="1" dirty="0" err="1"/>
              <a:t>Practise</a:t>
            </a:r>
            <a:endParaRPr sz="1200" b="1" dirty="0">
              <a:solidFill>
                <a:srgbClr val="0B1220"/>
              </a:solidFill>
              <a:latin typeface="Arial"/>
              <a:ea typeface="Arial"/>
              <a:cs typeface="Arial"/>
            </a:endParaRPr>
          </a:p>
        </p:txBody>
      </p:sp>
      <p:sp>
        <p:nvSpPr>
          <p:cNvPr id="19" name="Oval 18">
            <a:extLst>
              <a:ext uri="{FF2B5EF4-FFF2-40B4-BE49-F238E27FC236}">
                <a16:creationId xmlns:a16="http://schemas.microsoft.com/office/drawing/2014/main" id="{EBBD4B1C-BB83-41AD-B6E0-81811ABF70F7}"/>
              </a:ext>
            </a:extLst>
          </p:cNvPr>
          <p:cNvSpPr>
            <a:spLocks noGrp="1"/>
          </p:cNvSpPr>
          <p:nvPr/>
        </p:nvSpPr>
        <p:spPr>
          <a:xfrm>
            <a:off x="1084770" y="4184155"/>
            <a:ext cx="533400" cy="533400"/>
          </a:xfrm>
          <a:prstGeom prst="ellipse">
            <a:avLst/>
          </a:prstGeom>
          <a:solidFill>
            <a:srgbClr val="EAF5FB"/>
          </a:solidFill>
          <a:ln w="0">
            <a:solidFill>
              <a:srgbClr val="EAF5FB"/>
            </a:solidFill>
            <a:prstDash val="solid"/>
          </a:ln>
        </p:spPr>
      </p:sp>
      <p:sp>
        <p:nvSpPr>
          <p:cNvPr id="20" name="Rectangle 19">
            <a:extLst>
              <a:ext uri="{FF2B5EF4-FFF2-40B4-BE49-F238E27FC236}">
                <a16:creationId xmlns:a16="http://schemas.microsoft.com/office/drawing/2014/main" id="{76106D52-6256-47E3-B9CA-D75FE69FFF3D}"/>
              </a:ext>
            </a:extLst>
          </p:cNvPr>
          <p:cNvSpPr>
            <a:spLocks noGrp="1"/>
          </p:cNvSpPr>
          <p:nvPr/>
        </p:nvSpPr>
        <p:spPr>
          <a:xfrm>
            <a:off x="1084770" y="4327030"/>
            <a:ext cx="533400" cy="266700"/>
          </a:xfrm>
          <a:prstGeom prst="rect">
            <a:avLst/>
          </a:prstGeom>
          <a:noFill/>
          <a:ln w="0">
            <a:noFill/>
            <a:prstDash val="solid"/>
          </a:ln>
        </p:spPr>
        <p:txBody>
          <a:bodyPr lIns="0" tIns="0" rIns="0" bIns="0" anchor="t">
            <a:normAutofit/>
          </a:bodyPr>
          <a:lstStyle/>
          <a:p>
            <a:pPr algn="ctr">
              <a:buNone/>
              <a:defRPr sz="1350" b="1">
                <a:solidFill>
                  <a:srgbClr val="0F2A43"/>
                </a:solidFill>
                <a:latin typeface="Arial"/>
                <a:ea typeface="Arial"/>
                <a:cs typeface="Arial"/>
              </a:defRPr>
            </a:pPr>
            <a:r>
              <a:rPr sz="1350" b="1">
                <a:solidFill>
                  <a:srgbClr val="0F2A43"/>
                </a:solidFill>
                <a:latin typeface="Arial"/>
                <a:ea typeface="Arial"/>
                <a:cs typeface="Arial"/>
              </a:rPr>
              <a:t>4</a:t>
            </a:r>
          </a:p>
        </p:txBody>
      </p:sp>
      <p:sp>
        <p:nvSpPr>
          <p:cNvPr id="21" name="Rectangle 20">
            <a:extLst>
              <a:ext uri="{FF2B5EF4-FFF2-40B4-BE49-F238E27FC236}">
                <a16:creationId xmlns:a16="http://schemas.microsoft.com/office/drawing/2014/main" id="{A656D9E3-8B2C-4467-998B-8DE522A4F7FF}"/>
              </a:ext>
            </a:extLst>
          </p:cNvPr>
          <p:cNvSpPr>
            <a:spLocks noGrp="1"/>
          </p:cNvSpPr>
          <p:nvPr/>
        </p:nvSpPr>
        <p:spPr>
          <a:xfrm>
            <a:off x="1079860" y="4278785"/>
            <a:ext cx="2381250" cy="381000"/>
          </a:xfrm>
          <a:prstGeom prst="rect">
            <a:avLst/>
          </a:prstGeom>
          <a:noFill/>
          <a:ln w="0">
            <a:noFill/>
            <a:prstDash val="solid"/>
          </a:ln>
        </p:spPr>
        <p:txBody>
          <a:bodyPr lIns="0" tIns="0" rIns="0" bIns="0" anchor="t">
            <a:normAutofit/>
          </a:bodyPr>
          <a:lstStyle/>
          <a:p>
            <a:pPr algn="ctr">
              <a:buNone/>
              <a:defRPr sz="1200" b="1">
                <a:solidFill>
                  <a:srgbClr val="0B1220"/>
                </a:solidFill>
                <a:latin typeface="Arial"/>
                <a:ea typeface="Arial"/>
                <a:cs typeface="Arial"/>
              </a:defRPr>
            </a:pPr>
            <a:r>
              <a:rPr lang="en-US" sz="1200" b="1" dirty="0"/>
              <a:t>Progress</a:t>
            </a:r>
            <a:endParaRPr sz="1200" b="1" dirty="0">
              <a:solidFill>
                <a:srgbClr val="0B1220"/>
              </a:solidFill>
              <a:latin typeface="Arial"/>
              <a:ea typeface="Arial"/>
              <a:cs typeface="Arial"/>
            </a:endParaRPr>
          </a:p>
        </p:txBody>
      </p:sp>
      <p:sp>
        <p:nvSpPr>
          <p:cNvPr id="22" name="Rectangle 21">
            <a:extLst>
              <a:ext uri="{FF2B5EF4-FFF2-40B4-BE49-F238E27FC236}">
                <a16:creationId xmlns:a16="http://schemas.microsoft.com/office/drawing/2014/main" id="{FB647236-119A-49FB-B6DC-5C216BBB9DB7}"/>
              </a:ext>
            </a:extLst>
          </p:cNvPr>
          <p:cNvSpPr>
            <a:spLocks noGrp="1"/>
          </p:cNvSpPr>
          <p:nvPr/>
        </p:nvSpPr>
        <p:spPr>
          <a:xfrm>
            <a:off x="1618170" y="6041654"/>
            <a:ext cx="8763000" cy="476250"/>
          </a:xfrm>
          <a:prstGeom prst="rect">
            <a:avLst/>
          </a:prstGeom>
          <a:noFill/>
          <a:ln w="0">
            <a:noFill/>
            <a:prstDash val="solid"/>
          </a:ln>
        </p:spPr>
        <p:txBody>
          <a:bodyPr lIns="0" tIns="0" rIns="0" bIns="0" anchor="t">
            <a:normAutofit fontScale="89386" lnSpcReduction="10000"/>
          </a:bodyPr>
          <a:lstStyle/>
          <a:p>
            <a:pPr algn="ctr">
              <a:buNone/>
              <a:defRPr sz="1950" b="1">
                <a:solidFill>
                  <a:srgbClr val="0F2A43"/>
                </a:solidFill>
                <a:latin typeface="Arial"/>
                <a:ea typeface="Arial"/>
                <a:cs typeface="Arial"/>
              </a:defRPr>
            </a:pPr>
            <a:r>
              <a:rPr lang="en-US" sz="1950" b="1" dirty="0"/>
              <a:t>Every feature should help the student move from confusion to understanding and from understanding to measurable progress.</a:t>
            </a:r>
            <a:endParaRPr sz="1950" b="1" dirty="0">
              <a:solidFill>
                <a:srgbClr val="0F2A43"/>
              </a:solidFill>
              <a:latin typeface="Arial"/>
              <a:ea typeface="Arial"/>
              <a:cs typeface="Arial"/>
            </a:endParaRPr>
          </a:p>
        </p:txBody>
      </p:sp>
      <p:sp>
        <p:nvSpPr>
          <p:cNvPr id="24" name="TextBox 23">
            <a:extLst>
              <a:ext uri="{FF2B5EF4-FFF2-40B4-BE49-F238E27FC236}">
                <a16:creationId xmlns:a16="http://schemas.microsoft.com/office/drawing/2014/main" id="{1F42A45D-3F1D-BEE1-9A0D-24ACC1089AFD}"/>
              </a:ext>
            </a:extLst>
          </p:cNvPr>
          <p:cNvSpPr txBox="1"/>
          <p:nvPr/>
        </p:nvSpPr>
        <p:spPr>
          <a:xfrm>
            <a:off x="3619498" y="1975347"/>
            <a:ext cx="8685523" cy="338554"/>
          </a:xfrm>
          <a:prstGeom prst="rect">
            <a:avLst/>
          </a:prstGeom>
          <a:noFill/>
        </p:spPr>
        <p:txBody>
          <a:bodyPr wrap="square" rtlCol="0">
            <a:spAutoFit/>
          </a:bodyPr>
          <a:lstStyle/>
          <a:p>
            <a:r>
              <a:rPr lang="en-US" sz="1600" dirty="0"/>
              <a:t>Students select a subject, chapter or lesson from the learning journey.</a:t>
            </a:r>
          </a:p>
        </p:txBody>
      </p:sp>
      <p:sp>
        <p:nvSpPr>
          <p:cNvPr id="25" name="Oval 24">
            <a:extLst>
              <a:ext uri="{FF2B5EF4-FFF2-40B4-BE49-F238E27FC236}">
                <a16:creationId xmlns:a16="http://schemas.microsoft.com/office/drawing/2014/main" id="{918FAE62-E4BA-884A-D1C6-092FB9A674E1}"/>
              </a:ext>
            </a:extLst>
          </p:cNvPr>
          <p:cNvSpPr>
            <a:spLocks noGrp="1"/>
          </p:cNvSpPr>
          <p:nvPr/>
        </p:nvSpPr>
        <p:spPr>
          <a:xfrm>
            <a:off x="1084770" y="5015633"/>
            <a:ext cx="533400" cy="533400"/>
          </a:xfrm>
          <a:prstGeom prst="ellipse">
            <a:avLst/>
          </a:prstGeom>
          <a:solidFill>
            <a:srgbClr val="3D8DFF"/>
          </a:solidFill>
          <a:ln w="0">
            <a:solidFill>
              <a:srgbClr val="3D8DFF"/>
            </a:solidFill>
            <a:prstDash val="solid"/>
          </a:ln>
        </p:spPr>
      </p:sp>
      <p:sp>
        <p:nvSpPr>
          <p:cNvPr id="26" name="Rectangle 25">
            <a:extLst>
              <a:ext uri="{FF2B5EF4-FFF2-40B4-BE49-F238E27FC236}">
                <a16:creationId xmlns:a16="http://schemas.microsoft.com/office/drawing/2014/main" id="{1B40E34E-3052-5D3B-5D60-EDE0FC0AF746}"/>
              </a:ext>
            </a:extLst>
          </p:cNvPr>
          <p:cNvSpPr>
            <a:spLocks noGrp="1"/>
          </p:cNvSpPr>
          <p:nvPr/>
        </p:nvSpPr>
        <p:spPr>
          <a:xfrm>
            <a:off x="1084770" y="5158508"/>
            <a:ext cx="533400" cy="266700"/>
          </a:xfrm>
          <a:prstGeom prst="rect">
            <a:avLst/>
          </a:prstGeom>
          <a:noFill/>
          <a:ln w="0">
            <a:noFill/>
            <a:prstDash val="solid"/>
          </a:ln>
        </p:spPr>
        <p:txBody>
          <a:bodyPr lIns="0" tIns="0" rIns="0" bIns="0" anchor="t">
            <a:normAutofit/>
          </a:bodyPr>
          <a:lstStyle/>
          <a:p>
            <a:pPr algn="ctr">
              <a:buNone/>
              <a:defRPr sz="1350" b="1">
                <a:solidFill>
                  <a:srgbClr val="FFFFFF"/>
                </a:solidFill>
                <a:latin typeface="Arial"/>
                <a:ea typeface="Arial"/>
                <a:cs typeface="Arial"/>
              </a:defRPr>
            </a:pPr>
            <a:r>
              <a:rPr lang="en-US" sz="1350" b="1" dirty="0">
                <a:solidFill>
                  <a:srgbClr val="FFFFFF"/>
                </a:solidFill>
                <a:latin typeface="Arial"/>
                <a:ea typeface="Arial"/>
                <a:cs typeface="Arial"/>
              </a:rPr>
              <a:t>5</a:t>
            </a:r>
            <a:endParaRPr sz="1350" b="1" dirty="0">
              <a:solidFill>
                <a:srgbClr val="FFFFFF"/>
              </a:solidFill>
              <a:latin typeface="Arial"/>
              <a:ea typeface="Arial"/>
              <a:cs typeface="Arial"/>
            </a:endParaRPr>
          </a:p>
        </p:txBody>
      </p:sp>
      <p:sp>
        <p:nvSpPr>
          <p:cNvPr id="27" name="TextBox 26">
            <a:extLst>
              <a:ext uri="{FF2B5EF4-FFF2-40B4-BE49-F238E27FC236}">
                <a16:creationId xmlns:a16="http://schemas.microsoft.com/office/drawing/2014/main" id="{A9135185-CF10-9C86-AB36-A7D1ED324949}"/>
              </a:ext>
            </a:extLst>
          </p:cNvPr>
          <p:cNvSpPr txBox="1"/>
          <p:nvPr/>
        </p:nvSpPr>
        <p:spPr>
          <a:xfrm>
            <a:off x="3619498" y="2652387"/>
            <a:ext cx="7865097" cy="338554"/>
          </a:xfrm>
          <a:prstGeom prst="rect">
            <a:avLst/>
          </a:prstGeom>
          <a:noFill/>
        </p:spPr>
        <p:txBody>
          <a:bodyPr wrap="square" rtlCol="0">
            <a:spAutoFit/>
          </a:bodyPr>
          <a:lstStyle/>
          <a:p>
            <a:r>
              <a:rPr lang="en-US" sz="1600" dirty="0"/>
              <a:t>Students can study the lesson or ask the AI Tutor when they need additional help.</a:t>
            </a:r>
          </a:p>
        </p:txBody>
      </p:sp>
      <p:sp>
        <p:nvSpPr>
          <p:cNvPr id="28" name="TextBox 27">
            <a:extLst>
              <a:ext uri="{FF2B5EF4-FFF2-40B4-BE49-F238E27FC236}">
                <a16:creationId xmlns:a16="http://schemas.microsoft.com/office/drawing/2014/main" id="{77C2688A-F6AC-91DF-C4B1-6D4465AC3A2D}"/>
              </a:ext>
            </a:extLst>
          </p:cNvPr>
          <p:cNvSpPr txBox="1"/>
          <p:nvPr/>
        </p:nvSpPr>
        <p:spPr>
          <a:xfrm>
            <a:off x="3619498" y="3439342"/>
            <a:ext cx="7619213" cy="338554"/>
          </a:xfrm>
          <a:prstGeom prst="rect">
            <a:avLst/>
          </a:prstGeom>
          <a:noFill/>
        </p:spPr>
        <p:txBody>
          <a:bodyPr wrap="square" rtlCol="0">
            <a:spAutoFit/>
          </a:bodyPr>
          <a:lstStyle/>
          <a:p>
            <a:r>
              <a:rPr lang="en-US" sz="1600" dirty="0"/>
              <a:t>Students complete quizzes, review tasks and daily missions.</a:t>
            </a:r>
          </a:p>
        </p:txBody>
      </p:sp>
      <p:sp>
        <p:nvSpPr>
          <p:cNvPr id="29" name="TextBox 28">
            <a:extLst>
              <a:ext uri="{FF2B5EF4-FFF2-40B4-BE49-F238E27FC236}">
                <a16:creationId xmlns:a16="http://schemas.microsoft.com/office/drawing/2014/main" id="{17501CC5-A36F-CFA8-FD4B-A212277408F0}"/>
              </a:ext>
            </a:extLst>
          </p:cNvPr>
          <p:cNvSpPr txBox="1"/>
          <p:nvPr/>
        </p:nvSpPr>
        <p:spPr>
          <a:xfrm>
            <a:off x="3619498" y="4232231"/>
            <a:ext cx="8352443" cy="338554"/>
          </a:xfrm>
          <a:prstGeom prst="rect">
            <a:avLst/>
          </a:prstGeom>
          <a:noFill/>
        </p:spPr>
        <p:txBody>
          <a:bodyPr wrap="square" rtlCol="0">
            <a:spAutoFit/>
          </a:bodyPr>
          <a:lstStyle/>
          <a:p>
            <a:r>
              <a:rPr lang="en-US" sz="1600" dirty="0"/>
              <a:t>The application records XP, achievements, streaks and completed learning activities.</a:t>
            </a:r>
          </a:p>
        </p:txBody>
      </p:sp>
      <p:sp>
        <p:nvSpPr>
          <p:cNvPr id="30" name="Rectangle 29">
            <a:extLst>
              <a:ext uri="{FF2B5EF4-FFF2-40B4-BE49-F238E27FC236}">
                <a16:creationId xmlns:a16="http://schemas.microsoft.com/office/drawing/2014/main" id="{C5225656-C3BA-06E7-0477-20CC68E9F83A}"/>
              </a:ext>
            </a:extLst>
          </p:cNvPr>
          <p:cNvSpPr>
            <a:spLocks noGrp="1"/>
          </p:cNvSpPr>
          <p:nvPr/>
        </p:nvSpPr>
        <p:spPr>
          <a:xfrm>
            <a:off x="1079860" y="5143500"/>
            <a:ext cx="2381250" cy="381000"/>
          </a:xfrm>
          <a:prstGeom prst="rect">
            <a:avLst/>
          </a:prstGeom>
          <a:noFill/>
          <a:ln w="0">
            <a:noFill/>
            <a:prstDash val="solid"/>
          </a:ln>
        </p:spPr>
        <p:txBody>
          <a:bodyPr lIns="0" tIns="0" rIns="0" bIns="0" anchor="t">
            <a:normAutofit/>
          </a:bodyPr>
          <a:lstStyle/>
          <a:p>
            <a:pPr algn="ctr">
              <a:buNone/>
              <a:defRPr sz="1200" b="1">
                <a:solidFill>
                  <a:srgbClr val="0B1220"/>
                </a:solidFill>
                <a:latin typeface="Arial"/>
                <a:ea typeface="Arial"/>
                <a:cs typeface="Arial"/>
              </a:defRPr>
            </a:pPr>
            <a:r>
              <a:rPr lang="en-US" sz="1200" b="1" dirty="0"/>
              <a:t>Review</a:t>
            </a:r>
            <a:endParaRPr sz="1200" b="1" dirty="0">
              <a:solidFill>
                <a:srgbClr val="0B1220"/>
              </a:solidFill>
              <a:latin typeface="Arial"/>
              <a:ea typeface="Arial"/>
              <a:cs typeface="Arial"/>
            </a:endParaRPr>
          </a:p>
        </p:txBody>
      </p:sp>
      <p:sp>
        <p:nvSpPr>
          <p:cNvPr id="31" name="TextBox 30">
            <a:extLst>
              <a:ext uri="{FF2B5EF4-FFF2-40B4-BE49-F238E27FC236}">
                <a16:creationId xmlns:a16="http://schemas.microsoft.com/office/drawing/2014/main" id="{B2C39A32-7C33-BCF4-F1C8-AB0F1D56BCA9}"/>
              </a:ext>
            </a:extLst>
          </p:cNvPr>
          <p:cNvSpPr txBox="1"/>
          <p:nvPr/>
        </p:nvSpPr>
        <p:spPr>
          <a:xfrm>
            <a:off x="3619498" y="5086654"/>
            <a:ext cx="8352443" cy="338554"/>
          </a:xfrm>
          <a:prstGeom prst="rect">
            <a:avLst/>
          </a:prstGeom>
          <a:noFill/>
        </p:spPr>
        <p:txBody>
          <a:bodyPr wrap="square" rtlCol="0">
            <a:spAutoFit/>
          </a:bodyPr>
          <a:lstStyle/>
          <a:p>
            <a:r>
              <a:rPr lang="en-US" sz="1600" dirty="0"/>
              <a:t>Students return to previous topics and continue from their current position.</a:t>
            </a:r>
          </a:p>
        </p:txBody>
      </p:sp>
    </p:spTree>
    <p:extLst>
      <p:ext uri="{BB962C8B-B14F-4D97-AF65-F5344CB8AC3E}">
        <p14:creationId xmlns:p14="http://schemas.microsoft.com/office/powerpoint/2010/main" val="2081624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1A455444-BFA8-4937-95D1-220314BD5AD0}"/>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3D3609A3-F699-4A5B-808C-E1108B068D6E}"/>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08</a:t>
            </a:r>
          </a:p>
        </p:txBody>
      </p:sp>
      <p:sp>
        <p:nvSpPr>
          <p:cNvPr id="3" name="Rectangle 2">
            <a:extLst>
              <a:ext uri="{FF2B5EF4-FFF2-40B4-BE49-F238E27FC236}">
                <a16:creationId xmlns:a16="http://schemas.microsoft.com/office/drawing/2014/main" id="{7F64AD23-DAA6-43D3-A53C-67DACFEF91D6}"/>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500E5E43-3927-4D4D-B111-E51A392C7547}"/>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573DA24B-C544-46C3-8B4E-628D4FDE7937}"/>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r>
              <a:rPr lang="en-US" sz="2800" b="1" dirty="0"/>
              <a:t>User Needs Translated into Testable Requirements</a:t>
            </a:r>
          </a:p>
        </p:txBody>
      </p:sp>
      <p:sp>
        <p:nvSpPr>
          <p:cNvPr id="6" name="Rectangle 5">
            <a:extLst>
              <a:ext uri="{FF2B5EF4-FFF2-40B4-BE49-F238E27FC236}">
                <a16:creationId xmlns:a16="http://schemas.microsoft.com/office/drawing/2014/main" id="{A83729EA-0481-4D8A-A7C7-2F1DE8E695AB}"/>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r>
              <a:rPr lang="en-US" sz="1400" dirty="0"/>
              <a:t>Each user need should be linked to a system </a:t>
            </a:r>
            <a:r>
              <a:rPr lang="en-US" sz="1400" dirty="0" err="1"/>
              <a:t>behaviour</a:t>
            </a:r>
            <a:r>
              <a:rPr lang="en-US" sz="1400" dirty="0"/>
              <a:t> and an observable result.</a:t>
            </a:r>
          </a:p>
        </p:txBody>
      </p:sp>
      <p:graphicFrame>
        <p:nvGraphicFramePr>
          <p:cNvPr id="38" name="Table 37">
            <a:extLst>
              <a:ext uri="{FF2B5EF4-FFF2-40B4-BE49-F238E27FC236}">
                <a16:creationId xmlns:a16="http://schemas.microsoft.com/office/drawing/2014/main" id="{CBCBBEF5-A0A9-EBE4-3D7B-2AEC05FF91FF}"/>
              </a:ext>
            </a:extLst>
          </p:cNvPr>
          <p:cNvGraphicFramePr>
            <a:graphicFrameLocks noGrp="1"/>
          </p:cNvGraphicFramePr>
          <p:nvPr>
            <p:extLst>
              <p:ext uri="{D42A27DB-BD31-4B8C-83A1-F6EECF244321}">
                <p14:modId xmlns:p14="http://schemas.microsoft.com/office/powerpoint/2010/main" val="2357828458"/>
              </p:ext>
            </p:extLst>
          </p:nvPr>
        </p:nvGraphicFramePr>
        <p:xfrm>
          <a:off x="1855290" y="1763186"/>
          <a:ext cx="8481420" cy="4476216"/>
        </p:xfrm>
        <a:graphic>
          <a:graphicData uri="http://schemas.openxmlformats.org/drawingml/2006/table">
            <a:tbl>
              <a:tblPr>
                <a:tableStyleId>{3C2FFA5D-87B4-456A-9821-1D502468CF0F}</a:tableStyleId>
              </a:tblPr>
              <a:tblGrid>
                <a:gridCol w="2827140">
                  <a:extLst>
                    <a:ext uri="{9D8B030D-6E8A-4147-A177-3AD203B41FA5}">
                      <a16:colId xmlns:a16="http://schemas.microsoft.com/office/drawing/2014/main" val="3788880284"/>
                    </a:ext>
                  </a:extLst>
                </a:gridCol>
                <a:gridCol w="2827140">
                  <a:extLst>
                    <a:ext uri="{9D8B030D-6E8A-4147-A177-3AD203B41FA5}">
                      <a16:colId xmlns:a16="http://schemas.microsoft.com/office/drawing/2014/main" val="1865399036"/>
                    </a:ext>
                  </a:extLst>
                </a:gridCol>
                <a:gridCol w="2827140">
                  <a:extLst>
                    <a:ext uri="{9D8B030D-6E8A-4147-A177-3AD203B41FA5}">
                      <a16:colId xmlns:a16="http://schemas.microsoft.com/office/drawing/2014/main" val="807859722"/>
                    </a:ext>
                  </a:extLst>
                </a:gridCol>
              </a:tblGrid>
              <a:tr h="295006">
                <a:tc>
                  <a:txBody>
                    <a:bodyPr/>
                    <a:lstStyle/>
                    <a:p>
                      <a:pPr>
                        <a:buNone/>
                      </a:pPr>
                      <a:r>
                        <a:rPr lang="en-US" sz="1500" b="1" dirty="0"/>
                        <a:t>User need</a:t>
                      </a:r>
                    </a:p>
                  </a:txBody>
                  <a:tcPr marL="73751" marR="73751" marT="36876" marB="36876" anchor="ctr"/>
                </a:tc>
                <a:tc>
                  <a:txBody>
                    <a:bodyPr/>
                    <a:lstStyle/>
                    <a:p>
                      <a:pPr>
                        <a:buNone/>
                      </a:pPr>
                      <a:r>
                        <a:rPr lang="en-US" sz="1500" b="1"/>
                        <a:t>System requirement</a:t>
                      </a:r>
                    </a:p>
                  </a:txBody>
                  <a:tcPr marL="73751" marR="73751" marT="36876" marB="36876" anchor="ctr"/>
                </a:tc>
                <a:tc>
                  <a:txBody>
                    <a:bodyPr/>
                    <a:lstStyle/>
                    <a:p>
                      <a:pPr>
                        <a:buNone/>
                      </a:pPr>
                      <a:r>
                        <a:rPr lang="en-US" sz="1500" b="1" dirty="0"/>
                        <a:t>Observable result</a:t>
                      </a:r>
                    </a:p>
                  </a:txBody>
                  <a:tcPr marL="73751" marR="73751" marT="36876" marB="36876" anchor="ctr"/>
                </a:tc>
                <a:extLst>
                  <a:ext uri="{0D108BD9-81ED-4DB2-BD59-A6C34878D82A}">
                    <a16:rowId xmlns:a16="http://schemas.microsoft.com/office/drawing/2014/main" val="1613905140"/>
                  </a:ext>
                </a:extLst>
              </a:tr>
              <a:tr h="737515">
                <a:tc>
                  <a:txBody>
                    <a:bodyPr/>
                    <a:lstStyle/>
                    <a:p>
                      <a:pPr>
                        <a:buNone/>
                      </a:pPr>
                      <a:r>
                        <a:rPr lang="en-US" sz="1500"/>
                        <a:t>Access the application securely</a:t>
                      </a:r>
                    </a:p>
                  </a:txBody>
                  <a:tcPr marL="73751" marR="73751" marT="36876" marB="36876" anchor="ctr"/>
                </a:tc>
                <a:tc>
                  <a:txBody>
                    <a:bodyPr/>
                    <a:lstStyle/>
                    <a:p>
                      <a:pPr>
                        <a:buNone/>
                      </a:pPr>
                      <a:r>
                        <a:rPr lang="en-US" sz="1500"/>
                        <a:t>The system shall support registration and login using email and password</a:t>
                      </a:r>
                    </a:p>
                  </a:txBody>
                  <a:tcPr marL="73751" marR="73751" marT="36876" marB="36876" anchor="ctr"/>
                </a:tc>
                <a:tc>
                  <a:txBody>
                    <a:bodyPr/>
                    <a:lstStyle/>
                    <a:p>
                      <a:pPr>
                        <a:buNone/>
                      </a:pPr>
                      <a:r>
                        <a:rPr lang="en-US" sz="1500"/>
                        <a:t>A valid user can sign in and access a personal profile</a:t>
                      </a:r>
                    </a:p>
                  </a:txBody>
                  <a:tcPr marL="73751" marR="73751" marT="36876" marB="36876" anchor="ctr"/>
                </a:tc>
                <a:extLst>
                  <a:ext uri="{0D108BD9-81ED-4DB2-BD59-A6C34878D82A}">
                    <a16:rowId xmlns:a16="http://schemas.microsoft.com/office/drawing/2014/main" val="387350121"/>
                  </a:ext>
                </a:extLst>
              </a:tr>
              <a:tr h="516260">
                <a:tc>
                  <a:txBody>
                    <a:bodyPr/>
                    <a:lstStyle/>
                    <a:p>
                      <a:pPr>
                        <a:buNone/>
                      </a:pPr>
                      <a:r>
                        <a:rPr lang="en-US" sz="1500"/>
                        <a:t>Find a clear learning path</a:t>
                      </a:r>
                    </a:p>
                  </a:txBody>
                  <a:tcPr marL="73751" marR="73751" marT="36876" marB="36876" anchor="ctr"/>
                </a:tc>
                <a:tc>
                  <a:txBody>
                    <a:bodyPr/>
                    <a:lstStyle/>
                    <a:p>
                      <a:pPr>
                        <a:buNone/>
                      </a:pPr>
                      <a:r>
                        <a:rPr lang="en-US" sz="1500"/>
                        <a:t>The system shall display subjects, chapters and lesson progression</a:t>
                      </a:r>
                    </a:p>
                  </a:txBody>
                  <a:tcPr marL="73751" marR="73751" marT="36876" marB="36876" anchor="ctr"/>
                </a:tc>
                <a:tc>
                  <a:txBody>
                    <a:bodyPr/>
                    <a:lstStyle/>
                    <a:p>
                      <a:pPr>
                        <a:buNone/>
                      </a:pPr>
                      <a:r>
                        <a:rPr lang="en-US" sz="1500"/>
                        <a:t>The student can open an available chapter and continue learning</a:t>
                      </a:r>
                    </a:p>
                  </a:txBody>
                  <a:tcPr marL="73751" marR="73751" marT="36876" marB="36876" anchor="ctr"/>
                </a:tc>
                <a:extLst>
                  <a:ext uri="{0D108BD9-81ED-4DB2-BD59-A6C34878D82A}">
                    <a16:rowId xmlns:a16="http://schemas.microsoft.com/office/drawing/2014/main" val="436777934"/>
                  </a:ext>
                </a:extLst>
              </a:tr>
              <a:tr h="516260">
                <a:tc>
                  <a:txBody>
                    <a:bodyPr/>
                    <a:lstStyle/>
                    <a:p>
                      <a:pPr>
                        <a:buNone/>
                      </a:pPr>
                      <a:r>
                        <a:rPr lang="en-US" sz="1500"/>
                        <a:t>Receive immediate help</a:t>
                      </a:r>
                    </a:p>
                  </a:txBody>
                  <a:tcPr marL="73751" marR="73751" marT="36876" marB="36876" anchor="ctr"/>
                </a:tc>
                <a:tc>
                  <a:txBody>
                    <a:bodyPr/>
                    <a:lstStyle/>
                    <a:p>
                      <a:pPr>
                        <a:buNone/>
                      </a:pPr>
                      <a:r>
                        <a:rPr lang="en-US" sz="1500"/>
                        <a:t>The system shall provide an AI Tutor for academic questions</a:t>
                      </a:r>
                    </a:p>
                  </a:txBody>
                  <a:tcPr marL="73751" marR="73751" marT="36876" marB="36876" anchor="ctr"/>
                </a:tc>
                <a:tc>
                  <a:txBody>
                    <a:bodyPr/>
                    <a:lstStyle/>
                    <a:p>
                      <a:pPr>
                        <a:buNone/>
                      </a:pPr>
                      <a:r>
                        <a:rPr lang="en-US" sz="1500"/>
                        <a:t>A submitted question produces a visible AI response or error state</a:t>
                      </a:r>
                    </a:p>
                  </a:txBody>
                  <a:tcPr marL="73751" marR="73751" marT="36876" marB="36876" anchor="ctr"/>
                </a:tc>
                <a:extLst>
                  <a:ext uri="{0D108BD9-81ED-4DB2-BD59-A6C34878D82A}">
                    <a16:rowId xmlns:a16="http://schemas.microsoft.com/office/drawing/2014/main" val="3835449018"/>
                  </a:ext>
                </a:extLst>
              </a:tr>
              <a:tr h="516260">
                <a:tc>
                  <a:txBody>
                    <a:bodyPr/>
                    <a:lstStyle/>
                    <a:p>
                      <a:pPr>
                        <a:buNone/>
                      </a:pPr>
                      <a:r>
                        <a:rPr lang="en-US" sz="1500"/>
                        <a:t>Practise consistently</a:t>
                      </a:r>
                    </a:p>
                  </a:txBody>
                  <a:tcPr marL="73751" marR="73751" marT="36876" marB="36876" anchor="ctr"/>
                </a:tc>
                <a:tc>
                  <a:txBody>
                    <a:bodyPr/>
                    <a:lstStyle/>
                    <a:p>
                      <a:pPr>
                        <a:buNone/>
                      </a:pPr>
                      <a:r>
                        <a:rPr lang="en-US" sz="1500"/>
                        <a:t>The system shall provide lessons, missions or quizzes</a:t>
                      </a:r>
                    </a:p>
                  </a:txBody>
                  <a:tcPr marL="73751" marR="73751" marT="36876" marB="36876" anchor="ctr"/>
                </a:tc>
                <a:tc>
                  <a:txBody>
                    <a:bodyPr/>
                    <a:lstStyle/>
                    <a:p>
                      <a:pPr>
                        <a:buNone/>
                      </a:pPr>
                      <a:r>
                        <a:rPr lang="en-US" sz="1500"/>
                        <a:t>Completion updates mission or learning progress</a:t>
                      </a:r>
                    </a:p>
                  </a:txBody>
                  <a:tcPr marL="73751" marR="73751" marT="36876" marB="36876" anchor="ctr"/>
                </a:tc>
                <a:extLst>
                  <a:ext uri="{0D108BD9-81ED-4DB2-BD59-A6C34878D82A}">
                    <a16:rowId xmlns:a16="http://schemas.microsoft.com/office/drawing/2014/main" val="795912882"/>
                  </a:ext>
                </a:extLst>
              </a:tr>
              <a:tr h="516260">
                <a:tc>
                  <a:txBody>
                    <a:bodyPr/>
                    <a:lstStyle/>
                    <a:p>
                      <a:pPr>
                        <a:buNone/>
                      </a:pPr>
                      <a:r>
                        <a:rPr lang="en-US" sz="1500"/>
                        <a:t>Track achievement</a:t>
                      </a:r>
                    </a:p>
                  </a:txBody>
                  <a:tcPr marL="73751" marR="73751" marT="36876" marB="36876" anchor="ctr"/>
                </a:tc>
                <a:tc>
                  <a:txBody>
                    <a:bodyPr/>
                    <a:lstStyle/>
                    <a:p>
                      <a:pPr>
                        <a:buNone/>
                      </a:pPr>
                      <a:r>
                        <a:rPr lang="en-US" sz="1500"/>
                        <a:t>The system shall record XP, level, streak and achievements</a:t>
                      </a:r>
                    </a:p>
                  </a:txBody>
                  <a:tcPr marL="73751" marR="73751" marT="36876" marB="36876" anchor="ctr"/>
                </a:tc>
                <a:tc>
                  <a:txBody>
                    <a:bodyPr/>
                    <a:lstStyle/>
                    <a:p>
                      <a:pPr>
                        <a:buNone/>
                      </a:pPr>
                      <a:r>
                        <a:rPr lang="en-US" sz="1500"/>
                        <a:t>Updated values appear in the profile or progress interface</a:t>
                      </a:r>
                    </a:p>
                  </a:txBody>
                  <a:tcPr marL="73751" marR="73751" marT="36876" marB="36876" anchor="ctr"/>
                </a:tc>
                <a:extLst>
                  <a:ext uri="{0D108BD9-81ED-4DB2-BD59-A6C34878D82A}">
                    <a16:rowId xmlns:a16="http://schemas.microsoft.com/office/drawing/2014/main" val="1232267184"/>
                  </a:ext>
                </a:extLst>
              </a:tr>
              <a:tr h="516260">
                <a:tc>
                  <a:txBody>
                    <a:bodyPr/>
                    <a:lstStyle/>
                    <a:p>
                      <a:pPr>
                        <a:buNone/>
                      </a:pPr>
                      <a:r>
                        <a:rPr lang="en-US" sz="1500"/>
                        <a:t>Stay motivated</a:t>
                      </a:r>
                    </a:p>
                  </a:txBody>
                  <a:tcPr marL="73751" marR="73751" marT="36876" marB="36876" anchor="ctr"/>
                </a:tc>
                <a:tc>
                  <a:txBody>
                    <a:bodyPr/>
                    <a:lstStyle/>
                    <a:p>
                      <a:pPr>
                        <a:buNone/>
                      </a:pPr>
                      <a:r>
                        <a:rPr lang="en-US" sz="1500"/>
                        <a:t>The system shall provide daily missions and leaderboard features</a:t>
                      </a:r>
                    </a:p>
                  </a:txBody>
                  <a:tcPr marL="73751" marR="73751" marT="36876" marB="36876" anchor="ctr"/>
                </a:tc>
                <a:tc>
                  <a:txBody>
                    <a:bodyPr/>
                    <a:lstStyle/>
                    <a:p>
                      <a:pPr>
                        <a:buNone/>
                      </a:pPr>
                      <a:r>
                        <a:rPr lang="en-US" sz="1500"/>
                        <a:t>Students can view rewards, mission progress and ranking</a:t>
                      </a:r>
                    </a:p>
                  </a:txBody>
                  <a:tcPr marL="73751" marR="73751" marT="36876" marB="36876" anchor="ctr"/>
                </a:tc>
                <a:extLst>
                  <a:ext uri="{0D108BD9-81ED-4DB2-BD59-A6C34878D82A}">
                    <a16:rowId xmlns:a16="http://schemas.microsoft.com/office/drawing/2014/main" val="493858920"/>
                  </a:ext>
                </a:extLst>
              </a:tr>
              <a:tr h="737515">
                <a:tc>
                  <a:txBody>
                    <a:bodyPr/>
                    <a:lstStyle/>
                    <a:p>
                      <a:pPr>
                        <a:buNone/>
                      </a:pPr>
                      <a:r>
                        <a:rPr lang="en-US" sz="1500"/>
                        <a:t>Revisit learning content</a:t>
                      </a:r>
                    </a:p>
                  </a:txBody>
                  <a:tcPr marL="73751" marR="73751" marT="36876" marB="36876" anchor="ctr"/>
                </a:tc>
                <a:tc>
                  <a:txBody>
                    <a:bodyPr/>
                    <a:lstStyle/>
                    <a:p>
                      <a:pPr>
                        <a:buNone/>
                      </a:pPr>
                      <a:r>
                        <a:rPr lang="en-US" sz="1500"/>
                        <a:t>The system should store previous learning activity or saved content</a:t>
                      </a:r>
                    </a:p>
                  </a:txBody>
                  <a:tcPr marL="73751" marR="73751" marT="36876" marB="36876" anchor="ctr"/>
                </a:tc>
                <a:tc>
                  <a:txBody>
                    <a:bodyPr/>
                    <a:lstStyle/>
                    <a:p>
                      <a:pPr>
                        <a:buNone/>
                      </a:pPr>
                      <a:r>
                        <a:rPr lang="en-US" sz="1500" dirty="0"/>
                        <a:t>The student can return to previously accessed learning content</a:t>
                      </a:r>
                    </a:p>
                  </a:txBody>
                  <a:tcPr marL="73751" marR="73751" marT="36876" marB="36876" anchor="ctr"/>
                </a:tc>
                <a:extLst>
                  <a:ext uri="{0D108BD9-81ED-4DB2-BD59-A6C34878D82A}">
                    <a16:rowId xmlns:a16="http://schemas.microsoft.com/office/drawing/2014/main" val="3191614493"/>
                  </a:ext>
                </a:extLst>
              </a:tr>
            </a:tbl>
          </a:graphicData>
        </a:graphic>
      </p:graphicFrame>
    </p:spTree>
    <p:extLst>
      <p:ext uri="{BB962C8B-B14F-4D97-AF65-F5344CB8AC3E}">
        <p14:creationId xmlns:p14="http://schemas.microsoft.com/office/powerpoint/2010/main" val="2012415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DC7BFAC-51C3-4DE9-8F26-C48F6EAE2683}"/>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8840D305-6992-4BFB-A072-9ECFBA8651BD}"/>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09</a:t>
            </a:r>
          </a:p>
        </p:txBody>
      </p:sp>
      <p:sp>
        <p:nvSpPr>
          <p:cNvPr id="3" name="Rectangle 2">
            <a:extLst>
              <a:ext uri="{FF2B5EF4-FFF2-40B4-BE49-F238E27FC236}">
                <a16:creationId xmlns:a16="http://schemas.microsoft.com/office/drawing/2014/main" id="{4640E5AB-F351-4275-88FD-E2F3BBF34433}"/>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83A146D5-CD9D-4F5B-95A1-0E22236A6BF7}"/>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9ECE74A0-B452-4DA8-85F1-864AD0FB30A7}"/>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defRPr sz="2775" b="1">
                <a:solidFill>
                  <a:srgbClr val="0B1220"/>
                </a:solidFill>
                <a:latin typeface="Arial"/>
                <a:ea typeface="Arial"/>
                <a:cs typeface="Arial"/>
              </a:defRPr>
            </a:pPr>
            <a:r>
              <a:rPr lang="en-US" sz="2775" b="1" dirty="0"/>
              <a:t>Authentication Protects the Personal Learning Space</a:t>
            </a:r>
            <a:endParaRPr sz="2775" b="1" dirty="0">
              <a:solidFill>
                <a:srgbClr val="0B1220"/>
              </a:solidFill>
              <a:latin typeface="Arial"/>
              <a:ea typeface="Arial"/>
              <a:cs typeface="Arial"/>
            </a:endParaRPr>
          </a:p>
        </p:txBody>
      </p:sp>
      <p:sp>
        <p:nvSpPr>
          <p:cNvPr id="6" name="Rectangle 5">
            <a:extLst>
              <a:ext uri="{FF2B5EF4-FFF2-40B4-BE49-F238E27FC236}">
                <a16:creationId xmlns:a16="http://schemas.microsoft.com/office/drawing/2014/main" id="{6A1DB30C-4F4B-4866-AA98-05C222F61B34}"/>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defRPr sz="1350" b="0">
                <a:solidFill>
                  <a:srgbClr val="586879"/>
                </a:solidFill>
                <a:latin typeface="Arial"/>
                <a:ea typeface="Arial"/>
                <a:cs typeface="Arial"/>
              </a:defRPr>
            </a:pPr>
            <a:r>
              <a:rPr lang="en-US" sz="1350" dirty="0"/>
              <a:t>Secure access separates each student’s profile, progress and learning activity.</a:t>
            </a:r>
            <a:endParaRPr sz="1350" b="0" dirty="0">
              <a:solidFill>
                <a:srgbClr val="586879"/>
              </a:solidFill>
              <a:latin typeface="Arial"/>
              <a:ea typeface="Arial"/>
              <a:cs typeface="Arial"/>
            </a:endParaRPr>
          </a:p>
        </p:txBody>
      </p:sp>
      <p:sp>
        <p:nvSpPr>
          <p:cNvPr id="7" name="Rectangle 6">
            <a:extLst>
              <a:ext uri="{FF2B5EF4-FFF2-40B4-BE49-F238E27FC236}">
                <a16:creationId xmlns:a16="http://schemas.microsoft.com/office/drawing/2014/main" id="{619CC9EA-184A-4ED1-87E5-063E34E6E3C6}"/>
              </a:ext>
            </a:extLst>
          </p:cNvPr>
          <p:cNvSpPr>
            <a:spLocks noGrp="1"/>
          </p:cNvSpPr>
          <p:nvPr/>
        </p:nvSpPr>
        <p:spPr>
          <a:xfrm>
            <a:off x="609600" y="1924050"/>
            <a:ext cx="5257800" cy="38100"/>
          </a:xfrm>
          <a:prstGeom prst="rect">
            <a:avLst/>
          </a:prstGeom>
          <a:solidFill>
            <a:srgbClr val="3D8DFF"/>
          </a:solidFill>
          <a:ln w="0">
            <a:solidFill>
              <a:srgbClr val="3D8DFF"/>
            </a:solidFill>
            <a:prstDash val="solid"/>
          </a:ln>
        </p:spPr>
      </p:sp>
      <p:sp>
        <p:nvSpPr>
          <p:cNvPr id="8" name="Rectangle 7">
            <a:extLst>
              <a:ext uri="{FF2B5EF4-FFF2-40B4-BE49-F238E27FC236}">
                <a16:creationId xmlns:a16="http://schemas.microsoft.com/office/drawing/2014/main" id="{F68F0D5F-FC45-4810-B376-3DFED930FAF2}"/>
              </a:ext>
            </a:extLst>
          </p:cNvPr>
          <p:cNvSpPr>
            <a:spLocks noGrp="1"/>
          </p:cNvSpPr>
          <p:nvPr/>
        </p:nvSpPr>
        <p:spPr>
          <a:xfrm>
            <a:off x="6324600" y="1924050"/>
            <a:ext cx="5257800" cy="38100"/>
          </a:xfrm>
          <a:prstGeom prst="rect">
            <a:avLst/>
          </a:prstGeom>
          <a:solidFill>
            <a:srgbClr val="FF9B45"/>
          </a:solidFill>
          <a:ln w="0">
            <a:solidFill>
              <a:srgbClr val="FF9B45"/>
            </a:solidFill>
            <a:prstDash val="solid"/>
          </a:ln>
        </p:spPr>
      </p:sp>
      <p:sp>
        <p:nvSpPr>
          <p:cNvPr id="10" name="Rectangle 9">
            <a:extLst>
              <a:ext uri="{FF2B5EF4-FFF2-40B4-BE49-F238E27FC236}">
                <a16:creationId xmlns:a16="http://schemas.microsoft.com/office/drawing/2014/main" id="{3F036B7D-CB4A-4167-AD72-9DB3633CC322}"/>
              </a:ext>
            </a:extLst>
          </p:cNvPr>
          <p:cNvSpPr>
            <a:spLocks noGrp="1"/>
          </p:cNvSpPr>
          <p:nvPr/>
        </p:nvSpPr>
        <p:spPr>
          <a:xfrm>
            <a:off x="911650" y="2286000"/>
            <a:ext cx="5257800" cy="3172905"/>
          </a:xfrm>
          <a:prstGeom prst="rect">
            <a:avLst/>
          </a:prstGeom>
          <a:noFill/>
          <a:ln w="0">
            <a:noFill/>
            <a:prstDash val="solid"/>
          </a:ln>
        </p:spPr>
        <p:txBody>
          <a:bodyPr lIns="0" tIns="0" rIns="0" bIns="0" anchor="t">
            <a:normAutofit/>
          </a:bodyPr>
          <a:lstStyle/>
          <a:p>
            <a:r>
              <a:rPr lang="en-US" sz="1400" b="1" dirty="0"/>
              <a:t>Implemented in the current application</a:t>
            </a:r>
          </a:p>
          <a:p>
            <a:pPr marL="285750" indent="-285750">
              <a:buFont typeface="Arial" panose="020B0604020202020204" pitchFamily="34" charset="0"/>
              <a:buChar char="•"/>
            </a:pPr>
            <a:r>
              <a:rPr lang="en-US" sz="1400" dirty="0"/>
              <a:t>User registration with email and password </a:t>
            </a:r>
          </a:p>
          <a:p>
            <a:pPr marL="285750" indent="-285750">
              <a:buFont typeface="Arial" panose="020B0604020202020204" pitchFamily="34" charset="0"/>
              <a:buChar char="•"/>
            </a:pPr>
            <a:r>
              <a:rPr lang="en-US" sz="1400" dirty="0"/>
              <a:t>User login with validated credentials </a:t>
            </a:r>
          </a:p>
          <a:p>
            <a:pPr marL="285750" indent="-285750">
              <a:buFont typeface="Arial" panose="020B0604020202020204" pitchFamily="34" charset="0"/>
              <a:buChar char="•"/>
            </a:pPr>
            <a:r>
              <a:rPr lang="en-US" sz="1400" dirty="0"/>
              <a:t>Personal access to profile and progress information </a:t>
            </a:r>
          </a:p>
          <a:p>
            <a:pPr marL="285750" indent="-285750">
              <a:buFont typeface="Arial" panose="020B0604020202020204" pitchFamily="34" charset="0"/>
              <a:buChar char="•"/>
            </a:pPr>
            <a:r>
              <a:rPr lang="en-US" sz="1400" dirty="0"/>
              <a:t>Authenticated navigation to learning features </a:t>
            </a:r>
          </a:p>
          <a:p>
            <a:pPr marL="285750" indent="-285750">
              <a:buFont typeface="Arial" panose="020B0604020202020204" pitchFamily="34" charset="0"/>
              <a:buChar char="•"/>
            </a:pPr>
            <a:r>
              <a:rPr lang="en-US" sz="1400" dirty="0"/>
              <a:t>Logout from the personal account </a:t>
            </a:r>
          </a:p>
          <a:p>
            <a:endParaRPr lang="en-US" sz="1400" dirty="0"/>
          </a:p>
          <a:p>
            <a:r>
              <a:rPr lang="en-US" sz="1400" b="1" dirty="0"/>
              <a:t>Required or planned security enhancements</a:t>
            </a:r>
          </a:p>
          <a:p>
            <a:pPr marL="285750" indent="-285750">
              <a:buFont typeface="Arial" panose="020B0604020202020204" pitchFamily="34" charset="0"/>
              <a:buChar char="•"/>
            </a:pPr>
            <a:r>
              <a:rPr lang="en-US" sz="1400" dirty="0"/>
              <a:t>Stronger password validation </a:t>
            </a:r>
          </a:p>
          <a:p>
            <a:pPr marL="285750" indent="-285750">
              <a:buFont typeface="Arial" panose="020B0604020202020204" pitchFamily="34" charset="0"/>
              <a:buChar char="•"/>
            </a:pPr>
            <a:r>
              <a:rPr lang="en-US" sz="1400" dirty="0"/>
              <a:t>Password recovery </a:t>
            </a:r>
          </a:p>
          <a:p>
            <a:pPr marL="285750" indent="-285750">
              <a:buFont typeface="Arial" panose="020B0604020202020204" pitchFamily="34" charset="0"/>
              <a:buChar char="•"/>
            </a:pPr>
            <a:r>
              <a:rPr lang="en-US" sz="1400" dirty="0"/>
              <a:t>Optional two-factor authentication </a:t>
            </a:r>
          </a:p>
          <a:p>
            <a:pPr marL="285750" indent="-285750">
              <a:buFont typeface="Arial" panose="020B0604020202020204" pitchFamily="34" charset="0"/>
              <a:buChar char="•"/>
            </a:pPr>
            <a:r>
              <a:rPr lang="en-US" sz="1400" dirty="0"/>
              <a:t>First-use education-level and subject preferences </a:t>
            </a:r>
          </a:p>
          <a:p>
            <a:pPr marL="285750" indent="-285750">
              <a:buFont typeface="Arial" panose="020B0604020202020204" pitchFamily="34" charset="0"/>
              <a:buChar char="•"/>
            </a:pPr>
            <a:r>
              <a:rPr lang="en-US" sz="1400" dirty="0"/>
              <a:t>Preferred explanation-style settings</a:t>
            </a:r>
          </a:p>
          <a:p>
            <a:pPr algn="l">
              <a:buNone/>
              <a:defRPr sz="1350" b="0">
                <a:solidFill>
                  <a:srgbClr val="0B1220"/>
                </a:solidFill>
                <a:latin typeface="Arial"/>
                <a:ea typeface="Arial"/>
                <a:cs typeface="Arial"/>
              </a:defRPr>
            </a:pPr>
            <a:endParaRPr sz="1350" b="0" dirty="0">
              <a:solidFill>
                <a:srgbClr val="0B1220"/>
              </a:solidFill>
              <a:latin typeface="Arial"/>
              <a:ea typeface="Arial"/>
              <a:cs typeface="Arial"/>
            </a:endParaRPr>
          </a:p>
        </p:txBody>
      </p:sp>
      <mc:AlternateContent xmlns:mc="http://schemas.openxmlformats.org/markup-compatibility/2006">
        <mc:Choice xmlns:a14="http://schemas.microsoft.com/office/drawing/2010/main" Requires="a14">
          <p:sp>
            <p:nvSpPr>
              <p:cNvPr id="12" name="Rectangle 11">
                <a:extLst>
                  <a:ext uri="{FF2B5EF4-FFF2-40B4-BE49-F238E27FC236}">
                    <a16:creationId xmlns:a16="http://schemas.microsoft.com/office/drawing/2014/main" id="{905CA333-8CCF-4641-9788-7CD549451792}"/>
                  </a:ext>
                </a:extLst>
              </p:cNvPr>
              <p:cNvSpPr>
                <a:spLocks noGrp="1"/>
              </p:cNvSpPr>
              <p:nvPr/>
            </p:nvSpPr>
            <p:spPr>
              <a:xfrm>
                <a:off x="6324600" y="2286000"/>
                <a:ext cx="5257800" cy="2791904"/>
              </a:xfrm>
              <a:prstGeom prst="rect">
                <a:avLst/>
              </a:prstGeom>
              <a:noFill/>
              <a:ln w="0">
                <a:noFill/>
                <a:prstDash val="solid"/>
              </a:ln>
            </p:spPr>
            <p:txBody>
              <a:bodyPr lIns="0" tIns="0" rIns="0" bIns="0" anchor="t">
                <a:normAutofit/>
              </a:bodyPr>
              <a:lstStyle/>
              <a:p>
                <a:r>
                  <a:rPr lang="en-US" sz="1400" b="1" dirty="0"/>
                  <a:t>Authentication flow</a:t>
                </a:r>
              </a:p>
              <a:p>
                <a14:m>
                  <m:oMathPara xmlns:m="http://schemas.openxmlformats.org/officeDocument/2006/math">
                    <m:oMathParaPr>
                      <m:jc m:val="centerGroup"/>
                    </m:oMathParaPr>
                    <m:oMath xmlns:m="http://schemas.openxmlformats.org/officeDocument/2006/math">
                      <m:r>
                        <a:rPr lang="en-US" sz="1400" i="1" dirty="0" smtClean="0">
                          <a:latin typeface="Cambria Math" panose="02040503050406030204" pitchFamily="18" charset="0"/>
                        </a:rPr>
                        <m:t>𝑅𝑒𝑔𝑖𝑠𝑡𝑒𝑟</m:t>
                      </m:r>
                      <m:r>
                        <a:rPr lang="en-US" sz="1400" i="1" dirty="0" smtClean="0">
                          <a:latin typeface="Cambria Math" panose="02040503050406030204" pitchFamily="18" charset="0"/>
                        </a:rPr>
                        <m:t> → </m:t>
                      </m:r>
                      <m:r>
                        <a:rPr lang="en-US" sz="1400" i="1" dirty="0" smtClean="0">
                          <a:latin typeface="Cambria Math" panose="02040503050406030204" pitchFamily="18" charset="0"/>
                        </a:rPr>
                        <m:t>𝑆𝑖𝑔𝑛</m:t>
                      </m:r>
                      <m:r>
                        <a:rPr lang="en-US" sz="1400" i="1" dirty="0" smtClean="0">
                          <a:latin typeface="Cambria Math" panose="02040503050406030204" pitchFamily="18" charset="0"/>
                        </a:rPr>
                        <m:t> </m:t>
                      </m:r>
                      <m:r>
                        <a:rPr lang="en-US" sz="1400" i="1" dirty="0" smtClean="0">
                          <a:latin typeface="Cambria Math" panose="02040503050406030204" pitchFamily="18" charset="0"/>
                        </a:rPr>
                        <m:t>𝑖𝑛</m:t>
                      </m:r>
                      <m:r>
                        <a:rPr lang="en-US" sz="1400" i="1" dirty="0" smtClean="0">
                          <a:latin typeface="Cambria Math" panose="02040503050406030204" pitchFamily="18" charset="0"/>
                        </a:rPr>
                        <m:t> → </m:t>
                      </m:r>
                      <m:r>
                        <a:rPr lang="en-US" sz="1400" i="1" dirty="0" smtClean="0">
                          <a:latin typeface="Cambria Math" panose="02040503050406030204" pitchFamily="18" charset="0"/>
                        </a:rPr>
                        <m:t>𝐴𝑐𝑐𝑒𝑠𝑠</m:t>
                      </m:r>
                      <m:r>
                        <a:rPr lang="en-US" sz="1400" i="1" dirty="0" smtClean="0">
                          <a:latin typeface="Cambria Math" panose="02040503050406030204" pitchFamily="18" charset="0"/>
                        </a:rPr>
                        <m:t> </m:t>
                      </m:r>
                      <m:r>
                        <a:rPr lang="en-US" sz="1400" i="1" dirty="0" smtClean="0">
                          <a:latin typeface="Cambria Math" panose="02040503050406030204" pitchFamily="18" charset="0"/>
                        </a:rPr>
                        <m:t>𝑙𝑒𝑎𝑟𝑛𝑖𝑛𝑔</m:t>
                      </m:r>
                      <m:r>
                        <a:rPr lang="en-US" sz="1400" i="1" dirty="0" smtClean="0">
                          <a:latin typeface="Cambria Math" panose="02040503050406030204" pitchFamily="18" charset="0"/>
                        </a:rPr>
                        <m:t> </m:t>
                      </m:r>
                      <m:r>
                        <a:rPr lang="en-US" sz="1400" i="1" dirty="0" smtClean="0">
                          <a:latin typeface="Cambria Math" panose="02040503050406030204" pitchFamily="18" charset="0"/>
                        </a:rPr>
                        <m:t>𝑗𝑜𝑢𝑟𝑛𝑒𝑦</m:t>
                      </m:r>
                      <m:r>
                        <a:rPr lang="en-US" sz="1400" i="1" dirty="0" smtClean="0">
                          <a:latin typeface="Cambria Math" panose="02040503050406030204" pitchFamily="18" charset="0"/>
                        </a:rPr>
                        <m:t> → </m:t>
                      </m:r>
                      <m:r>
                        <a:rPr lang="en-US" sz="1400" i="1" dirty="0" smtClean="0">
                          <a:latin typeface="Cambria Math" panose="02040503050406030204" pitchFamily="18" charset="0"/>
                        </a:rPr>
                        <m:t>𝑆𝑎𝑣𝑒</m:t>
                      </m:r>
                      <m:r>
                        <a:rPr lang="en-US" sz="1400" i="1" dirty="0" smtClean="0">
                          <a:latin typeface="Cambria Math" panose="02040503050406030204" pitchFamily="18" charset="0"/>
                        </a:rPr>
                        <m:t> </m:t>
                      </m:r>
                      <m:r>
                        <a:rPr lang="en-US" sz="1400" i="1" dirty="0" smtClean="0">
                          <a:latin typeface="Cambria Math" panose="02040503050406030204" pitchFamily="18" charset="0"/>
                        </a:rPr>
                        <m:t>𝑝𝑒𝑟𝑠𝑜𝑛𝑎𝑙</m:t>
                      </m:r>
                      <m:r>
                        <a:rPr lang="en-US" sz="1400" i="1" dirty="0" smtClean="0">
                          <a:latin typeface="Cambria Math" panose="02040503050406030204" pitchFamily="18" charset="0"/>
                        </a:rPr>
                        <m:t> </m:t>
                      </m:r>
                      <m:r>
                        <a:rPr lang="en-US" sz="1400" i="1" dirty="0" smtClean="0">
                          <a:latin typeface="Cambria Math" panose="02040503050406030204" pitchFamily="18" charset="0"/>
                        </a:rPr>
                        <m:t>𝑝𝑟𝑜𝑔𝑟𝑒𝑠𝑠</m:t>
                      </m:r>
                    </m:oMath>
                  </m:oMathPara>
                </a14:m>
                <a:endParaRPr lang="en-US" sz="1400" dirty="0"/>
              </a:p>
              <a:p>
                <a:endParaRPr lang="en-US" sz="1400" dirty="0"/>
              </a:p>
              <a:p>
                <a:r>
                  <a:rPr lang="en-US" sz="1400" b="1" dirty="0"/>
                  <a:t>Why it matters</a:t>
                </a:r>
              </a:p>
              <a:p>
                <a:pPr marL="285750" indent="-285750">
                  <a:buFont typeface="Arial" panose="020B0604020202020204" pitchFamily="34" charset="0"/>
                  <a:buChar char="•"/>
                </a:pPr>
                <a:r>
                  <a:rPr lang="en-US" sz="1400" dirty="0"/>
                  <a:t>Keeps each student’s data separate </a:t>
                </a:r>
              </a:p>
              <a:p>
                <a:pPr marL="285750" indent="-285750">
                  <a:buFont typeface="Arial" panose="020B0604020202020204" pitchFamily="34" charset="0"/>
                  <a:buChar char="•"/>
                </a:pPr>
                <a:r>
                  <a:rPr lang="en-US" sz="1400" dirty="0"/>
                  <a:t>Protects profile and progress information </a:t>
                </a:r>
              </a:p>
              <a:p>
                <a:pPr marL="285750" indent="-285750">
                  <a:buFont typeface="Arial" panose="020B0604020202020204" pitchFamily="34" charset="0"/>
                  <a:buChar char="•"/>
                </a:pPr>
                <a:r>
                  <a:rPr lang="en-US" sz="1400" dirty="0"/>
                  <a:t>Supports </a:t>
                </a:r>
                <a:r>
                  <a:rPr lang="en-US" sz="1400" dirty="0" err="1"/>
                  <a:t>personalised</a:t>
                </a:r>
                <a:r>
                  <a:rPr lang="en-US" sz="1400" dirty="0"/>
                  <a:t> learning </a:t>
                </a:r>
              </a:p>
              <a:p>
                <a:pPr marL="285750" indent="-285750">
                  <a:buFont typeface="Arial" panose="020B0604020202020204" pitchFamily="34" charset="0"/>
                  <a:buChar char="•"/>
                </a:pPr>
                <a:r>
                  <a:rPr lang="en-US" sz="1400" dirty="0"/>
                  <a:t>Reduces </a:t>
                </a:r>
                <a:r>
                  <a:rPr lang="en-US" sz="1400" dirty="0" err="1"/>
                  <a:t>unauthorised</a:t>
                </a:r>
                <a:r>
                  <a:rPr lang="en-US" sz="1400" dirty="0"/>
                  <a:t> access</a:t>
                </a:r>
              </a:p>
              <a:p>
                <a:pPr algn="l">
                  <a:buNone/>
                  <a:defRPr sz="1350" b="0">
                    <a:solidFill>
                      <a:srgbClr val="0B1220"/>
                    </a:solidFill>
                    <a:latin typeface="Arial"/>
                    <a:ea typeface="Arial"/>
                    <a:cs typeface="Arial"/>
                  </a:defRPr>
                </a:pPr>
                <a:endParaRPr sz="1350" b="0" dirty="0">
                  <a:solidFill>
                    <a:srgbClr val="0B1220"/>
                  </a:solidFill>
                  <a:latin typeface="Arial"/>
                  <a:ea typeface="Arial"/>
                  <a:cs typeface="Arial"/>
                </a:endParaRPr>
              </a:p>
            </p:txBody>
          </p:sp>
        </mc:Choice>
        <mc:Fallback>
          <p:sp>
            <p:nvSpPr>
              <p:cNvPr id="12" name="Rectangle 11">
                <a:extLst>
                  <a:ext uri="{FF2B5EF4-FFF2-40B4-BE49-F238E27FC236}">
                    <a16:creationId xmlns:a16="http://schemas.microsoft.com/office/drawing/2014/main" id="{905CA333-8CCF-4641-9788-7CD549451792}"/>
                  </a:ext>
                </a:extLst>
              </p:cNvPr>
              <p:cNvSpPr>
                <a:spLocks noGrp="1" noRot="1" noChangeAspect="1" noMove="1" noResize="1" noEditPoints="1" noAdjustHandles="1" noChangeArrowheads="1" noChangeShapeType="1" noTextEdit="1"/>
              </p:cNvSpPr>
              <p:nvPr/>
            </p:nvSpPr>
            <p:spPr>
              <a:xfrm>
                <a:off x="6324600" y="2286000"/>
                <a:ext cx="5257800" cy="2791904"/>
              </a:xfrm>
              <a:prstGeom prst="rect">
                <a:avLst/>
              </a:prstGeom>
              <a:blipFill>
                <a:blip r:embed="rId3"/>
                <a:stretch>
                  <a:fillRect l="-2088" t="-1965"/>
                </a:stretch>
              </a:blipFill>
              <a:ln w="0">
                <a:noFill/>
                <a:prstDash val="solid"/>
              </a:ln>
            </p:spPr>
            <p:txBody>
              <a:bodyPr/>
              <a:lstStyle/>
              <a:p>
                <a:r>
                  <a:rPr lang="en-US">
                    <a:noFill/>
                  </a:rPr>
                  <a:t> </a:t>
                </a:r>
              </a:p>
            </p:txBody>
          </p:sp>
        </mc:Fallback>
      </mc:AlternateContent>
    </p:spTree>
    <p:extLst>
      <p:ext uri="{BB962C8B-B14F-4D97-AF65-F5344CB8AC3E}">
        <p14:creationId xmlns:p14="http://schemas.microsoft.com/office/powerpoint/2010/main" val="92030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9F865BD-DB72-4F2B-8B46-675D677F92BE}"/>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F98627D6-BC1C-4458-81A6-CD6DB21FAA48}"/>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10</a:t>
            </a:r>
          </a:p>
        </p:txBody>
      </p:sp>
      <p:sp>
        <p:nvSpPr>
          <p:cNvPr id="3" name="Rectangle 2">
            <a:extLst>
              <a:ext uri="{FF2B5EF4-FFF2-40B4-BE49-F238E27FC236}">
                <a16:creationId xmlns:a16="http://schemas.microsoft.com/office/drawing/2014/main" id="{5EA2673A-4542-4E4D-9F6C-D9A4C5595FA0}"/>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EEB6EB91-9869-42E9-964D-BDAB14BAD9EF}"/>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DE7E81C9-9BC3-4C79-A42A-E4B8BFFB420F}"/>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defRPr sz="2775" b="1">
                <a:solidFill>
                  <a:srgbClr val="0B1220"/>
                </a:solidFill>
                <a:latin typeface="Arial"/>
                <a:ea typeface="Arial"/>
                <a:cs typeface="Arial"/>
              </a:defRPr>
            </a:pPr>
            <a:r>
              <a:rPr lang="en-US" sz="2775" b="1" dirty="0"/>
              <a:t>Question Submission Should Be Fast and Flexible</a:t>
            </a:r>
            <a:endParaRPr sz="2775" b="1" dirty="0">
              <a:solidFill>
                <a:srgbClr val="0B1220"/>
              </a:solidFill>
              <a:latin typeface="Arial"/>
              <a:ea typeface="Arial"/>
              <a:cs typeface="Arial"/>
            </a:endParaRPr>
          </a:p>
        </p:txBody>
      </p:sp>
      <p:sp>
        <p:nvSpPr>
          <p:cNvPr id="6" name="Rectangle 5">
            <a:extLst>
              <a:ext uri="{FF2B5EF4-FFF2-40B4-BE49-F238E27FC236}">
                <a16:creationId xmlns:a16="http://schemas.microsoft.com/office/drawing/2014/main" id="{DD12E423-0BB2-4FED-A1C2-D26E8C47DF16}"/>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r>
              <a:rPr lang="en-US" sz="1400" dirty="0"/>
              <a:t>Students should be able to ask for help with minimal steps and clear system feedback.</a:t>
            </a:r>
          </a:p>
        </p:txBody>
      </p:sp>
      <mc:AlternateContent xmlns:mc="http://schemas.openxmlformats.org/markup-compatibility/2006">
        <mc:Choice xmlns:a14="http://schemas.microsoft.com/office/drawing/2010/main" Requires="a14">
          <p:sp>
            <p:nvSpPr>
              <p:cNvPr id="25" name="Rectangle 24">
                <a:extLst>
                  <a:ext uri="{FF2B5EF4-FFF2-40B4-BE49-F238E27FC236}">
                    <a16:creationId xmlns:a16="http://schemas.microsoft.com/office/drawing/2014/main" id="{A106C32F-4B88-460A-87CB-67AE45D87DA3}"/>
                  </a:ext>
                </a:extLst>
              </p:cNvPr>
              <p:cNvSpPr>
                <a:spLocks noGrp="1"/>
              </p:cNvSpPr>
              <p:nvPr/>
            </p:nvSpPr>
            <p:spPr>
              <a:xfrm>
                <a:off x="5034306" y="2064568"/>
                <a:ext cx="5786094" cy="3563234"/>
              </a:xfrm>
              <a:prstGeom prst="rect">
                <a:avLst/>
              </a:prstGeom>
              <a:noFill/>
              <a:ln w="0">
                <a:noFill/>
                <a:prstDash val="solid"/>
              </a:ln>
            </p:spPr>
            <p:txBody>
              <a:bodyPr lIns="0" tIns="0" rIns="0" bIns="0" anchor="t">
                <a:normAutofit/>
              </a:bodyPr>
              <a:lstStyle/>
              <a:p>
                <a:r>
                  <a:rPr lang="en-US" sz="1400" b="1" dirty="0"/>
                  <a:t>Current implementation</a:t>
                </a:r>
              </a:p>
              <a:p>
                <a:pPr marL="285750" indent="-285750">
                  <a:buFont typeface="Arial" panose="020B0604020202020204" pitchFamily="34" charset="0"/>
                  <a:buChar char="•"/>
                </a:pPr>
                <a:r>
                  <a:rPr lang="en-US" sz="1400" dirty="0"/>
                  <a:t>Students can open the AI Tutor. </a:t>
                </a:r>
              </a:p>
              <a:p>
                <a:pPr marL="285750" indent="-285750">
                  <a:buFont typeface="Arial" panose="020B0604020202020204" pitchFamily="34" charset="0"/>
                  <a:buChar char="•"/>
                </a:pPr>
                <a:r>
                  <a:rPr lang="en-US" sz="1400" dirty="0"/>
                  <a:t>Students can type an academic question. </a:t>
                </a:r>
              </a:p>
              <a:p>
                <a:pPr marL="285750" indent="-285750">
                  <a:buFont typeface="Arial" panose="020B0604020202020204" pitchFamily="34" charset="0"/>
                  <a:buChar char="•"/>
                </a:pPr>
                <a:r>
                  <a:rPr lang="en-US" sz="1400" dirty="0"/>
                  <a:t>The interface provides a clear send action. </a:t>
                </a:r>
              </a:p>
              <a:p>
                <a:pPr marL="285750" indent="-285750">
                  <a:buFont typeface="Arial" panose="020B0604020202020204" pitchFamily="34" charset="0"/>
                  <a:buChar char="•"/>
                </a:pPr>
                <a:r>
                  <a:rPr lang="en-US" sz="1400" dirty="0"/>
                  <a:t>The tutor is connected to the wider learning experience. </a:t>
                </a:r>
              </a:p>
              <a:p>
                <a:endParaRPr lang="en-US" sz="1400" b="1" dirty="0"/>
              </a:p>
              <a:p>
                <a:r>
                  <a:rPr lang="en-US" sz="1400" b="1" dirty="0"/>
                  <a:t>Required by the assignment brief</a:t>
                </a:r>
              </a:p>
              <a:p>
                <a:pPr marL="285750" indent="-285750">
                  <a:buFont typeface="Arial" panose="020B0604020202020204" pitchFamily="34" charset="0"/>
                  <a:buChar char="•"/>
                </a:pPr>
                <a:r>
                  <a:rPr lang="en-US" sz="1400" dirty="0"/>
                  <a:t>Text-based question submission </a:t>
                </a:r>
              </a:p>
              <a:p>
                <a:pPr marL="285750" indent="-285750">
                  <a:buFont typeface="Arial" panose="020B0604020202020204" pitchFamily="34" charset="0"/>
                  <a:buChar char="•"/>
                </a:pPr>
                <a:r>
                  <a:rPr lang="en-US" sz="1400" dirty="0"/>
                  <a:t>Image upload for homework, equations and diagrams </a:t>
                </a:r>
              </a:p>
              <a:p>
                <a:pPr marL="285750" indent="-285750">
                  <a:buFont typeface="Arial" panose="020B0604020202020204" pitchFamily="34" charset="0"/>
                  <a:buChar char="•"/>
                </a:pPr>
                <a:r>
                  <a:rPr lang="en-US" sz="1400" dirty="0"/>
                  <a:t>Support for multiple subjects </a:t>
                </a:r>
              </a:p>
              <a:p>
                <a:pPr marL="285750" indent="-285750">
                  <a:buFont typeface="Arial" panose="020B0604020202020204" pitchFamily="34" charset="0"/>
                  <a:buChar char="•"/>
                </a:pPr>
                <a:r>
                  <a:rPr lang="en-US" sz="1400" dirty="0"/>
                  <a:t>Subject and difficulty identification </a:t>
                </a:r>
              </a:p>
              <a:p>
                <a:pPr marL="285750" indent="-285750">
                  <a:buFont typeface="Arial" panose="020B0604020202020204" pitchFamily="34" charset="0"/>
                  <a:buChar char="•"/>
                </a:pPr>
                <a:r>
                  <a:rPr lang="en-US" sz="1400" dirty="0"/>
                  <a:t>Clear loading, success and error states </a:t>
                </a:r>
              </a:p>
              <a:p>
                <a:endParaRPr lang="en-US" sz="1400" b="1" dirty="0"/>
              </a:p>
              <a:p>
                <a:r>
                  <a:rPr lang="en-US" sz="1400" b="1" dirty="0"/>
                  <a:t>Suggested interaction flow</a:t>
                </a:r>
              </a:p>
              <a:p>
                <a14:m>
                  <m:oMathPara xmlns:m="http://schemas.openxmlformats.org/officeDocument/2006/math">
                    <m:oMathParaPr>
                      <m:jc m:val="centerGroup"/>
                    </m:oMathParaPr>
                    <m:oMath xmlns:m="http://schemas.openxmlformats.org/officeDocument/2006/math">
                      <m:r>
                        <a:rPr lang="en-US" sz="1400" i="1" dirty="0" smtClean="0">
                          <a:latin typeface="Cambria Math" panose="02040503050406030204" pitchFamily="18" charset="0"/>
                        </a:rPr>
                        <m:t>𝑂𝑝𝑒𝑛</m:t>
                      </m:r>
                      <m:r>
                        <a:rPr lang="en-US" sz="1400" i="1" dirty="0" smtClean="0">
                          <a:latin typeface="Cambria Math" panose="02040503050406030204" pitchFamily="18" charset="0"/>
                        </a:rPr>
                        <m:t> </m:t>
                      </m:r>
                      <m:r>
                        <a:rPr lang="en-US" sz="1400" i="1" dirty="0" smtClean="0">
                          <a:latin typeface="Cambria Math" panose="02040503050406030204" pitchFamily="18" charset="0"/>
                        </a:rPr>
                        <m:t>𝐴𝐼</m:t>
                      </m:r>
                      <m:r>
                        <a:rPr lang="en-US" sz="1400" i="1" dirty="0" smtClean="0">
                          <a:latin typeface="Cambria Math" panose="02040503050406030204" pitchFamily="18" charset="0"/>
                        </a:rPr>
                        <m:t> </m:t>
                      </m:r>
                      <m:r>
                        <a:rPr lang="en-US" sz="1400" i="1" dirty="0" smtClean="0">
                          <a:latin typeface="Cambria Math" panose="02040503050406030204" pitchFamily="18" charset="0"/>
                        </a:rPr>
                        <m:t>𝑇𝑢𝑡𝑜𝑟</m:t>
                      </m:r>
                      <m:r>
                        <a:rPr lang="en-US" sz="1400" i="1" dirty="0" smtClean="0">
                          <a:latin typeface="Cambria Math" panose="02040503050406030204" pitchFamily="18" charset="0"/>
                        </a:rPr>
                        <m:t> → </m:t>
                      </m:r>
                      <m:r>
                        <a:rPr lang="en-US" sz="1400" i="1" dirty="0" smtClean="0">
                          <a:latin typeface="Cambria Math" panose="02040503050406030204" pitchFamily="18" charset="0"/>
                        </a:rPr>
                        <m:t>𝐸𝑛𝑡𝑒𝑟</m:t>
                      </m:r>
                      <m:r>
                        <a:rPr lang="en-US" sz="1400" i="1" dirty="0" smtClean="0">
                          <a:latin typeface="Cambria Math" panose="02040503050406030204" pitchFamily="18" charset="0"/>
                        </a:rPr>
                        <m:t> </m:t>
                      </m:r>
                      <m:r>
                        <a:rPr lang="en-US" sz="1400" i="1" dirty="0" smtClean="0">
                          <a:latin typeface="Cambria Math" panose="02040503050406030204" pitchFamily="18" charset="0"/>
                        </a:rPr>
                        <m:t>𝑞𝑢𝑒𝑠𝑡𝑖𝑜𝑛</m:t>
                      </m:r>
                      <m:r>
                        <a:rPr lang="en-US" sz="1400" i="1" dirty="0" smtClean="0">
                          <a:latin typeface="Cambria Math" panose="02040503050406030204" pitchFamily="18" charset="0"/>
                        </a:rPr>
                        <m:t> → </m:t>
                      </m:r>
                      <m:r>
                        <a:rPr lang="en-US" sz="1400" i="1" dirty="0" smtClean="0">
                          <a:latin typeface="Cambria Math" panose="02040503050406030204" pitchFamily="18" charset="0"/>
                        </a:rPr>
                        <m:t>𝐴𝑑𝑑</m:t>
                      </m:r>
                      <m:r>
                        <a:rPr lang="en-US" sz="1400" i="1" dirty="0" smtClean="0">
                          <a:latin typeface="Cambria Math" panose="02040503050406030204" pitchFamily="18" charset="0"/>
                        </a:rPr>
                        <m:t> </m:t>
                      </m:r>
                      <m:r>
                        <a:rPr lang="en-US" sz="1400" i="1" dirty="0" smtClean="0">
                          <a:latin typeface="Cambria Math" panose="02040503050406030204" pitchFamily="18" charset="0"/>
                        </a:rPr>
                        <m:t>𝑠𝑢𝑏𝑗𝑒𝑐𝑡</m:t>
                      </m:r>
                      <m:r>
                        <a:rPr lang="en-US" sz="1400" i="1" dirty="0" smtClean="0">
                          <a:latin typeface="Cambria Math" panose="02040503050406030204" pitchFamily="18" charset="0"/>
                        </a:rPr>
                        <m:t> </m:t>
                      </m:r>
                      <m:r>
                        <a:rPr lang="en-US" sz="1400" i="1" dirty="0" smtClean="0">
                          <a:latin typeface="Cambria Math" panose="02040503050406030204" pitchFamily="18" charset="0"/>
                        </a:rPr>
                        <m:t>𝑐𝑜𝑛𝑡𝑒𝑥𝑡</m:t>
                      </m:r>
                      <m:r>
                        <a:rPr lang="en-US" sz="1400" i="1" dirty="0" smtClean="0">
                          <a:latin typeface="Cambria Math" panose="02040503050406030204" pitchFamily="18" charset="0"/>
                        </a:rPr>
                        <m:t> → </m:t>
                      </m:r>
                      <m:r>
                        <a:rPr lang="en-US" sz="1400" i="1" dirty="0" smtClean="0">
                          <a:latin typeface="Cambria Math" panose="02040503050406030204" pitchFamily="18" charset="0"/>
                        </a:rPr>
                        <m:t>𝑆𝑢𝑏𝑚𝑖𝑡</m:t>
                      </m:r>
                      <m:r>
                        <a:rPr lang="en-US" sz="1400" i="1" dirty="0" smtClean="0">
                          <a:latin typeface="Cambria Math" panose="02040503050406030204" pitchFamily="18" charset="0"/>
                        </a:rPr>
                        <m:t> → </m:t>
                      </m:r>
                      <m:r>
                        <a:rPr lang="en-US" sz="1400" i="1" dirty="0" smtClean="0">
                          <a:latin typeface="Cambria Math" panose="02040503050406030204" pitchFamily="18" charset="0"/>
                        </a:rPr>
                        <m:t>𝑅𝑒𝑐𝑒𝑖𝑣𝑒</m:t>
                      </m:r>
                      <m:r>
                        <a:rPr lang="en-US" sz="1400" i="1" dirty="0" smtClean="0">
                          <a:latin typeface="Cambria Math" panose="02040503050406030204" pitchFamily="18" charset="0"/>
                        </a:rPr>
                        <m:t> </m:t>
                      </m:r>
                      <m:r>
                        <a:rPr lang="en-US" sz="1400" i="1" dirty="0" smtClean="0">
                          <a:latin typeface="Cambria Math" panose="02040503050406030204" pitchFamily="18" charset="0"/>
                        </a:rPr>
                        <m:t>𝑟𝑒𝑠𝑝𝑜𝑛𝑠𝑒</m:t>
                      </m:r>
                      <m:r>
                        <a:rPr lang="en-US" sz="1400" i="1" dirty="0" smtClean="0">
                          <a:latin typeface="Cambria Math" panose="02040503050406030204" pitchFamily="18" charset="0"/>
                        </a:rPr>
                        <m:t> </m:t>
                      </m:r>
                      <m:r>
                        <a:rPr lang="en-US" sz="1400" i="1" dirty="0" smtClean="0">
                          <a:latin typeface="Cambria Math" panose="02040503050406030204" pitchFamily="18" charset="0"/>
                        </a:rPr>
                        <m:t>𝑜𝑟</m:t>
                      </m:r>
                      <m:r>
                        <a:rPr lang="en-US" sz="1400" i="1" dirty="0" smtClean="0">
                          <a:latin typeface="Cambria Math" panose="02040503050406030204" pitchFamily="18" charset="0"/>
                        </a:rPr>
                        <m:t> </m:t>
                      </m:r>
                      <m:r>
                        <a:rPr lang="en-US" sz="1400" i="1" dirty="0" smtClean="0">
                          <a:latin typeface="Cambria Math" panose="02040503050406030204" pitchFamily="18" charset="0"/>
                        </a:rPr>
                        <m:t>𝑟𝑒𝑡𝑟𝑦</m:t>
                      </m:r>
                      <m:r>
                        <a:rPr lang="en-US" sz="1400" i="1" dirty="0" smtClean="0">
                          <a:latin typeface="Cambria Math" panose="02040503050406030204" pitchFamily="18" charset="0"/>
                        </a:rPr>
                        <m:t> </m:t>
                      </m:r>
                      <m:r>
                        <a:rPr lang="en-US" sz="1400" i="1" dirty="0" smtClean="0">
                          <a:latin typeface="Cambria Math" panose="02040503050406030204" pitchFamily="18" charset="0"/>
                        </a:rPr>
                        <m:t>𝑚𝑒𝑠𝑠𝑎𝑔𝑒</m:t>
                      </m:r>
                    </m:oMath>
                  </m:oMathPara>
                </a14:m>
                <a:endParaRPr lang="en-US" sz="1400" dirty="0"/>
              </a:p>
              <a:p>
                <a:pPr algn="l">
                  <a:buNone/>
                  <a:defRPr sz="1350" b="0">
                    <a:solidFill>
                      <a:srgbClr val="586879"/>
                    </a:solidFill>
                    <a:latin typeface="Arial"/>
                    <a:ea typeface="Arial"/>
                    <a:cs typeface="Arial"/>
                  </a:defRPr>
                </a:pPr>
                <a:endParaRPr sz="1350" b="0" dirty="0">
                  <a:solidFill>
                    <a:srgbClr val="586879"/>
                  </a:solidFill>
                  <a:latin typeface="Arial"/>
                  <a:ea typeface="Arial"/>
                  <a:cs typeface="Arial"/>
                </a:endParaRPr>
              </a:p>
            </p:txBody>
          </p:sp>
        </mc:Choice>
        <mc:Fallback>
          <p:sp>
            <p:nvSpPr>
              <p:cNvPr id="25" name="Rectangle 24">
                <a:extLst>
                  <a:ext uri="{FF2B5EF4-FFF2-40B4-BE49-F238E27FC236}">
                    <a16:creationId xmlns:a16="http://schemas.microsoft.com/office/drawing/2014/main" id="{A106C32F-4B88-460A-87CB-67AE45D87DA3}"/>
                  </a:ext>
                </a:extLst>
              </p:cNvPr>
              <p:cNvSpPr>
                <a:spLocks noGrp="1" noRot="1" noChangeAspect="1" noMove="1" noResize="1" noEditPoints="1" noAdjustHandles="1" noChangeArrowheads="1" noChangeShapeType="1" noTextEdit="1"/>
              </p:cNvSpPr>
              <p:nvPr/>
            </p:nvSpPr>
            <p:spPr>
              <a:xfrm>
                <a:off x="5034306" y="2064568"/>
                <a:ext cx="5786094" cy="3563234"/>
              </a:xfrm>
              <a:prstGeom prst="rect">
                <a:avLst/>
              </a:prstGeom>
              <a:blipFill>
                <a:blip r:embed="rId3"/>
                <a:stretch>
                  <a:fillRect l="-1897" t="-1712"/>
                </a:stretch>
              </a:blipFill>
              <a:ln w="0">
                <a:noFill/>
                <a:prstDash val="solid"/>
              </a:ln>
            </p:spPr>
            <p:txBody>
              <a:bodyPr/>
              <a:lstStyle/>
              <a:p>
                <a:r>
                  <a:rPr lang="en-US">
                    <a:noFill/>
                  </a:rPr>
                  <a:t> </a:t>
                </a:r>
              </a:p>
            </p:txBody>
          </p:sp>
        </mc:Fallback>
      </mc:AlternateContent>
      <p:pic>
        <p:nvPicPr>
          <p:cNvPr id="28" name="Picture 27">
            <a:extLst>
              <a:ext uri="{FF2B5EF4-FFF2-40B4-BE49-F238E27FC236}">
                <a16:creationId xmlns:a16="http://schemas.microsoft.com/office/drawing/2014/main" id="{898050A2-8887-B48C-7900-47EEBC8DB2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6697" y="1751139"/>
            <a:ext cx="2195217" cy="4878261"/>
          </a:xfrm>
          <a:prstGeom prst="rect">
            <a:avLst/>
          </a:prstGeom>
        </p:spPr>
      </p:pic>
    </p:spTree>
    <p:extLst>
      <p:ext uri="{BB962C8B-B14F-4D97-AF65-F5344CB8AC3E}">
        <p14:creationId xmlns:p14="http://schemas.microsoft.com/office/powerpoint/2010/main" val="132147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D3A034EB-F10A-471C-B960-49EBB67C02C3}"/>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7D1E6561-4ECD-4C52-A5A9-91A27289A14E}"/>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11</a:t>
            </a:r>
          </a:p>
        </p:txBody>
      </p:sp>
      <p:sp>
        <p:nvSpPr>
          <p:cNvPr id="3" name="Rectangle 2">
            <a:extLst>
              <a:ext uri="{FF2B5EF4-FFF2-40B4-BE49-F238E27FC236}">
                <a16:creationId xmlns:a16="http://schemas.microsoft.com/office/drawing/2014/main" id="{0B740FA7-5835-4BE7-9370-8B1FD0F08A51}"/>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0A1394C1-526B-44A1-87F0-31BB755A3BCE}"/>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A764AEB5-7A18-4651-8CF7-E64A775995C0}"/>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AI answers must teach, not only calculate</a:t>
            </a:r>
          </a:p>
        </p:txBody>
      </p:sp>
      <p:sp>
        <p:nvSpPr>
          <p:cNvPr id="6" name="Rectangle 5">
            <a:extLst>
              <a:ext uri="{FF2B5EF4-FFF2-40B4-BE49-F238E27FC236}">
                <a16:creationId xmlns:a16="http://schemas.microsoft.com/office/drawing/2014/main" id="{7B0B752A-8C5B-42DD-82BC-149D672CAC48}"/>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The answer format is part of the user requirement.</a:t>
            </a:r>
          </a:p>
        </p:txBody>
      </p:sp>
      <p:sp>
        <p:nvSpPr>
          <p:cNvPr id="13" name="Rectangle 12">
            <a:extLst>
              <a:ext uri="{FF2B5EF4-FFF2-40B4-BE49-F238E27FC236}">
                <a16:creationId xmlns:a16="http://schemas.microsoft.com/office/drawing/2014/main" id="{99ECF45F-57D1-47F2-9B9D-2919BE595B23}"/>
              </a:ext>
            </a:extLst>
          </p:cNvPr>
          <p:cNvSpPr>
            <a:spLocks noGrp="1"/>
          </p:cNvSpPr>
          <p:nvPr/>
        </p:nvSpPr>
        <p:spPr>
          <a:xfrm>
            <a:off x="6121138" y="2171700"/>
            <a:ext cx="5080262" cy="3352800"/>
          </a:xfrm>
          <a:prstGeom prst="rect">
            <a:avLst/>
          </a:prstGeom>
          <a:noFill/>
          <a:ln w="0">
            <a:noFill/>
            <a:prstDash val="solid"/>
          </a:ln>
        </p:spPr>
        <p:txBody>
          <a:bodyPr lIns="0" tIns="0" rIns="0" bIns="0" anchor="t">
            <a:normAutofit/>
          </a:bodyPr>
          <a:lstStyle/>
          <a:p>
            <a:r>
              <a:rPr lang="en-US" sz="1600" b="1" dirty="0"/>
              <a:t>Additional learning support</a:t>
            </a:r>
          </a:p>
          <a:p>
            <a:pPr marL="285750" indent="-285750">
              <a:buFont typeface="Arial" panose="020B0604020202020204" pitchFamily="34" charset="0"/>
              <a:buChar char="•"/>
            </a:pPr>
            <a:r>
              <a:rPr lang="en-US" sz="1600" dirty="0"/>
              <a:t>Simplified explanation </a:t>
            </a:r>
          </a:p>
          <a:p>
            <a:pPr marL="285750" indent="-285750">
              <a:buFont typeface="Arial" panose="020B0604020202020204" pitchFamily="34" charset="0"/>
              <a:buChar char="•"/>
            </a:pPr>
            <a:r>
              <a:rPr lang="en-US" sz="1600" dirty="0"/>
              <a:t>Alternative approach </a:t>
            </a:r>
          </a:p>
          <a:p>
            <a:pPr marL="285750" indent="-285750">
              <a:buFont typeface="Arial" panose="020B0604020202020204" pitchFamily="34" charset="0"/>
              <a:buChar char="•"/>
            </a:pPr>
            <a:r>
              <a:rPr lang="en-US" sz="1600" dirty="0"/>
              <a:t>Key concept summary </a:t>
            </a:r>
          </a:p>
          <a:p>
            <a:pPr marL="285750" indent="-285750">
              <a:buFont typeface="Arial" panose="020B0604020202020204" pitchFamily="34" charset="0"/>
              <a:buChar char="•"/>
            </a:pPr>
            <a:r>
              <a:rPr lang="en-US" sz="1600" dirty="0"/>
              <a:t>Common mistakes to avoid </a:t>
            </a:r>
          </a:p>
          <a:p>
            <a:pPr marL="285750" indent="-285750">
              <a:buFont typeface="Arial" panose="020B0604020202020204" pitchFamily="34" charset="0"/>
              <a:buChar char="•"/>
            </a:pPr>
            <a:r>
              <a:rPr lang="en-US" sz="1600" dirty="0"/>
              <a:t>Suggested follow-up question </a:t>
            </a:r>
          </a:p>
          <a:p>
            <a:endParaRPr lang="en-US" sz="1600" dirty="0"/>
          </a:p>
          <a:p>
            <a:r>
              <a:rPr lang="en-US" sz="1600" b="1" dirty="0"/>
              <a:t>Reliability and safety</a:t>
            </a:r>
          </a:p>
          <a:p>
            <a:pPr marL="285750" indent="-285750">
              <a:buFont typeface="Arial" panose="020B0604020202020204" pitchFamily="34" charset="0"/>
              <a:buChar char="•"/>
            </a:pPr>
            <a:r>
              <a:rPr lang="en-US" sz="1600" dirty="0"/>
              <a:t>Show loading while the answer is generated </a:t>
            </a:r>
          </a:p>
          <a:p>
            <a:pPr marL="285750" indent="-285750">
              <a:buFont typeface="Arial" panose="020B0604020202020204" pitchFamily="34" charset="0"/>
              <a:buChar char="•"/>
            </a:pPr>
            <a:r>
              <a:rPr lang="en-US" sz="1600" dirty="0"/>
              <a:t>Display a clear retry option if the request fails </a:t>
            </a:r>
          </a:p>
          <a:p>
            <a:pPr marL="285750" indent="-285750">
              <a:buFont typeface="Arial" panose="020B0604020202020204" pitchFamily="34" charset="0"/>
              <a:buChar char="•"/>
            </a:pPr>
            <a:r>
              <a:rPr lang="en-US" sz="1600" dirty="0"/>
              <a:t>Avoid presenting uncertain output as guaranteed fact </a:t>
            </a:r>
          </a:p>
          <a:p>
            <a:pPr marL="285750" indent="-285750">
              <a:buFont typeface="Arial" panose="020B0604020202020204" pitchFamily="34" charset="0"/>
              <a:buChar char="•"/>
            </a:pPr>
            <a:r>
              <a:rPr lang="en-US" sz="1600" dirty="0"/>
              <a:t>Keep explanations appropriate for the learner’s level</a:t>
            </a:r>
          </a:p>
        </p:txBody>
      </p:sp>
      <p:sp>
        <p:nvSpPr>
          <p:cNvPr id="18" name="TextBox 17">
            <a:extLst>
              <a:ext uri="{FF2B5EF4-FFF2-40B4-BE49-F238E27FC236}">
                <a16:creationId xmlns:a16="http://schemas.microsoft.com/office/drawing/2014/main" id="{130EABF2-43A3-2DB1-7DFB-BB0AB93B7173}"/>
              </a:ext>
            </a:extLst>
          </p:cNvPr>
          <p:cNvSpPr txBox="1"/>
          <p:nvPr/>
        </p:nvSpPr>
        <p:spPr>
          <a:xfrm>
            <a:off x="990600" y="2413337"/>
            <a:ext cx="4911365" cy="2031325"/>
          </a:xfrm>
          <a:prstGeom prst="rect">
            <a:avLst/>
          </a:prstGeom>
          <a:noFill/>
        </p:spPr>
        <p:txBody>
          <a:bodyPr wrap="square" rtlCol="0">
            <a:spAutoFit/>
          </a:bodyPr>
          <a:lstStyle/>
          <a:p>
            <a:r>
              <a:rPr lang="en-US" dirty="0"/>
              <a:t>Expected answer structure:</a:t>
            </a:r>
          </a:p>
          <a:p>
            <a:endParaRPr lang="en-US" dirty="0"/>
          </a:p>
          <a:p>
            <a:pPr marL="342900" indent="-342900">
              <a:buAutoNum type="arabicPeriod"/>
            </a:pPr>
            <a:r>
              <a:rPr lang="en-US" dirty="0"/>
              <a:t>Identify the subject and difficulty</a:t>
            </a:r>
          </a:p>
          <a:p>
            <a:pPr marL="342900" indent="-342900">
              <a:buAutoNum type="arabicPeriod"/>
            </a:pPr>
            <a:r>
              <a:rPr lang="en-US" dirty="0"/>
              <a:t>Explain the relevant concept or formula</a:t>
            </a:r>
          </a:p>
          <a:p>
            <a:pPr marL="342900" indent="-342900">
              <a:buAutoNum type="arabicPeriod"/>
            </a:pPr>
            <a:r>
              <a:rPr lang="en-US" dirty="0"/>
              <a:t>Show the logical solution steps</a:t>
            </a:r>
          </a:p>
          <a:p>
            <a:pPr marL="342900" indent="-342900">
              <a:buAutoNum type="arabicPeriod"/>
            </a:pPr>
            <a:r>
              <a:rPr lang="en-US" dirty="0"/>
              <a:t>Present the final answer clearly</a:t>
            </a:r>
          </a:p>
          <a:p>
            <a:pPr marL="342900" indent="-342900">
              <a:buAutoNum type="arabicPeriod"/>
            </a:pPr>
            <a:r>
              <a:rPr lang="en-US" dirty="0"/>
              <a:t>Suggest a next learning action</a:t>
            </a:r>
          </a:p>
        </p:txBody>
      </p:sp>
    </p:spTree>
    <p:extLst>
      <p:ext uri="{BB962C8B-B14F-4D97-AF65-F5344CB8AC3E}">
        <p14:creationId xmlns:p14="http://schemas.microsoft.com/office/powerpoint/2010/main" val="228559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FFE33D8-E274-4766-B029-887C69497D66}"/>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7397F59E-D9A8-488A-BA2C-1AE50406E58A}"/>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12</a:t>
            </a:r>
          </a:p>
        </p:txBody>
      </p:sp>
      <p:sp>
        <p:nvSpPr>
          <p:cNvPr id="3" name="Rectangle 2">
            <a:extLst>
              <a:ext uri="{FF2B5EF4-FFF2-40B4-BE49-F238E27FC236}">
                <a16:creationId xmlns:a16="http://schemas.microsoft.com/office/drawing/2014/main" id="{526D6B2C-513B-4C5A-91B9-C13DA51BF653}"/>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8C073F17-9405-4923-8976-335B0EAC567A}"/>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C95FC469-E510-4C09-81AF-3A0AD93ED82C}"/>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r>
              <a:rPr lang="en-US" sz="2800" b="1" dirty="0"/>
              <a:t>Multi-Subject Learning Support</a:t>
            </a:r>
          </a:p>
        </p:txBody>
      </p:sp>
      <p:sp>
        <p:nvSpPr>
          <p:cNvPr id="6" name="Rectangle 5">
            <a:extLst>
              <a:ext uri="{FF2B5EF4-FFF2-40B4-BE49-F238E27FC236}">
                <a16:creationId xmlns:a16="http://schemas.microsoft.com/office/drawing/2014/main" id="{28D3F0E1-546C-4331-BE20-1A3796E77114}"/>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r>
              <a:rPr lang="en-US" sz="1400" dirty="0"/>
              <a:t>The application must adapt its explanation style to the subject and the student’s education level.</a:t>
            </a:r>
          </a:p>
        </p:txBody>
      </p:sp>
      <p:sp>
        <p:nvSpPr>
          <p:cNvPr id="7" name="Rectangle 6">
            <a:extLst>
              <a:ext uri="{FF2B5EF4-FFF2-40B4-BE49-F238E27FC236}">
                <a16:creationId xmlns:a16="http://schemas.microsoft.com/office/drawing/2014/main" id="{5DD7EE36-DE16-4835-BBA1-DB474D617013}"/>
              </a:ext>
            </a:extLst>
          </p:cNvPr>
          <p:cNvSpPr>
            <a:spLocks noGrp="1"/>
          </p:cNvSpPr>
          <p:nvPr/>
        </p:nvSpPr>
        <p:spPr>
          <a:xfrm>
            <a:off x="609600" y="2190750"/>
            <a:ext cx="3479800" cy="2571750"/>
          </a:xfrm>
          <a:prstGeom prst="rect">
            <a:avLst/>
          </a:prstGeom>
          <a:solidFill>
            <a:srgbClr val="F2F7FA"/>
          </a:solidFill>
          <a:ln w="9525">
            <a:solidFill>
              <a:srgbClr val="D7E0E8"/>
            </a:solidFill>
            <a:prstDash val="solid"/>
          </a:ln>
        </p:spPr>
      </p:sp>
      <p:sp>
        <p:nvSpPr>
          <p:cNvPr id="8" name="Rectangle 7">
            <a:extLst>
              <a:ext uri="{FF2B5EF4-FFF2-40B4-BE49-F238E27FC236}">
                <a16:creationId xmlns:a16="http://schemas.microsoft.com/office/drawing/2014/main" id="{8FA425D3-0E58-4629-A1D3-7D95662B6357}"/>
              </a:ext>
            </a:extLst>
          </p:cNvPr>
          <p:cNvSpPr>
            <a:spLocks noGrp="1"/>
          </p:cNvSpPr>
          <p:nvPr/>
        </p:nvSpPr>
        <p:spPr>
          <a:xfrm>
            <a:off x="800100" y="2362200"/>
            <a:ext cx="3098800" cy="209550"/>
          </a:xfrm>
          <a:prstGeom prst="rect">
            <a:avLst/>
          </a:prstGeom>
          <a:noFill/>
          <a:ln w="0">
            <a:noFill/>
            <a:prstDash val="solid"/>
          </a:ln>
        </p:spPr>
        <p:txBody>
          <a:bodyPr lIns="0" tIns="0" rIns="0" bIns="0" anchor="t">
            <a:normAutofit/>
          </a:bodyPr>
          <a:lstStyle/>
          <a:p>
            <a:pPr algn="l">
              <a:buNone/>
              <a:defRPr sz="1050" b="1">
                <a:solidFill>
                  <a:srgbClr val="3D8DFF"/>
                </a:solidFill>
                <a:latin typeface="Arial"/>
                <a:ea typeface="Arial"/>
                <a:cs typeface="Arial"/>
              </a:defRPr>
            </a:pPr>
            <a:r>
              <a:rPr sz="1050" b="1">
                <a:solidFill>
                  <a:srgbClr val="3D8DFF"/>
                </a:solidFill>
                <a:latin typeface="Arial"/>
                <a:ea typeface="Arial"/>
                <a:cs typeface="Arial"/>
              </a:rPr>
              <a:t>STEM</a:t>
            </a:r>
          </a:p>
        </p:txBody>
      </p:sp>
      <p:sp>
        <p:nvSpPr>
          <p:cNvPr id="9" name="Rectangle 8">
            <a:extLst>
              <a:ext uri="{FF2B5EF4-FFF2-40B4-BE49-F238E27FC236}">
                <a16:creationId xmlns:a16="http://schemas.microsoft.com/office/drawing/2014/main" id="{C9955384-389B-4B48-9588-050B7A958625}"/>
              </a:ext>
            </a:extLst>
          </p:cNvPr>
          <p:cNvSpPr>
            <a:spLocks noGrp="1"/>
          </p:cNvSpPr>
          <p:nvPr/>
        </p:nvSpPr>
        <p:spPr>
          <a:xfrm>
            <a:off x="800100" y="2705100"/>
            <a:ext cx="3098800" cy="514350"/>
          </a:xfrm>
          <a:prstGeom prst="rect">
            <a:avLst/>
          </a:prstGeom>
          <a:noFill/>
          <a:ln w="0">
            <a:noFill/>
            <a:prstDash val="solid"/>
          </a:ln>
        </p:spPr>
        <p:txBody>
          <a:bodyPr lIns="0" tIns="0" rIns="0" bIns="0" anchor="t">
            <a:normAutofit lnSpcReduction="10000"/>
          </a:bodyPr>
          <a:lstStyle/>
          <a:p>
            <a:pPr algn="l">
              <a:buNone/>
              <a:defRPr sz="1725" b="1">
                <a:solidFill>
                  <a:srgbClr val="0B1220"/>
                </a:solidFill>
                <a:latin typeface="Arial"/>
                <a:ea typeface="Arial"/>
                <a:cs typeface="Arial"/>
              </a:defRPr>
            </a:pPr>
            <a:r>
              <a:rPr lang="en-US" sz="1725" b="1" dirty="0">
                <a:solidFill>
                  <a:srgbClr val="0B1220"/>
                </a:solidFill>
                <a:latin typeface="Arial"/>
                <a:ea typeface="Arial"/>
                <a:cs typeface="Arial"/>
              </a:rPr>
              <a:t>Mathematics + Physic + Chemistry + Biology</a:t>
            </a:r>
          </a:p>
        </p:txBody>
      </p:sp>
      <p:sp>
        <p:nvSpPr>
          <p:cNvPr id="10" name="Rectangle 9">
            <a:extLst>
              <a:ext uri="{FF2B5EF4-FFF2-40B4-BE49-F238E27FC236}">
                <a16:creationId xmlns:a16="http://schemas.microsoft.com/office/drawing/2014/main" id="{1694A524-74AF-4DF8-81DB-87E925F241D8}"/>
              </a:ext>
            </a:extLst>
          </p:cNvPr>
          <p:cNvSpPr>
            <a:spLocks noGrp="1"/>
          </p:cNvSpPr>
          <p:nvPr/>
        </p:nvSpPr>
        <p:spPr>
          <a:xfrm>
            <a:off x="800100" y="3352800"/>
            <a:ext cx="3098800" cy="1238250"/>
          </a:xfrm>
          <a:prstGeom prst="rect">
            <a:avLst/>
          </a:prstGeom>
          <a:noFill/>
          <a:ln w="0">
            <a:noFill/>
            <a:prstDash val="solid"/>
          </a:ln>
        </p:spPr>
        <p:txBody>
          <a:bodyPr lIns="0" tIns="0" rIns="0" bIns="0" anchor="t">
            <a:normAutofit/>
          </a:bodyPr>
          <a:lstStyle/>
          <a:p>
            <a:pPr algn="l">
              <a:buNone/>
              <a:defRPr sz="1275" b="0">
                <a:solidFill>
                  <a:srgbClr val="586879"/>
                </a:solidFill>
                <a:latin typeface="Arial"/>
                <a:ea typeface="Arial"/>
                <a:cs typeface="Arial"/>
              </a:defRPr>
            </a:pPr>
            <a:r>
              <a:rPr lang="en-US" sz="1275" b="0" dirty="0">
                <a:solidFill>
                  <a:srgbClr val="586879"/>
                </a:solidFill>
                <a:latin typeface="Arial"/>
                <a:ea typeface="Arial"/>
                <a:cs typeface="Arial"/>
              </a:rPr>
              <a:t>Formulas, diagrams, working and concept explanations.</a:t>
            </a:r>
          </a:p>
        </p:txBody>
      </p:sp>
      <p:sp>
        <p:nvSpPr>
          <p:cNvPr id="11" name="Rectangle 10">
            <a:extLst>
              <a:ext uri="{FF2B5EF4-FFF2-40B4-BE49-F238E27FC236}">
                <a16:creationId xmlns:a16="http://schemas.microsoft.com/office/drawing/2014/main" id="{44BE2177-08FD-419D-A036-BF48FEA4D959}"/>
              </a:ext>
            </a:extLst>
          </p:cNvPr>
          <p:cNvSpPr>
            <a:spLocks noGrp="1"/>
          </p:cNvSpPr>
          <p:nvPr/>
        </p:nvSpPr>
        <p:spPr>
          <a:xfrm>
            <a:off x="4356100" y="2190750"/>
            <a:ext cx="3479800" cy="2571750"/>
          </a:xfrm>
          <a:prstGeom prst="rect">
            <a:avLst/>
          </a:prstGeom>
          <a:solidFill>
            <a:srgbClr val="F2F7FA"/>
          </a:solidFill>
          <a:ln w="9525">
            <a:solidFill>
              <a:srgbClr val="D7E0E8"/>
            </a:solidFill>
            <a:prstDash val="solid"/>
          </a:ln>
        </p:spPr>
      </p:sp>
      <p:sp>
        <p:nvSpPr>
          <p:cNvPr id="12" name="Rectangle 11">
            <a:extLst>
              <a:ext uri="{FF2B5EF4-FFF2-40B4-BE49-F238E27FC236}">
                <a16:creationId xmlns:a16="http://schemas.microsoft.com/office/drawing/2014/main" id="{AE8E7CEB-64F4-439D-8612-C4828492E6E7}"/>
              </a:ext>
            </a:extLst>
          </p:cNvPr>
          <p:cNvSpPr>
            <a:spLocks noGrp="1"/>
          </p:cNvSpPr>
          <p:nvPr/>
        </p:nvSpPr>
        <p:spPr>
          <a:xfrm>
            <a:off x="4546600" y="2362200"/>
            <a:ext cx="3098800" cy="209550"/>
          </a:xfrm>
          <a:prstGeom prst="rect">
            <a:avLst/>
          </a:prstGeom>
          <a:noFill/>
          <a:ln w="0">
            <a:noFill/>
            <a:prstDash val="solid"/>
          </a:ln>
        </p:spPr>
        <p:txBody>
          <a:bodyPr lIns="0" tIns="0" rIns="0" bIns="0" anchor="t">
            <a:normAutofit/>
          </a:bodyPr>
          <a:lstStyle/>
          <a:p>
            <a:pPr algn="l">
              <a:buNone/>
              <a:defRPr sz="1050" b="1">
                <a:solidFill>
                  <a:srgbClr val="FF9B45"/>
                </a:solidFill>
                <a:latin typeface="Arial"/>
                <a:ea typeface="Arial"/>
                <a:cs typeface="Arial"/>
              </a:defRPr>
            </a:pPr>
            <a:r>
              <a:rPr sz="1050" b="1">
                <a:solidFill>
                  <a:srgbClr val="FF9B45"/>
                </a:solidFill>
                <a:latin typeface="Arial"/>
                <a:ea typeface="Arial"/>
                <a:cs typeface="Arial"/>
              </a:rPr>
              <a:t>COMPUTING</a:t>
            </a:r>
          </a:p>
        </p:txBody>
      </p:sp>
      <p:sp>
        <p:nvSpPr>
          <p:cNvPr id="13" name="Rectangle 12">
            <a:extLst>
              <a:ext uri="{FF2B5EF4-FFF2-40B4-BE49-F238E27FC236}">
                <a16:creationId xmlns:a16="http://schemas.microsoft.com/office/drawing/2014/main" id="{1C497F34-640D-431D-97FC-9CFBA517790C}"/>
              </a:ext>
            </a:extLst>
          </p:cNvPr>
          <p:cNvSpPr>
            <a:spLocks noGrp="1"/>
          </p:cNvSpPr>
          <p:nvPr/>
        </p:nvSpPr>
        <p:spPr>
          <a:xfrm>
            <a:off x="4546600" y="2705100"/>
            <a:ext cx="3098800" cy="514350"/>
          </a:xfrm>
          <a:prstGeom prst="rect">
            <a:avLst/>
          </a:prstGeom>
          <a:noFill/>
          <a:ln w="0">
            <a:noFill/>
            <a:prstDash val="solid"/>
          </a:ln>
        </p:spPr>
        <p:txBody>
          <a:bodyPr lIns="0" tIns="0" rIns="0" bIns="0" anchor="t">
            <a:normAutofit/>
          </a:bodyPr>
          <a:lstStyle/>
          <a:p>
            <a:pPr algn="l">
              <a:buNone/>
              <a:defRPr sz="1725" b="1">
                <a:solidFill>
                  <a:srgbClr val="0B1220"/>
                </a:solidFill>
                <a:latin typeface="Arial"/>
                <a:ea typeface="Arial"/>
                <a:cs typeface="Arial"/>
              </a:defRPr>
            </a:pPr>
            <a:r>
              <a:rPr sz="1725" b="1">
                <a:solidFill>
                  <a:srgbClr val="0B1220"/>
                </a:solidFill>
                <a:latin typeface="Arial"/>
                <a:ea typeface="Arial"/>
                <a:cs typeface="Arial"/>
              </a:rPr>
              <a:t>Programming</a:t>
            </a:r>
          </a:p>
        </p:txBody>
      </p:sp>
      <p:sp>
        <p:nvSpPr>
          <p:cNvPr id="14" name="Rectangle 13">
            <a:extLst>
              <a:ext uri="{FF2B5EF4-FFF2-40B4-BE49-F238E27FC236}">
                <a16:creationId xmlns:a16="http://schemas.microsoft.com/office/drawing/2014/main" id="{9D68FF9D-B564-43BE-BC66-EDD6E71BCBC2}"/>
              </a:ext>
            </a:extLst>
          </p:cNvPr>
          <p:cNvSpPr>
            <a:spLocks noGrp="1"/>
          </p:cNvSpPr>
          <p:nvPr/>
        </p:nvSpPr>
        <p:spPr>
          <a:xfrm>
            <a:off x="4546600" y="3352800"/>
            <a:ext cx="3098800" cy="1238250"/>
          </a:xfrm>
          <a:prstGeom prst="rect">
            <a:avLst/>
          </a:prstGeom>
          <a:noFill/>
          <a:ln w="0">
            <a:noFill/>
            <a:prstDash val="solid"/>
          </a:ln>
        </p:spPr>
        <p:txBody>
          <a:bodyPr lIns="0" tIns="0" rIns="0" bIns="0" anchor="t">
            <a:normAutofit/>
          </a:bodyPr>
          <a:lstStyle/>
          <a:p>
            <a:pPr algn="l">
              <a:buNone/>
              <a:defRPr sz="1275" b="0">
                <a:solidFill>
                  <a:srgbClr val="586879"/>
                </a:solidFill>
                <a:latin typeface="Arial"/>
                <a:ea typeface="Arial"/>
                <a:cs typeface="Arial"/>
              </a:defRPr>
            </a:pPr>
            <a:r>
              <a:rPr sz="1275" b="0">
                <a:solidFill>
                  <a:srgbClr val="586879"/>
                </a:solidFill>
                <a:latin typeface="Arial"/>
                <a:ea typeface="Arial"/>
                <a:cs typeface="Arial"/>
              </a:rPr>
              <a:t>Code, debugging, syntax and step-by-step reasoning.</a:t>
            </a:r>
          </a:p>
        </p:txBody>
      </p:sp>
      <p:sp>
        <p:nvSpPr>
          <p:cNvPr id="15" name="Rectangle 14">
            <a:extLst>
              <a:ext uri="{FF2B5EF4-FFF2-40B4-BE49-F238E27FC236}">
                <a16:creationId xmlns:a16="http://schemas.microsoft.com/office/drawing/2014/main" id="{383BDEBF-7527-4F5F-A8FF-3085A548C762}"/>
              </a:ext>
            </a:extLst>
          </p:cNvPr>
          <p:cNvSpPr>
            <a:spLocks noGrp="1"/>
          </p:cNvSpPr>
          <p:nvPr/>
        </p:nvSpPr>
        <p:spPr>
          <a:xfrm>
            <a:off x="8102600" y="2190750"/>
            <a:ext cx="3479800" cy="2571750"/>
          </a:xfrm>
          <a:prstGeom prst="rect">
            <a:avLst/>
          </a:prstGeom>
          <a:solidFill>
            <a:srgbClr val="F2F7FA"/>
          </a:solidFill>
          <a:ln w="9525">
            <a:solidFill>
              <a:srgbClr val="D7E0E8"/>
            </a:solidFill>
            <a:prstDash val="solid"/>
          </a:ln>
        </p:spPr>
      </p:sp>
      <p:sp>
        <p:nvSpPr>
          <p:cNvPr id="16" name="Rectangle 15">
            <a:extLst>
              <a:ext uri="{FF2B5EF4-FFF2-40B4-BE49-F238E27FC236}">
                <a16:creationId xmlns:a16="http://schemas.microsoft.com/office/drawing/2014/main" id="{667A3D63-7659-4DE1-BD10-A321E88235F6}"/>
              </a:ext>
            </a:extLst>
          </p:cNvPr>
          <p:cNvSpPr>
            <a:spLocks noGrp="1"/>
          </p:cNvSpPr>
          <p:nvPr/>
        </p:nvSpPr>
        <p:spPr>
          <a:xfrm>
            <a:off x="8293100" y="2362200"/>
            <a:ext cx="3098800" cy="209550"/>
          </a:xfrm>
          <a:prstGeom prst="rect">
            <a:avLst/>
          </a:prstGeom>
          <a:noFill/>
          <a:ln w="0">
            <a:noFill/>
            <a:prstDash val="solid"/>
          </a:ln>
        </p:spPr>
        <p:txBody>
          <a:bodyPr lIns="0" tIns="0" rIns="0" bIns="0" anchor="t">
            <a:normAutofit/>
          </a:bodyPr>
          <a:lstStyle/>
          <a:p>
            <a:pPr algn="l">
              <a:buNone/>
              <a:defRPr sz="1050" b="1">
                <a:solidFill>
                  <a:srgbClr val="0DA6A6"/>
                </a:solidFill>
                <a:latin typeface="Arial"/>
                <a:ea typeface="Arial"/>
                <a:cs typeface="Arial"/>
              </a:defRPr>
            </a:pPr>
            <a:r>
              <a:rPr sz="1050" b="1">
                <a:solidFill>
                  <a:srgbClr val="0DA6A6"/>
                </a:solidFill>
                <a:latin typeface="Arial"/>
                <a:ea typeface="Arial"/>
                <a:cs typeface="Arial"/>
              </a:rPr>
              <a:t>HUMANITIES</a:t>
            </a:r>
          </a:p>
        </p:txBody>
      </p:sp>
      <p:sp>
        <p:nvSpPr>
          <p:cNvPr id="17" name="Rectangle 16">
            <a:extLst>
              <a:ext uri="{FF2B5EF4-FFF2-40B4-BE49-F238E27FC236}">
                <a16:creationId xmlns:a16="http://schemas.microsoft.com/office/drawing/2014/main" id="{BC53A462-B9BA-4AE6-88F5-5CF2B4C8F71E}"/>
              </a:ext>
            </a:extLst>
          </p:cNvPr>
          <p:cNvSpPr>
            <a:spLocks noGrp="1"/>
          </p:cNvSpPr>
          <p:nvPr/>
        </p:nvSpPr>
        <p:spPr>
          <a:xfrm>
            <a:off x="8293100" y="2705100"/>
            <a:ext cx="3098800" cy="514350"/>
          </a:xfrm>
          <a:prstGeom prst="rect">
            <a:avLst/>
          </a:prstGeom>
          <a:noFill/>
          <a:ln w="0">
            <a:noFill/>
            <a:prstDash val="solid"/>
          </a:ln>
        </p:spPr>
        <p:txBody>
          <a:bodyPr lIns="0" tIns="0" rIns="0" bIns="0" anchor="t">
            <a:normAutofit/>
          </a:bodyPr>
          <a:lstStyle/>
          <a:p>
            <a:pPr algn="l">
              <a:buNone/>
              <a:defRPr sz="1725" b="1">
                <a:solidFill>
                  <a:srgbClr val="0B1220"/>
                </a:solidFill>
                <a:latin typeface="Arial"/>
                <a:ea typeface="Arial"/>
                <a:cs typeface="Arial"/>
              </a:defRPr>
            </a:pPr>
            <a:r>
              <a:rPr sz="1725" b="1" dirty="0">
                <a:solidFill>
                  <a:srgbClr val="0B1220"/>
                </a:solidFill>
                <a:latin typeface="Arial"/>
                <a:ea typeface="Arial"/>
                <a:cs typeface="Arial"/>
              </a:rPr>
              <a:t>languages</a:t>
            </a:r>
          </a:p>
        </p:txBody>
      </p:sp>
      <p:sp>
        <p:nvSpPr>
          <p:cNvPr id="18" name="Rectangle 17">
            <a:extLst>
              <a:ext uri="{FF2B5EF4-FFF2-40B4-BE49-F238E27FC236}">
                <a16:creationId xmlns:a16="http://schemas.microsoft.com/office/drawing/2014/main" id="{1F2E9FE7-1CFF-4895-973D-4A176A81D314}"/>
              </a:ext>
            </a:extLst>
          </p:cNvPr>
          <p:cNvSpPr>
            <a:spLocks noGrp="1"/>
          </p:cNvSpPr>
          <p:nvPr/>
        </p:nvSpPr>
        <p:spPr>
          <a:xfrm>
            <a:off x="8293100" y="3352800"/>
            <a:ext cx="3098800" cy="1238250"/>
          </a:xfrm>
          <a:prstGeom prst="rect">
            <a:avLst/>
          </a:prstGeom>
          <a:noFill/>
          <a:ln w="0">
            <a:noFill/>
            <a:prstDash val="solid"/>
          </a:ln>
        </p:spPr>
        <p:txBody>
          <a:bodyPr lIns="0" tIns="0" rIns="0" bIns="0" anchor="t">
            <a:normAutofit/>
          </a:bodyPr>
          <a:lstStyle/>
          <a:p>
            <a:pPr algn="l">
              <a:buNone/>
              <a:defRPr sz="1275" b="0">
                <a:solidFill>
                  <a:srgbClr val="586879"/>
                </a:solidFill>
                <a:latin typeface="Arial"/>
                <a:ea typeface="Arial"/>
                <a:cs typeface="Arial"/>
              </a:defRPr>
            </a:pPr>
            <a:r>
              <a:rPr sz="1275" b="0" dirty="0">
                <a:solidFill>
                  <a:srgbClr val="586879"/>
                </a:solidFill>
                <a:latin typeface="Arial"/>
                <a:ea typeface="Arial"/>
                <a:cs typeface="Arial"/>
              </a:rPr>
              <a:t>Clear context, vocabulary and appropriately simple explanations.</a:t>
            </a:r>
          </a:p>
        </p:txBody>
      </p:sp>
    </p:spTree>
    <p:extLst>
      <p:ext uri="{BB962C8B-B14F-4D97-AF65-F5344CB8AC3E}">
        <p14:creationId xmlns:p14="http://schemas.microsoft.com/office/powerpoint/2010/main" val="1030033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E9C15A9-7CD3-437F-8D4B-05CDF58EC3D6}"/>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ABE46D08-3E23-4185-8B35-12B363900F52}"/>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13</a:t>
            </a:r>
          </a:p>
        </p:txBody>
      </p:sp>
      <p:sp>
        <p:nvSpPr>
          <p:cNvPr id="3" name="Rectangle 2">
            <a:extLst>
              <a:ext uri="{FF2B5EF4-FFF2-40B4-BE49-F238E27FC236}">
                <a16:creationId xmlns:a16="http://schemas.microsoft.com/office/drawing/2014/main" id="{69A224DE-487D-48CC-9FF5-247E4A90ABAD}"/>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E2B7AA7D-3A0D-49DD-922C-1DF91A011B3C}"/>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A9245C57-DCC7-4361-BBE6-8357BB577DF9}"/>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r>
              <a:rPr lang="en-US" sz="2800" b="1" dirty="0"/>
              <a:t>Question History and Personal Learning Library</a:t>
            </a:r>
          </a:p>
        </p:txBody>
      </p:sp>
      <p:sp>
        <p:nvSpPr>
          <p:cNvPr id="6" name="Rectangle 5">
            <a:extLst>
              <a:ext uri="{FF2B5EF4-FFF2-40B4-BE49-F238E27FC236}">
                <a16:creationId xmlns:a16="http://schemas.microsoft.com/office/drawing/2014/main" id="{7D2258E2-3EF6-4DC6-8BEE-58E70B38F133}"/>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r>
              <a:rPr lang="en-US" sz="1400" dirty="0"/>
              <a:t>Saved learning content allows students to return, review and continue learning over time.</a:t>
            </a:r>
          </a:p>
        </p:txBody>
      </p:sp>
      <p:sp>
        <p:nvSpPr>
          <p:cNvPr id="7" name="Rectangle 6">
            <a:extLst>
              <a:ext uri="{FF2B5EF4-FFF2-40B4-BE49-F238E27FC236}">
                <a16:creationId xmlns:a16="http://schemas.microsoft.com/office/drawing/2014/main" id="{7CFBF201-8138-46B3-962C-53E8B3CB3003}"/>
              </a:ext>
            </a:extLst>
          </p:cNvPr>
          <p:cNvSpPr>
            <a:spLocks noGrp="1"/>
          </p:cNvSpPr>
          <p:nvPr/>
        </p:nvSpPr>
        <p:spPr>
          <a:xfrm>
            <a:off x="609600" y="1924050"/>
            <a:ext cx="5257800" cy="38100"/>
          </a:xfrm>
          <a:prstGeom prst="rect">
            <a:avLst/>
          </a:prstGeom>
          <a:solidFill>
            <a:srgbClr val="3D8DFF"/>
          </a:solidFill>
          <a:ln w="0">
            <a:solidFill>
              <a:srgbClr val="3D8DFF"/>
            </a:solidFill>
            <a:prstDash val="solid"/>
          </a:ln>
        </p:spPr>
      </p:sp>
      <p:sp>
        <p:nvSpPr>
          <p:cNvPr id="8" name="Rectangle 7">
            <a:extLst>
              <a:ext uri="{FF2B5EF4-FFF2-40B4-BE49-F238E27FC236}">
                <a16:creationId xmlns:a16="http://schemas.microsoft.com/office/drawing/2014/main" id="{A47B6068-ED1C-43EA-8F17-01A950668720}"/>
              </a:ext>
            </a:extLst>
          </p:cNvPr>
          <p:cNvSpPr>
            <a:spLocks noGrp="1"/>
          </p:cNvSpPr>
          <p:nvPr/>
        </p:nvSpPr>
        <p:spPr>
          <a:xfrm>
            <a:off x="6324600" y="1686809"/>
            <a:ext cx="5257800" cy="38100"/>
          </a:xfrm>
          <a:prstGeom prst="rect">
            <a:avLst/>
          </a:prstGeom>
          <a:solidFill>
            <a:srgbClr val="0DA6A6"/>
          </a:solidFill>
          <a:ln w="0">
            <a:solidFill>
              <a:srgbClr val="0DA6A6"/>
            </a:solidFill>
            <a:prstDash val="solid"/>
          </a:ln>
        </p:spPr>
      </p:sp>
      <p:sp>
        <p:nvSpPr>
          <p:cNvPr id="10" name="Rectangle 9">
            <a:extLst>
              <a:ext uri="{FF2B5EF4-FFF2-40B4-BE49-F238E27FC236}">
                <a16:creationId xmlns:a16="http://schemas.microsoft.com/office/drawing/2014/main" id="{485CDA78-AD15-4D4D-8869-B2BC40404297}"/>
              </a:ext>
            </a:extLst>
          </p:cNvPr>
          <p:cNvSpPr>
            <a:spLocks noGrp="1"/>
          </p:cNvSpPr>
          <p:nvPr/>
        </p:nvSpPr>
        <p:spPr>
          <a:xfrm>
            <a:off x="647700" y="2227082"/>
            <a:ext cx="5257800" cy="2667000"/>
          </a:xfrm>
          <a:prstGeom prst="rect">
            <a:avLst/>
          </a:prstGeom>
          <a:noFill/>
          <a:ln w="0">
            <a:noFill/>
            <a:prstDash val="solid"/>
          </a:ln>
        </p:spPr>
        <p:txBody>
          <a:bodyPr lIns="0" tIns="0" rIns="0" bIns="0" anchor="t">
            <a:normAutofit/>
          </a:bodyPr>
          <a:lstStyle/>
          <a:p>
            <a:r>
              <a:rPr lang="en-US" b="1" dirty="0"/>
              <a:t>Required system capabilities</a:t>
            </a:r>
          </a:p>
          <a:p>
            <a:endParaRPr lang="en-US" b="1" dirty="0"/>
          </a:p>
          <a:p>
            <a:pPr marL="285750" indent="-285750">
              <a:buFont typeface="Arial" panose="020B0604020202020204" pitchFamily="34" charset="0"/>
              <a:buChar char="•"/>
            </a:pPr>
            <a:r>
              <a:rPr lang="en-US" dirty="0"/>
              <a:t>Automatically save each question and AI answer </a:t>
            </a:r>
          </a:p>
          <a:p>
            <a:pPr marL="285750" indent="-285750">
              <a:buFont typeface="Arial" panose="020B0604020202020204" pitchFamily="34" charset="0"/>
              <a:buChar char="•"/>
            </a:pPr>
            <a:r>
              <a:rPr lang="en-US" dirty="0"/>
              <a:t>Search previous questions </a:t>
            </a:r>
          </a:p>
          <a:p>
            <a:pPr marL="285750" indent="-285750">
              <a:buFont typeface="Arial" panose="020B0604020202020204" pitchFamily="34" charset="0"/>
              <a:buChar char="•"/>
            </a:pPr>
            <a:r>
              <a:rPr lang="en-US" dirty="0"/>
              <a:t>Bookmark important answers </a:t>
            </a:r>
          </a:p>
          <a:p>
            <a:pPr marL="285750" indent="-285750">
              <a:buFont typeface="Arial" panose="020B0604020202020204" pitchFamily="34" charset="0"/>
              <a:buChar char="•"/>
            </a:pPr>
            <a:r>
              <a:rPr lang="en-US" dirty="0"/>
              <a:t>Filter or </a:t>
            </a:r>
            <a:r>
              <a:rPr lang="en-US" dirty="0" err="1"/>
              <a:t>organise</a:t>
            </a:r>
            <a:r>
              <a:rPr lang="en-US" dirty="0"/>
              <a:t> content by subject </a:t>
            </a:r>
          </a:p>
          <a:p>
            <a:pPr marL="285750" indent="-285750">
              <a:buFont typeface="Arial" panose="020B0604020202020204" pitchFamily="34" charset="0"/>
              <a:buChar char="•"/>
            </a:pPr>
            <a:r>
              <a:rPr lang="en-US" dirty="0"/>
              <a:t>Reopen previously answered questions </a:t>
            </a:r>
          </a:p>
          <a:p>
            <a:pPr marL="285750" indent="-285750">
              <a:buFont typeface="Arial" panose="020B0604020202020204" pitchFamily="34" charset="0"/>
              <a:buChar char="•"/>
            </a:pPr>
            <a:r>
              <a:rPr lang="en-US" dirty="0"/>
              <a:t>Suggest review for frequently repeated topics </a:t>
            </a:r>
          </a:p>
          <a:p>
            <a:pPr marL="285750" indent="-285750">
              <a:buFont typeface="Arial" panose="020B0604020202020204" pitchFamily="34" charset="0"/>
              <a:buChar char="•"/>
            </a:pPr>
            <a:r>
              <a:rPr lang="en-US" dirty="0"/>
              <a:t>Allow selected saved content to be viewed offline</a:t>
            </a:r>
          </a:p>
        </p:txBody>
      </p:sp>
    </p:spTree>
    <p:extLst>
      <p:ext uri="{BB962C8B-B14F-4D97-AF65-F5344CB8AC3E}">
        <p14:creationId xmlns:p14="http://schemas.microsoft.com/office/powerpoint/2010/main" val="1649136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9BD04FB4-A049-4A19-BCEE-153041994A91}"/>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D30D57B5-591A-4AFB-8B16-D3162A9C8742}"/>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14</a:t>
            </a:r>
          </a:p>
        </p:txBody>
      </p:sp>
      <p:sp>
        <p:nvSpPr>
          <p:cNvPr id="3" name="Rectangle 2">
            <a:extLst>
              <a:ext uri="{FF2B5EF4-FFF2-40B4-BE49-F238E27FC236}">
                <a16:creationId xmlns:a16="http://schemas.microsoft.com/office/drawing/2014/main" id="{0D2D32DC-6EA2-4923-B89F-2A1B41E6E554}"/>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A9990823-E37E-4863-A8AD-6EDDD3A16986}"/>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EFFBFCCE-17C9-4702-ACDA-68BA97512496}"/>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r>
              <a:rPr lang="en-US" sz="2800" b="1" dirty="0"/>
              <a:t>Practice Reinforces Learning</a:t>
            </a:r>
            <a:endParaRPr lang="en-US" sz="2800" dirty="0"/>
          </a:p>
        </p:txBody>
      </p:sp>
      <p:sp>
        <p:nvSpPr>
          <p:cNvPr id="6" name="Rectangle 5">
            <a:extLst>
              <a:ext uri="{FF2B5EF4-FFF2-40B4-BE49-F238E27FC236}">
                <a16:creationId xmlns:a16="http://schemas.microsoft.com/office/drawing/2014/main" id="{DE58417A-FF4B-4CF7-BED8-396EE02E8DBC}"/>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defRPr sz="1350" b="0">
                <a:solidFill>
                  <a:srgbClr val="586879"/>
                </a:solidFill>
                <a:latin typeface="Arial"/>
                <a:ea typeface="Arial"/>
                <a:cs typeface="Arial"/>
              </a:defRPr>
            </a:pPr>
            <a:r>
              <a:rPr lang="en-US" sz="1350" dirty="0"/>
              <a:t>Students should apply newly learned knowledge after completing a lesson or receiving support from the AI Tutor.</a:t>
            </a:r>
            <a:endParaRPr sz="1350" b="0" dirty="0">
              <a:solidFill>
                <a:srgbClr val="586879"/>
              </a:solidFill>
              <a:latin typeface="Arial"/>
              <a:ea typeface="Arial"/>
              <a:cs typeface="Arial"/>
            </a:endParaRPr>
          </a:p>
        </p:txBody>
      </p:sp>
      <p:sp>
        <p:nvSpPr>
          <p:cNvPr id="7" name="Rectangle: Rounded Corners 6">
            <a:extLst>
              <a:ext uri="{FF2B5EF4-FFF2-40B4-BE49-F238E27FC236}">
                <a16:creationId xmlns:a16="http://schemas.microsoft.com/office/drawing/2014/main" id="{3E79D5FA-B1AA-4030-8540-44095A0EB372}"/>
              </a:ext>
            </a:extLst>
          </p:cNvPr>
          <p:cNvSpPr>
            <a:spLocks noGrp="1"/>
          </p:cNvSpPr>
          <p:nvPr/>
        </p:nvSpPr>
        <p:spPr>
          <a:xfrm>
            <a:off x="1143000" y="1790700"/>
            <a:ext cx="2286000" cy="4210050"/>
          </a:xfrm>
          <a:prstGeom prst="roundRect">
            <a:avLst>
              <a:gd name="adj" fmla="val 3333"/>
            </a:avLst>
          </a:prstGeom>
          <a:solidFill>
            <a:srgbClr val="0F2A43"/>
          </a:solidFill>
          <a:ln w="0">
            <a:solidFill>
              <a:srgbClr val="0F2A43"/>
            </a:solidFill>
            <a:prstDash val="solid"/>
          </a:ln>
        </p:spPr>
      </p:sp>
      <p:sp>
        <p:nvSpPr>
          <p:cNvPr id="8" name="Rectangle: Rounded Corners 7">
            <a:extLst>
              <a:ext uri="{FF2B5EF4-FFF2-40B4-BE49-F238E27FC236}">
                <a16:creationId xmlns:a16="http://schemas.microsoft.com/office/drawing/2014/main" id="{DB9D1023-769D-49B5-B825-ED2A60CA9317}"/>
              </a:ext>
            </a:extLst>
          </p:cNvPr>
          <p:cNvSpPr>
            <a:spLocks noGrp="1"/>
          </p:cNvSpPr>
          <p:nvPr/>
        </p:nvSpPr>
        <p:spPr>
          <a:xfrm>
            <a:off x="1238250" y="1905000"/>
            <a:ext cx="2095500" cy="3981450"/>
          </a:xfrm>
          <a:prstGeom prst="roundRect">
            <a:avLst>
              <a:gd name="adj" fmla="val 3636"/>
            </a:avLst>
          </a:prstGeom>
          <a:solidFill>
            <a:srgbClr val="FFFFFF"/>
          </a:solidFill>
          <a:ln w="0">
            <a:solidFill>
              <a:srgbClr val="FFFFFF"/>
            </a:solidFill>
            <a:prstDash val="solid"/>
          </a:ln>
        </p:spPr>
      </p:sp>
      <p:sp>
        <p:nvSpPr>
          <p:cNvPr id="9" name="Rectangle: Rounded Corners 8">
            <a:extLst>
              <a:ext uri="{FF2B5EF4-FFF2-40B4-BE49-F238E27FC236}">
                <a16:creationId xmlns:a16="http://schemas.microsoft.com/office/drawing/2014/main" id="{530FB611-68B1-4B6D-BD03-0F786D6143CA}"/>
              </a:ext>
            </a:extLst>
          </p:cNvPr>
          <p:cNvSpPr>
            <a:spLocks noGrp="1"/>
          </p:cNvSpPr>
          <p:nvPr/>
        </p:nvSpPr>
        <p:spPr>
          <a:xfrm>
            <a:off x="1962150" y="1838325"/>
            <a:ext cx="647700" cy="95250"/>
          </a:xfrm>
          <a:prstGeom prst="roundRect">
            <a:avLst>
              <a:gd name="adj" fmla="val 50000"/>
            </a:avLst>
          </a:prstGeom>
          <a:solidFill>
            <a:srgbClr val="0B1220"/>
          </a:solidFill>
          <a:ln w="0">
            <a:solidFill>
              <a:srgbClr val="0B1220"/>
            </a:solidFill>
            <a:prstDash val="solid"/>
          </a:ln>
        </p:spPr>
      </p:sp>
      <p:sp>
        <p:nvSpPr>
          <p:cNvPr id="10" name="Rectangle 9">
            <a:extLst>
              <a:ext uri="{FF2B5EF4-FFF2-40B4-BE49-F238E27FC236}">
                <a16:creationId xmlns:a16="http://schemas.microsoft.com/office/drawing/2014/main" id="{722D4825-5AB3-454D-B612-E3F92779A90A}"/>
              </a:ext>
            </a:extLst>
          </p:cNvPr>
          <p:cNvSpPr>
            <a:spLocks noGrp="1"/>
          </p:cNvSpPr>
          <p:nvPr/>
        </p:nvSpPr>
        <p:spPr>
          <a:xfrm>
            <a:off x="1371600" y="2152650"/>
            <a:ext cx="1828800" cy="247650"/>
          </a:xfrm>
          <a:prstGeom prst="rect">
            <a:avLst/>
          </a:prstGeom>
          <a:noFill/>
          <a:ln w="0">
            <a:noFill/>
            <a:prstDash val="solid"/>
          </a:ln>
        </p:spPr>
        <p:txBody>
          <a:bodyPr lIns="0" tIns="0" rIns="0" bIns="0" anchor="t">
            <a:normAutofit/>
          </a:bodyPr>
          <a:lstStyle/>
          <a:p>
            <a:pPr algn="l">
              <a:buNone/>
              <a:defRPr sz="1200" b="1">
                <a:solidFill>
                  <a:srgbClr val="0F2A43"/>
                </a:solidFill>
                <a:latin typeface="Arial"/>
                <a:ea typeface="Arial"/>
                <a:cs typeface="Arial"/>
              </a:defRPr>
            </a:pPr>
            <a:r>
              <a:rPr sz="1200" b="1">
                <a:solidFill>
                  <a:srgbClr val="0F2A43"/>
                </a:solidFill>
                <a:latin typeface="Arial"/>
                <a:ea typeface="Arial"/>
                <a:cs typeface="Arial"/>
              </a:rPr>
              <a:t>Practice</a:t>
            </a:r>
          </a:p>
        </p:txBody>
      </p:sp>
      <p:sp>
        <p:nvSpPr>
          <p:cNvPr id="11" name="Rectangle: Rounded Corners 10">
            <a:extLst>
              <a:ext uri="{FF2B5EF4-FFF2-40B4-BE49-F238E27FC236}">
                <a16:creationId xmlns:a16="http://schemas.microsoft.com/office/drawing/2014/main" id="{11556868-5730-4242-83F4-22D01B922420}"/>
              </a:ext>
            </a:extLst>
          </p:cNvPr>
          <p:cNvSpPr>
            <a:spLocks noGrp="1"/>
          </p:cNvSpPr>
          <p:nvPr/>
        </p:nvSpPr>
        <p:spPr>
          <a:xfrm>
            <a:off x="1333500" y="2571750"/>
            <a:ext cx="1905000" cy="514350"/>
          </a:xfrm>
          <a:prstGeom prst="roundRect">
            <a:avLst>
              <a:gd name="adj" fmla="val 14815"/>
            </a:avLst>
          </a:prstGeom>
          <a:solidFill>
            <a:srgbClr val="F2F7FA"/>
          </a:solidFill>
          <a:ln w="9525">
            <a:solidFill>
              <a:srgbClr val="D7E0E8"/>
            </a:solidFill>
            <a:prstDash val="solid"/>
          </a:ln>
        </p:spPr>
      </p:sp>
      <p:sp>
        <p:nvSpPr>
          <p:cNvPr id="12" name="Rectangle 11">
            <a:extLst>
              <a:ext uri="{FF2B5EF4-FFF2-40B4-BE49-F238E27FC236}">
                <a16:creationId xmlns:a16="http://schemas.microsoft.com/office/drawing/2014/main" id="{A27EAD05-FD1C-48B3-93AF-9369303F276F}"/>
              </a:ext>
            </a:extLst>
          </p:cNvPr>
          <p:cNvSpPr>
            <a:spLocks noGrp="1"/>
          </p:cNvSpPr>
          <p:nvPr/>
        </p:nvSpPr>
        <p:spPr>
          <a:xfrm>
            <a:off x="1428750" y="2686050"/>
            <a:ext cx="1714500" cy="304800"/>
          </a:xfrm>
          <a:prstGeom prst="rect">
            <a:avLst/>
          </a:prstGeom>
          <a:noFill/>
          <a:ln w="0">
            <a:noFill/>
            <a:prstDash val="solid"/>
          </a:ln>
        </p:spPr>
        <p:txBody>
          <a:bodyPr lIns="0" tIns="0" rIns="0" bIns="0" anchor="t">
            <a:normAutofit/>
          </a:bodyPr>
          <a:lstStyle/>
          <a:p>
            <a:pPr algn="l">
              <a:buNone/>
              <a:defRPr sz="1050" b="0">
                <a:solidFill>
                  <a:srgbClr val="0B1220"/>
                </a:solidFill>
                <a:latin typeface="Arial"/>
                <a:ea typeface="Arial"/>
                <a:cs typeface="Arial"/>
              </a:defRPr>
            </a:pPr>
            <a:r>
              <a:rPr sz="1050" b="0">
                <a:solidFill>
                  <a:srgbClr val="0B1220"/>
                </a:solidFill>
                <a:latin typeface="Arial"/>
                <a:ea typeface="Arial"/>
                <a:cs typeface="Arial"/>
              </a:rPr>
              <a:t>Algebra / medium</a:t>
            </a:r>
          </a:p>
        </p:txBody>
      </p:sp>
      <p:sp>
        <p:nvSpPr>
          <p:cNvPr id="13" name="Rectangle: Rounded Corners 12">
            <a:extLst>
              <a:ext uri="{FF2B5EF4-FFF2-40B4-BE49-F238E27FC236}">
                <a16:creationId xmlns:a16="http://schemas.microsoft.com/office/drawing/2014/main" id="{F8BDE239-0F8F-4911-A2A9-C03C4D8F9A4C}"/>
              </a:ext>
            </a:extLst>
          </p:cNvPr>
          <p:cNvSpPr>
            <a:spLocks noGrp="1"/>
          </p:cNvSpPr>
          <p:nvPr/>
        </p:nvSpPr>
        <p:spPr>
          <a:xfrm>
            <a:off x="1333500" y="3238500"/>
            <a:ext cx="1905000" cy="514350"/>
          </a:xfrm>
          <a:prstGeom prst="roundRect">
            <a:avLst>
              <a:gd name="adj" fmla="val 14815"/>
            </a:avLst>
          </a:prstGeom>
          <a:solidFill>
            <a:srgbClr val="F2F7FA"/>
          </a:solidFill>
          <a:ln w="9525">
            <a:solidFill>
              <a:srgbClr val="D7E0E8"/>
            </a:solidFill>
            <a:prstDash val="solid"/>
          </a:ln>
        </p:spPr>
      </p:sp>
      <p:sp>
        <p:nvSpPr>
          <p:cNvPr id="14" name="Rectangle 13">
            <a:extLst>
              <a:ext uri="{FF2B5EF4-FFF2-40B4-BE49-F238E27FC236}">
                <a16:creationId xmlns:a16="http://schemas.microsoft.com/office/drawing/2014/main" id="{229EF05A-9D06-4CD8-B1A1-274E4E08E3DE}"/>
              </a:ext>
            </a:extLst>
          </p:cNvPr>
          <p:cNvSpPr>
            <a:spLocks noGrp="1"/>
          </p:cNvSpPr>
          <p:nvPr/>
        </p:nvSpPr>
        <p:spPr>
          <a:xfrm>
            <a:off x="1428750" y="3352800"/>
            <a:ext cx="1714500" cy="304800"/>
          </a:xfrm>
          <a:prstGeom prst="rect">
            <a:avLst/>
          </a:prstGeom>
          <a:noFill/>
          <a:ln w="0">
            <a:noFill/>
            <a:prstDash val="solid"/>
          </a:ln>
        </p:spPr>
        <p:txBody>
          <a:bodyPr lIns="0" tIns="0" rIns="0" bIns="0" anchor="t">
            <a:normAutofit/>
          </a:bodyPr>
          <a:lstStyle/>
          <a:p>
            <a:pPr algn="l">
              <a:buNone/>
              <a:defRPr sz="1050" b="0">
                <a:solidFill>
                  <a:srgbClr val="0B1220"/>
                </a:solidFill>
                <a:latin typeface="Arial"/>
                <a:ea typeface="Arial"/>
                <a:cs typeface="Arial"/>
              </a:defRPr>
            </a:pPr>
            <a:r>
              <a:rPr sz="1050" b="0">
                <a:solidFill>
                  <a:srgbClr val="0B1220"/>
                </a:solidFill>
                <a:latin typeface="Arial"/>
                <a:ea typeface="Arial"/>
                <a:cs typeface="Arial"/>
              </a:rPr>
              <a:t>Choose a step</a:t>
            </a:r>
          </a:p>
        </p:txBody>
      </p:sp>
      <p:sp>
        <p:nvSpPr>
          <p:cNvPr id="15" name="Rectangle: Rounded Corners 14">
            <a:extLst>
              <a:ext uri="{FF2B5EF4-FFF2-40B4-BE49-F238E27FC236}">
                <a16:creationId xmlns:a16="http://schemas.microsoft.com/office/drawing/2014/main" id="{51CB7474-7BBD-4152-82B9-E9E6339FB992}"/>
              </a:ext>
            </a:extLst>
          </p:cNvPr>
          <p:cNvSpPr>
            <a:spLocks noGrp="1"/>
          </p:cNvSpPr>
          <p:nvPr/>
        </p:nvSpPr>
        <p:spPr>
          <a:xfrm>
            <a:off x="1333500" y="3905250"/>
            <a:ext cx="1905000" cy="514350"/>
          </a:xfrm>
          <a:prstGeom prst="roundRect">
            <a:avLst>
              <a:gd name="adj" fmla="val 14815"/>
            </a:avLst>
          </a:prstGeom>
          <a:solidFill>
            <a:srgbClr val="F2F7FA"/>
          </a:solidFill>
          <a:ln w="9525">
            <a:solidFill>
              <a:srgbClr val="D7E0E8"/>
            </a:solidFill>
            <a:prstDash val="solid"/>
          </a:ln>
        </p:spPr>
      </p:sp>
      <p:sp>
        <p:nvSpPr>
          <p:cNvPr id="16" name="Rectangle 15">
            <a:extLst>
              <a:ext uri="{FF2B5EF4-FFF2-40B4-BE49-F238E27FC236}">
                <a16:creationId xmlns:a16="http://schemas.microsoft.com/office/drawing/2014/main" id="{B7023858-830A-4335-B7F9-C273972ABA6A}"/>
              </a:ext>
            </a:extLst>
          </p:cNvPr>
          <p:cNvSpPr>
            <a:spLocks noGrp="1"/>
          </p:cNvSpPr>
          <p:nvPr/>
        </p:nvSpPr>
        <p:spPr>
          <a:xfrm>
            <a:off x="1428750" y="4019550"/>
            <a:ext cx="1714500" cy="304800"/>
          </a:xfrm>
          <a:prstGeom prst="rect">
            <a:avLst/>
          </a:prstGeom>
          <a:noFill/>
          <a:ln w="0">
            <a:noFill/>
            <a:prstDash val="solid"/>
          </a:ln>
        </p:spPr>
        <p:txBody>
          <a:bodyPr lIns="0" tIns="0" rIns="0" bIns="0" anchor="t">
            <a:normAutofit/>
          </a:bodyPr>
          <a:lstStyle/>
          <a:p>
            <a:pPr algn="l">
              <a:buNone/>
              <a:defRPr sz="1050" b="0">
                <a:solidFill>
                  <a:srgbClr val="0B1220"/>
                </a:solidFill>
                <a:latin typeface="Arial"/>
                <a:ea typeface="Arial"/>
                <a:cs typeface="Arial"/>
              </a:defRPr>
            </a:pPr>
            <a:r>
              <a:rPr sz="1050" b="0">
                <a:solidFill>
                  <a:srgbClr val="0B1220"/>
                </a:solidFill>
                <a:latin typeface="Arial"/>
                <a:ea typeface="Arial"/>
                <a:cs typeface="Arial"/>
              </a:rPr>
              <a:t>Instant feedback</a:t>
            </a:r>
          </a:p>
        </p:txBody>
      </p:sp>
      <p:sp>
        <p:nvSpPr>
          <p:cNvPr id="17" name="Rectangle: Rounded Corners 16">
            <a:extLst>
              <a:ext uri="{FF2B5EF4-FFF2-40B4-BE49-F238E27FC236}">
                <a16:creationId xmlns:a16="http://schemas.microsoft.com/office/drawing/2014/main" id="{0BE4A83D-F0F5-4A92-A716-0B7E49522184}"/>
              </a:ext>
            </a:extLst>
          </p:cNvPr>
          <p:cNvSpPr>
            <a:spLocks noGrp="1"/>
          </p:cNvSpPr>
          <p:nvPr/>
        </p:nvSpPr>
        <p:spPr>
          <a:xfrm>
            <a:off x="1333500" y="4572000"/>
            <a:ext cx="1905000" cy="514350"/>
          </a:xfrm>
          <a:prstGeom prst="roundRect">
            <a:avLst>
              <a:gd name="adj" fmla="val 14815"/>
            </a:avLst>
          </a:prstGeom>
          <a:solidFill>
            <a:srgbClr val="FFF3E8"/>
          </a:solidFill>
          <a:ln w="9525">
            <a:solidFill>
              <a:srgbClr val="D7E0E8"/>
            </a:solidFill>
            <a:prstDash val="solid"/>
          </a:ln>
        </p:spPr>
      </p:sp>
      <p:sp>
        <p:nvSpPr>
          <p:cNvPr id="18" name="Rectangle 17">
            <a:extLst>
              <a:ext uri="{FF2B5EF4-FFF2-40B4-BE49-F238E27FC236}">
                <a16:creationId xmlns:a16="http://schemas.microsoft.com/office/drawing/2014/main" id="{20B87868-9A10-4566-A271-937932FF5351}"/>
              </a:ext>
            </a:extLst>
          </p:cNvPr>
          <p:cNvSpPr>
            <a:spLocks noGrp="1"/>
          </p:cNvSpPr>
          <p:nvPr/>
        </p:nvSpPr>
        <p:spPr>
          <a:xfrm>
            <a:off x="1428750" y="4686300"/>
            <a:ext cx="1714500" cy="304800"/>
          </a:xfrm>
          <a:prstGeom prst="rect">
            <a:avLst/>
          </a:prstGeom>
          <a:noFill/>
          <a:ln w="0">
            <a:noFill/>
            <a:prstDash val="solid"/>
          </a:ln>
        </p:spPr>
        <p:txBody>
          <a:bodyPr lIns="0" tIns="0" rIns="0" bIns="0" anchor="t">
            <a:normAutofit/>
          </a:bodyPr>
          <a:lstStyle/>
          <a:p>
            <a:pPr algn="l">
              <a:buNone/>
              <a:defRPr sz="1050" b="0">
                <a:solidFill>
                  <a:srgbClr val="FF9B45"/>
                </a:solidFill>
                <a:latin typeface="Arial"/>
                <a:ea typeface="Arial"/>
                <a:cs typeface="Arial"/>
              </a:defRPr>
            </a:pPr>
            <a:r>
              <a:rPr sz="1050" b="0">
                <a:solidFill>
                  <a:srgbClr val="FF9B45"/>
                </a:solidFill>
                <a:latin typeface="Arial"/>
                <a:ea typeface="Arial"/>
                <a:cs typeface="Arial"/>
              </a:rPr>
              <a:t>Try a similar problem</a:t>
            </a:r>
          </a:p>
        </p:txBody>
      </p:sp>
      <p:sp>
        <p:nvSpPr>
          <p:cNvPr id="19" name="Oval 18">
            <a:extLst>
              <a:ext uri="{FF2B5EF4-FFF2-40B4-BE49-F238E27FC236}">
                <a16:creationId xmlns:a16="http://schemas.microsoft.com/office/drawing/2014/main" id="{98DF0FDF-6770-49E5-944C-8D14CDEEF7DD}"/>
              </a:ext>
            </a:extLst>
          </p:cNvPr>
          <p:cNvSpPr>
            <a:spLocks noGrp="1"/>
          </p:cNvSpPr>
          <p:nvPr/>
        </p:nvSpPr>
        <p:spPr>
          <a:xfrm>
            <a:off x="2247900" y="5772150"/>
            <a:ext cx="76200" cy="76200"/>
          </a:xfrm>
          <a:prstGeom prst="ellipse">
            <a:avLst/>
          </a:prstGeom>
          <a:solidFill>
            <a:srgbClr val="0DA6A6"/>
          </a:solidFill>
          <a:ln w="0">
            <a:solidFill>
              <a:srgbClr val="0DA6A6"/>
            </a:solidFill>
            <a:prstDash val="solid"/>
          </a:ln>
        </p:spPr>
      </p:sp>
      <p:sp>
        <p:nvSpPr>
          <p:cNvPr id="21" name="Rectangle 20">
            <a:extLst>
              <a:ext uri="{FF2B5EF4-FFF2-40B4-BE49-F238E27FC236}">
                <a16:creationId xmlns:a16="http://schemas.microsoft.com/office/drawing/2014/main" id="{5032961D-1141-4BAE-A16E-58A4E8215E8C}"/>
              </a:ext>
            </a:extLst>
          </p:cNvPr>
          <p:cNvSpPr>
            <a:spLocks noGrp="1"/>
          </p:cNvSpPr>
          <p:nvPr/>
        </p:nvSpPr>
        <p:spPr>
          <a:xfrm>
            <a:off x="4886031" y="2152650"/>
            <a:ext cx="2711974" cy="3276600"/>
          </a:xfrm>
          <a:prstGeom prst="rect">
            <a:avLst/>
          </a:prstGeom>
          <a:noFill/>
          <a:ln w="0">
            <a:noFill/>
            <a:prstDash val="solid"/>
          </a:ln>
        </p:spPr>
        <p:txBody>
          <a:bodyPr lIns="0" tIns="0" rIns="0" bIns="0" anchor="t">
            <a:normAutofit fontScale="85000" lnSpcReduction="20000"/>
          </a:bodyPr>
          <a:lstStyle/>
          <a:p>
            <a:pPr algn="ctr"/>
            <a:r>
              <a:rPr lang="en-US" sz="1600" b="1" dirty="0"/>
              <a:t>Lesson</a:t>
            </a:r>
            <a:br>
              <a:rPr lang="en-US" sz="1600" dirty="0"/>
            </a:br>
            <a:r>
              <a:rPr lang="en-US" sz="1600" dirty="0"/>
              <a:t>Students study a topic through the learning journey.</a:t>
            </a:r>
          </a:p>
          <a:p>
            <a:pPr algn="ctr"/>
            <a:r>
              <a:rPr lang="en-US" sz="1600" dirty="0"/>
              <a:t>↓</a:t>
            </a:r>
          </a:p>
          <a:p>
            <a:pPr algn="ctr"/>
            <a:r>
              <a:rPr lang="en-US" sz="1600" b="1" dirty="0"/>
              <a:t>AI Tutor</a:t>
            </a:r>
            <a:br>
              <a:rPr lang="en-US" sz="1600" dirty="0"/>
            </a:br>
            <a:r>
              <a:rPr lang="en-US" sz="1600" dirty="0"/>
              <a:t>Students ask for additional explanation when they are unsure.</a:t>
            </a:r>
          </a:p>
          <a:p>
            <a:pPr algn="ctr"/>
            <a:r>
              <a:rPr lang="en-US" sz="1600" dirty="0"/>
              <a:t>↓</a:t>
            </a:r>
          </a:p>
          <a:p>
            <a:pPr algn="ctr"/>
            <a:r>
              <a:rPr lang="en-US" sz="1600" b="1" dirty="0"/>
              <a:t>Practice</a:t>
            </a:r>
            <a:br>
              <a:rPr lang="en-US" sz="1600" dirty="0"/>
            </a:br>
            <a:r>
              <a:rPr lang="en-US" sz="1600" dirty="0"/>
              <a:t>Students complete a short learning activity.</a:t>
            </a:r>
          </a:p>
          <a:p>
            <a:pPr algn="ctr"/>
            <a:r>
              <a:rPr lang="en-US" sz="1600" dirty="0"/>
              <a:t>↓</a:t>
            </a:r>
          </a:p>
          <a:p>
            <a:pPr algn="ctr"/>
            <a:r>
              <a:rPr lang="en-US" sz="1600" b="1" dirty="0"/>
              <a:t>Feedback</a:t>
            </a:r>
            <a:br>
              <a:rPr lang="en-US" sz="1600" dirty="0"/>
            </a:br>
            <a:r>
              <a:rPr lang="en-US" sz="1600" dirty="0"/>
              <a:t>The system shows the result and explains mistakes.</a:t>
            </a:r>
          </a:p>
          <a:p>
            <a:pPr algn="ctr"/>
            <a:r>
              <a:rPr lang="en-US" sz="1600" dirty="0"/>
              <a:t>↓</a:t>
            </a:r>
          </a:p>
          <a:p>
            <a:pPr algn="ctr"/>
            <a:r>
              <a:rPr lang="en-US" sz="1600" b="1" dirty="0"/>
              <a:t>Progress</a:t>
            </a:r>
            <a:br>
              <a:rPr lang="en-US" sz="1600" dirty="0"/>
            </a:br>
            <a:r>
              <a:rPr lang="en-US" sz="1600" dirty="0"/>
              <a:t>XP, mission progress and learning statistics are updated.</a:t>
            </a:r>
          </a:p>
        </p:txBody>
      </p:sp>
      <p:sp>
        <p:nvSpPr>
          <p:cNvPr id="23" name="Rectangle 22">
            <a:extLst>
              <a:ext uri="{FF2B5EF4-FFF2-40B4-BE49-F238E27FC236}">
                <a16:creationId xmlns:a16="http://schemas.microsoft.com/office/drawing/2014/main" id="{D66DC1AB-DF07-4EE2-AA65-5C6E864314C4}"/>
              </a:ext>
            </a:extLst>
          </p:cNvPr>
          <p:cNvSpPr>
            <a:spLocks noGrp="1"/>
          </p:cNvSpPr>
          <p:nvPr/>
        </p:nvSpPr>
        <p:spPr>
          <a:xfrm>
            <a:off x="8096249" y="2152650"/>
            <a:ext cx="3263049" cy="3371850"/>
          </a:xfrm>
          <a:prstGeom prst="rect">
            <a:avLst/>
          </a:prstGeom>
          <a:noFill/>
          <a:ln w="0">
            <a:noFill/>
            <a:prstDash val="solid"/>
          </a:ln>
        </p:spPr>
        <p:txBody>
          <a:bodyPr lIns="0" tIns="0" rIns="0" bIns="0" anchor="t">
            <a:normAutofit fontScale="92500" lnSpcReduction="10000"/>
          </a:bodyPr>
          <a:lstStyle/>
          <a:p>
            <a:pPr>
              <a:defRPr sz="1500" b="0">
                <a:solidFill>
                  <a:srgbClr val="0B1220"/>
                </a:solidFill>
                <a:latin typeface="Arial"/>
                <a:ea typeface="Arial"/>
                <a:cs typeface="Arial"/>
              </a:defRPr>
            </a:pPr>
            <a:r>
              <a:rPr lang="en-US" sz="1600" b="1" dirty="0">
                <a:solidFill>
                  <a:srgbClr val="0B1220"/>
                </a:solidFill>
                <a:ea typeface="Arial"/>
                <a:cs typeface="Arial"/>
              </a:rPr>
              <a:t>Supported Practice Types</a:t>
            </a:r>
          </a:p>
          <a:p>
            <a:pPr>
              <a:defRPr sz="1500" b="0">
                <a:solidFill>
                  <a:srgbClr val="0B1220"/>
                </a:solidFill>
                <a:latin typeface="Arial"/>
                <a:ea typeface="Arial"/>
                <a:cs typeface="Arial"/>
              </a:defRPr>
            </a:pPr>
            <a:endParaRPr lang="en-US" sz="1600" dirty="0">
              <a:solidFill>
                <a:srgbClr val="0B1220"/>
              </a:solidFill>
              <a:ea typeface="Arial"/>
              <a:cs typeface="Arial"/>
            </a:endParaRPr>
          </a:p>
          <a:p>
            <a:pPr>
              <a:defRPr sz="1500" b="0">
                <a:solidFill>
                  <a:srgbClr val="0B1220"/>
                </a:solidFill>
                <a:latin typeface="Arial"/>
                <a:ea typeface="Arial"/>
                <a:cs typeface="Arial"/>
              </a:defRPr>
            </a:pPr>
            <a:r>
              <a:rPr lang="en-US" sz="1600" dirty="0">
                <a:solidFill>
                  <a:srgbClr val="0B1220"/>
                </a:solidFill>
                <a:ea typeface="Arial"/>
                <a:cs typeface="Arial"/>
              </a:rPr>
              <a:t>Multiple-choice questions</a:t>
            </a:r>
          </a:p>
          <a:p>
            <a:pPr>
              <a:defRPr sz="1500" b="0">
                <a:solidFill>
                  <a:srgbClr val="0B1220"/>
                </a:solidFill>
                <a:latin typeface="Arial"/>
                <a:ea typeface="Arial"/>
                <a:cs typeface="Arial"/>
              </a:defRPr>
            </a:pPr>
            <a:r>
              <a:rPr lang="en-US" sz="1600" dirty="0">
                <a:solidFill>
                  <a:srgbClr val="0B1220"/>
                </a:solidFill>
                <a:ea typeface="Arial"/>
                <a:cs typeface="Arial"/>
              </a:rPr>
              <a:t>Short-answer questions</a:t>
            </a:r>
          </a:p>
          <a:p>
            <a:pPr>
              <a:defRPr sz="1500" b="0">
                <a:solidFill>
                  <a:srgbClr val="0B1220"/>
                </a:solidFill>
                <a:latin typeface="Arial"/>
                <a:ea typeface="Arial"/>
                <a:cs typeface="Arial"/>
              </a:defRPr>
            </a:pPr>
            <a:r>
              <a:rPr lang="en-US" sz="1600" dirty="0">
                <a:solidFill>
                  <a:srgbClr val="0B1220"/>
                </a:solidFill>
                <a:ea typeface="Arial"/>
                <a:cs typeface="Arial"/>
              </a:rPr>
              <a:t>Fill-in-the-blank activities</a:t>
            </a:r>
          </a:p>
          <a:p>
            <a:pPr>
              <a:defRPr sz="1500" b="0">
                <a:solidFill>
                  <a:srgbClr val="0B1220"/>
                </a:solidFill>
                <a:latin typeface="Arial"/>
                <a:ea typeface="Arial"/>
                <a:cs typeface="Arial"/>
              </a:defRPr>
            </a:pPr>
            <a:r>
              <a:rPr lang="en-US" sz="1600" dirty="0">
                <a:solidFill>
                  <a:srgbClr val="0B1220"/>
                </a:solidFill>
                <a:ea typeface="Arial"/>
                <a:cs typeface="Arial"/>
              </a:rPr>
              <a:t>Lesson review exercises</a:t>
            </a:r>
          </a:p>
          <a:p>
            <a:pPr>
              <a:defRPr sz="1500" b="0">
                <a:solidFill>
                  <a:srgbClr val="0B1220"/>
                </a:solidFill>
                <a:latin typeface="Arial"/>
                <a:ea typeface="Arial"/>
                <a:cs typeface="Arial"/>
              </a:defRPr>
            </a:pPr>
            <a:r>
              <a:rPr lang="en-US" sz="1600" dirty="0">
                <a:solidFill>
                  <a:srgbClr val="0B1220"/>
                </a:solidFill>
                <a:ea typeface="Arial"/>
                <a:cs typeface="Arial"/>
              </a:rPr>
              <a:t>Daily learning missions</a:t>
            </a:r>
          </a:p>
          <a:p>
            <a:pPr>
              <a:defRPr sz="1500" b="0">
                <a:solidFill>
                  <a:srgbClr val="0B1220"/>
                </a:solidFill>
                <a:latin typeface="Arial"/>
                <a:ea typeface="Arial"/>
                <a:cs typeface="Arial"/>
              </a:defRPr>
            </a:pPr>
            <a:endParaRPr lang="en-US" sz="1600" b="0" dirty="0">
              <a:solidFill>
                <a:srgbClr val="0B1220"/>
              </a:solidFill>
              <a:ea typeface="Arial"/>
              <a:cs typeface="Arial"/>
            </a:endParaRPr>
          </a:p>
          <a:p>
            <a:r>
              <a:rPr lang="en-US" sz="1600" b="1" dirty="0"/>
              <a:t>Learning Response</a:t>
            </a:r>
            <a:endParaRPr lang="en-US" sz="1600" dirty="0"/>
          </a:p>
          <a:p>
            <a:r>
              <a:rPr lang="en-US" sz="1600" dirty="0"/>
              <a:t>Immediate correctness feedback </a:t>
            </a:r>
          </a:p>
          <a:p>
            <a:r>
              <a:rPr lang="en-US" sz="1600" dirty="0"/>
              <a:t>Explanation for incorrect answers </a:t>
            </a:r>
          </a:p>
          <a:p>
            <a:r>
              <a:rPr lang="en-US" sz="1600" dirty="0"/>
              <a:t>XP reward after completion </a:t>
            </a:r>
          </a:p>
          <a:p>
            <a:r>
              <a:rPr lang="en-US" sz="1600" dirty="0"/>
              <a:t>Daily mission progress updated </a:t>
            </a:r>
          </a:p>
          <a:p>
            <a:r>
              <a:rPr lang="en-US" sz="1600" dirty="0"/>
              <a:t>Recommendation for the next lesson </a:t>
            </a:r>
          </a:p>
          <a:p>
            <a:r>
              <a:rPr lang="en-US" sz="1600" dirty="0"/>
              <a:t>Suggested follow-up practice</a:t>
            </a:r>
          </a:p>
          <a:p>
            <a:pPr>
              <a:defRPr sz="1500" b="0">
                <a:solidFill>
                  <a:srgbClr val="0B1220"/>
                </a:solidFill>
                <a:latin typeface="Arial"/>
                <a:ea typeface="Arial"/>
                <a:cs typeface="Arial"/>
              </a:defRPr>
            </a:pPr>
            <a:endParaRPr sz="1600" b="0" dirty="0">
              <a:solidFill>
                <a:srgbClr val="0B1220"/>
              </a:solidFill>
              <a:latin typeface="Arial"/>
              <a:ea typeface="Arial"/>
              <a:cs typeface="Arial"/>
            </a:endParaRPr>
          </a:p>
        </p:txBody>
      </p:sp>
    </p:spTree>
    <p:extLst>
      <p:ext uri="{BB962C8B-B14F-4D97-AF65-F5344CB8AC3E}">
        <p14:creationId xmlns:p14="http://schemas.microsoft.com/office/powerpoint/2010/main" val="1103766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DF87707F-DDCD-4B4B-BFC9-E74B9C3D58A6}"/>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B3E4BC20-B06F-47F8-9B78-B2356DF7D589}"/>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15</a:t>
            </a:r>
          </a:p>
        </p:txBody>
      </p:sp>
      <p:sp>
        <p:nvSpPr>
          <p:cNvPr id="3" name="Rectangle 2">
            <a:extLst>
              <a:ext uri="{FF2B5EF4-FFF2-40B4-BE49-F238E27FC236}">
                <a16:creationId xmlns:a16="http://schemas.microsoft.com/office/drawing/2014/main" id="{EE3FED13-81CD-41F0-9357-E908913EB097}"/>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12410288-1FFB-4B0A-A131-508C53D23F34}"/>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9E29F10C-8ADD-47CC-A424-B28EB004A745}"/>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Progress tracking shows whether the product helps</a:t>
            </a:r>
          </a:p>
        </p:txBody>
      </p:sp>
      <p:sp>
        <p:nvSpPr>
          <p:cNvPr id="6" name="Rectangle 5">
            <a:extLst>
              <a:ext uri="{FF2B5EF4-FFF2-40B4-BE49-F238E27FC236}">
                <a16:creationId xmlns:a16="http://schemas.microsoft.com/office/drawing/2014/main" id="{90704B86-2612-4A5A-B0BE-EEEEBDD38827}"/>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Activity becomes useful when it creates a visible learning signal.</a:t>
            </a:r>
          </a:p>
        </p:txBody>
      </p:sp>
      <p:sp>
        <p:nvSpPr>
          <p:cNvPr id="7" name="Rectangle 6">
            <a:extLst>
              <a:ext uri="{FF2B5EF4-FFF2-40B4-BE49-F238E27FC236}">
                <a16:creationId xmlns:a16="http://schemas.microsoft.com/office/drawing/2014/main" id="{69911F9B-9102-467E-80C9-D00B056B2CBB}"/>
              </a:ext>
            </a:extLst>
          </p:cNvPr>
          <p:cNvSpPr>
            <a:spLocks noGrp="1"/>
          </p:cNvSpPr>
          <p:nvPr/>
        </p:nvSpPr>
        <p:spPr>
          <a:xfrm>
            <a:off x="1143000" y="4953000"/>
            <a:ext cx="4953000" cy="9525"/>
          </a:xfrm>
          <a:prstGeom prst="rect">
            <a:avLst/>
          </a:prstGeom>
          <a:solidFill>
            <a:srgbClr val="D7E0E8"/>
          </a:solidFill>
          <a:ln w="0">
            <a:solidFill>
              <a:srgbClr val="D7E0E8"/>
            </a:solidFill>
            <a:prstDash val="solid"/>
          </a:ln>
        </p:spPr>
      </p:sp>
      <p:sp>
        <p:nvSpPr>
          <p:cNvPr id="8" name="Rectangle 7">
            <a:extLst>
              <a:ext uri="{FF2B5EF4-FFF2-40B4-BE49-F238E27FC236}">
                <a16:creationId xmlns:a16="http://schemas.microsoft.com/office/drawing/2014/main" id="{2F59C085-1921-41E3-90ED-CC266B2133B1}"/>
              </a:ext>
            </a:extLst>
          </p:cNvPr>
          <p:cNvSpPr>
            <a:spLocks noGrp="1"/>
          </p:cNvSpPr>
          <p:nvPr/>
        </p:nvSpPr>
        <p:spPr>
          <a:xfrm>
            <a:off x="1143000" y="2952750"/>
            <a:ext cx="1066800" cy="2000250"/>
          </a:xfrm>
          <a:prstGeom prst="rect">
            <a:avLst/>
          </a:prstGeom>
          <a:solidFill>
            <a:srgbClr val="3D8DFF"/>
          </a:solidFill>
          <a:ln w="0">
            <a:solidFill>
              <a:srgbClr val="3D8DFF"/>
            </a:solidFill>
            <a:prstDash val="solid"/>
          </a:ln>
        </p:spPr>
      </p:sp>
      <p:sp>
        <p:nvSpPr>
          <p:cNvPr id="9" name="Rectangle 8">
            <a:extLst>
              <a:ext uri="{FF2B5EF4-FFF2-40B4-BE49-F238E27FC236}">
                <a16:creationId xmlns:a16="http://schemas.microsoft.com/office/drawing/2014/main" id="{DC3CA715-A0FA-4B01-8573-53798CCAAF98}"/>
              </a:ext>
            </a:extLst>
          </p:cNvPr>
          <p:cNvSpPr>
            <a:spLocks noGrp="1"/>
          </p:cNvSpPr>
          <p:nvPr/>
        </p:nvSpPr>
        <p:spPr>
          <a:xfrm>
            <a:off x="1143000" y="2686050"/>
            <a:ext cx="1066800" cy="209550"/>
          </a:xfrm>
          <a:prstGeom prst="rect">
            <a:avLst/>
          </a:prstGeom>
          <a:noFill/>
          <a:ln w="0">
            <a:noFill/>
            <a:prstDash val="solid"/>
          </a:ln>
        </p:spPr>
        <p:txBody>
          <a:bodyPr lIns="0" tIns="0" rIns="0" bIns="0" anchor="t">
            <a:normAutofit/>
          </a:bodyPr>
          <a:lstStyle/>
          <a:p>
            <a:pPr algn="ctr">
              <a:buNone/>
              <a:defRPr sz="1125" b="1">
                <a:solidFill>
                  <a:srgbClr val="0F2A43"/>
                </a:solidFill>
                <a:latin typeface="Arial"/>
                <a:ea typeface="Arial"/>
                <a:cs typeface="Arial"/>
              </a:defRPr>
            </a:pPr>
            <a:r>
              <a:rPr sz="1125" b="1">
                <a:solidFill>
                  <a:srgbClr val="0F2A43"/>
                </a:solidFill>
                <a:latin typeface="Arial"/>
                <a:ea typeface="Arial"/>
                <a:cs typeface="Arial"/>
              </a:rPr>
              <a:t>72</a:t>
            </a:r>
          </a:p>
        </p:txBody>
      </p:sp>
      <p:sp>
        <p:nvSpPr>
          <p:cNvPr id="10" name="Rectangle 9">
            <a:extLst>
              <a:ext uri="{FF2B5EF4-FFF2-40B4-BE49-F238E27FC236}">
                <a16:creationId xmlns:a16="http://schemas.microsoft.com/office/drawing/2014/main" id="{6E5FEA70-0CD8-4C4A-9150-0DCF8294FD88}"/>
              </a:ext>
            </a:extLst>
          </p:cNvPr>
          <p:cNvSpPr>
            <a:spLocks noGrp="1"/>
          </p:cNvSpPr>
          <p:nvPr/>
        </p:nvSpPr>
        <p:spPr>
          <a:xfrm>
            <a:off x="1066800" y="5067300"/>
            <a:ext cx="1219200" cy="247650"/>
          </a:xfrm>
          <a:prstGeom prst="rect">
            <a:avLst/>
          </a:prstGeom>
          <a:noFill/>
          <a:ln w="0">
            <a:noFill/>
            <a:prstDash val="solid"/>
          </a:ln>
        </p:spPr>
        <p:txBody>
          <a:bodyPr lIns="0" tIns="0" rIns="0" bIns="0" anchor="t">
            <a:normAutofit/>
          </a:bodyPr>
          <a:lstStyle/>
          <a:p>
            <a:pPr algn="ctr">
              <a:buNone/>
              <a:defRPr sz="1050" b="0">
                <a:solidFill>
                  <a:srgbClr val="586879"/>
                </a:solidFill>
                <a:latin typeface="Arial"/>
                <a:ea typeface="Arial"/>
                <a:cs typeface="Arial"/>
              </a:defRPr>
            </a:pPr>
            <a:r>
              <a:rPr sz="1050" b="0">
                <a:solidFill>
                  <a:srgbClr val="586879"/>
                </a:solidFill>
                <a:latin typeface="Arial"/>
                <a:ea typeface="Arial"/>
                <a:cs typeface="Arial"/>
              </a:rPr>
              <a:t>Questions</a:t>
            </a:r>
          </a:p>
        </p:txBody>
      </p:sp>
      <p:sp>
        <p:nvSpPr>
          <p:cNvPr id="11" name="Rectangle 10">
            <a:extLst>
              <a:ext uri="{FF2B5EF4-FFF2-40B4-BE49-F238E27FC236}">
                <a16:creationId xmlns:a16="http://schemas.microsoft.com/office/drawing/2014/main" id="{009D1576-B954-4B92-996E-38A1640ECD34}"/>
              </a:ext>
            </a:extLst>
          </p:cNvPr>
          <p:cNvSpPr>
            <a:spLocks noGrp="1"/>
          </p:cNvSpPr>
          <p:nvPr/>
        </p:nvSpPr>
        <p:spPr>
          <a:xfrm>
            <a:off x="2438400" y="3175000"/>
            <a:ext cx="1066800" cy="1778000"/>
          </a:xfrm>
          <a:prstGeom prst="rect">
            <a:avLst/>
          </a:prstGeom>
          <a:solidFill>
            <a:srgbClr val="6DCBF4"/>
          </a:solidFill>
          <a:ln w="0">
            <a:solidFill>
              <a:srgbClr val="6DCBF4"/>
            </a:solidFill>
            <a:prstDash val="solid"/>
          </a:ln>
        </p:spPr>
      </p:sp>
      <p:sp>
        <p:nvSpPr>
          <p:cNvPr id="12" name="Rectangle 11">
            <a:extLst>
              <a:ext uri="{FF2B5EF4-FFF2-40B4-BE49-F238E27FC236}">
                <a16:creationId xmlns:a16="http://schemas.microsoft.com/office/drawing/2014/main" id="{A3C5C864-A93C-4F8F-963A-1F4F5FA66876}"/>
              </a:ext>
            </a:extLst>
          </p:cNvPr>
          <p:cNvSpPr>
            <a:spLocks noGrp="1"/>
          </p:cNvSpPr>
          <p:nvPr/>
        </p:nvSpPr>
        <p:spPr>
          <a:xfrm>
            <a:off x="2438400" y="2908300"/>
            <a:ext cx="1066800" cy="209550"/>
          </a:xfrm>
          <a:prstGeom prst="rect">
            <a:avLst/>
          </a:prstGeom>
          <a:noFill/>
          <a:ln w="0">
            <a:noFill/>
            <a:prstDash val="solid"/>
          </a:ln>
        </p:spPr>
        <p:txBody>
          <a:bodyPr lIns="0" tIns="0" rIns="0" bIns="0" anchor="t">
            <a:normAutofit/>
          </a:bodyPr>
          <a:lstStyle/>
          <a:p>
            <a:pPr algn="ctr">
              <a:buNone/>
              <a:defRPr sz="1125" b="1">
                <a:solidFill>
                  <a:srgbClr val="0F2A43"/>
                </a:solidFill>
                <a:latin typeface="Arial"/>
                <a:ea typeface="Arial"/>
                <a:cs typeface="Arial"/>
              </a:defRPr>
            </a:pPr>
            <a:r>
              <a:rPr sz="1125" b="1">
                <a:solidFill>
                  <a:srgbClr val="0F2A43"/>
                </a:solidFill>
                <a:latin typeface="Arial"/>
                <a:ea typeface="Arial"/>
                <a:cs typeface="Arial"/>
              </a:rPr>
              <a:t>64</a:t>
            </a:r>
          </a:p>
        </p:txBody>
      </p:sp>
      <p:sp>
        <p:nvSpPr>
          <p:cNvPr id="13" name="Rectangle 12">
            <a:extLst>
              <a:ext uri="{FF2B5EF4-FFF2-40B4-BE49-F238E27FC236}">
                <a16:creationId xmlns:a16="http://schemas.microsoft.com/office/drawing/2014/main" id="{055B9D58-61A3-4FBC-9202-9F2382C9B6B2}"/>
              </a:ext>
            </a:extLst>
          </p:cNvPr>
          <p:cNvSpPr>
            <a:spLocks noGrp="1"/>
          </p:cNvSpPr>
          <p:nvPr/>
        </p:nvSpPr>
        <p:spPr>
          <a:xfrm>
            <a:off x="2362200" y="5067300"/>
            <a:ext cx="1219200" cy="247650"/>
          </a:xfrm>
          <a:prstGeom prst="rect">
            <a:avLst/>
          </a:prstGeom>
          <a:noFill/>
          <a:ln w="0">
            <a:noFill/>
            <a:prstDash val="solid"/>
          </a:ln>
        </p:spPr>
        <p:txBody>
          <a:bodyPr lIns="0" tIns="0" rIns="0" bIns="0" anchor="t">
            <a:normAutofit/>
          </a:bodyPr>
          <a:lstStyle/>
          <a:p>
            <a:pPr algn="ctr">
              <a:buNone/>
              <a:defRPr sz="1050" b="0">
                <a:solidFill>
                  <a:srgbClr val="586879"/>
                </a:solidFill>
                <a:latin typeface="Arial"/>
                <a:ea typeface="Arial"/>
                <a:cs typeface="Arial"/>
              </a:defRPr>
            </a:pPr>
            <a:r>
              <a:rPr sz="1050" b="0">
                <a:solidFill>
                  <a:srgbClr val="586879"/>
                </a:solidFill>
                <a:latin typeface="Arial"/>
                <a:ea typeface="Arial"/>
                <a:cs typeface="Arial"/>
              </a:rPr>
              <a:t>Accuracy</a:t>
            </a:r>
          </a:p>
        </p:txBody>
      </p:sp>
      <p:sp>
        <p:nvSpPr>
          <p:cNvPr id="14" name="Rectangle 13">
            <a:extLst>
              <a:ext uri="{FF2B5EF4-FFF2-40B4-BE49-F238E27FC236}">
                <a16:creationId xmlns:a16="http://schemas.microsoft.com/office/drawing/2014/main" id="{6A54C4F3-3EAE-4AF1-8A29-D890DB81E376}"/>
              </a:ext>
            </a:extLst>
          </p:cNvPr>
          <p:cNvSpPr>
            <a:spLocks noGrp="1"/>
          </p:cNvSpPr>
          <p:nvPr/>
        </p:nvSpPr>
        <p:spPr>
          <a:xfrm>
            <a:off x="3733800" y="3619500"/>
            <a:ext cx="1066800" cy="1333500"/>
          </a:xfrm>
          <a:prstGeom prst="rect">
            <a:avLst/>
          </a:prstGeom>
          <a:solidFill>
            <a:srgbClr val="FF9B45"/>
          </a:solidFill>
          <a:ln w="0">
            <a:solidFill>
              <a:srgbClr val="FF9B45"/>
            </a:solidFill>
            <a:prstDash val="solid"/>
          </a:ln>
        </p:spPr>
      </p:sp>
      <p:sp>
        <p:nvSpPr>
          <p:cNvPr id="15" name="Rectangle 14">
            <a:extLst>
              <a:ext uri="{FF2B5EF4-FFF2-40B4-BE49-F238E27FC236}">
                <a16:creationId xmlns:a16="http://schemas.microsoft.com/office/drawing/2014/main" id="{951D9304-CEDB-4A33-BB26-B60BC38B19CC}"/>
              </a:ext>
            </a:extLst>
          </p:cNvPr>
          <p:cNvSpPr>
            <a:spLocks noGrp="1"/>
          </p:cNvSpPr>
          <p:nvPr/>
        </p:nvSpPr>
        <p:spPr>
          <a:xfrm>
            <a:off x="3733800" y="3352800"/>
            <a:ext cx="1066800" cy="209550"/>
          </a:xfrm>
          <a:prstGeom prst="rect">
            <a:avLst/>
          </a:prstGeom>
          <a:noFill/>
          <a:ln w="0">
            <a:noFill/>
            <a:prstDash val="solid"/>
          </a:ln>
        </p:spPr>
        <p:txBody>
          <a:bodyPr lIns="0" tIns="0" rIns="0" bIns="0" anchor="t">
            <a:normAutofit/>
          </a:bodyPr>
          <a:lstStyle/>
          <a:p>
            <a:pPr algn="ctr">
              <a:buNone/>
              <a:defRPr sz="1125" b="1">
                <a:solidFill>
                  <a:srgbClr val="0F2A43"/>
                </a:solidFill>
                <a:latin typeface="Arial"/>
                <a:ea typeface="Arial"/>
                <a:cs typeface="Arial"/>
              </a:defRPr>
            </a:pPr>
            <a:r>
              <a:rPr sz="1125" b="1">
                <a:solidFill>
                  <a:srgbClr val="0F2A43"/>
                </a:solidFill>
                <a:latin typeface="Arial"/>
                <a:ea typeface="Arial"/>
                <a:cs typeface="Arial"/>
              </a:rPr>
              <a:t>48</a:t>
            </a:r>
          </a:p>
        </p:txBody>
      </p:sp>
      <p:sp>
        <p:nvSpPr>
          <p:cNvPr id="16" name="Rectangle 15">
            <a:extLst>
              <a:ext uri="{FF2B5EF4-FFF2-40B4-BE49-F238E27FC236}">
                <a16:creationId xmlns:a16="http://schemas.microsoft.com/office/drawing/2014/main" id="{6085808C-0769-40DF-9915-810D19984FBD}"/>
              </a:ext>
            </a:extLst>
          </p:cNvPr>
          <p:cNvSpPr>
            <a:spLocks noGrp="1"/>
          </p:cNvSpPr>
          <p:nvPr/>
        </p:nvSpPr>
        <p:spPr>
          <a:xfrm>
            <a:off x="3657600" y="5067300"/>
            <a:ext cx="1219200" cy="247650"/>
          </a:xfrm>
          <a:prstGeom prst="rect">
            <a:avLst/>
          </a:prstGeom>
          <a:noFill/>
          <a:ln w="0">
            <a:noFill/>
            <a:prstDash val="solid"/>
          </a:ln>
        </p:spPr>
        <p:txBody>
          <a:bodyPr lIns="0" tIns="0" rIns="0" bIns="0" anchor="t">
            <a:normAutofit/>
          </a:bodyPr>
          <a:lstStyle/>
          <a:p>
            <a:pPr algn="ctr">
              <a:buNone/>
              <a:defRPr sz="1050" b="0">
                <a:solidFill>
                  <a:srgbClr val="586879"/>
                </a:solidFill>
                <a:latin typeface="Arial"/>
                <a:ea typeface="Arial"/>
                <a:cs typeface="Arial"/>
              </a:defRPr>
            </a:pPr>
            <a:r>
              <a:rPr sz="1050" b="0">
                <a:solidFill>
                  <a:srgbClr val="586879"/>
                </a:solidFill>
                <a:latin typeface="Arial"/>
                <a:ea typeface="Arial"/>
                <a:cs typeface="Arial"/>
              </a:rPr>
              <a:t>Review</a:t>
            </a:r>
          </a:p>
        </p:txBody>
      </p:sp>
      <p:sp>
        <p:nvSpPr>
          <p:cNvPr id="17" name="Rectangle 16">
            <a:extLst>
              <a:ext uri="{FF2B5EF4-FFF2-40B4-BE49-F238E27FC236}">
                <a16:creationId xmlns:a16="http://schemas.microsoft.com/office/drawing/2014/main" id="{328C598F-961A-4E35-8C12-E53358EF51A0}"/>
              </a:ext>
            </a:extLst>
          </p:cNvPr>
          <p:cNvSpPr>
            <a:spLocks noGrp="1"/>
          </p:cNvSpPr>
          <p:nvPr/>
        </p:nvSpPr>
        <p:spPr>
          <a:xfrm>
            <a:off x="5029200" y="3952875"/>
            <a:ext cx="1066800" cy="1000125"/>
          </a:xfrm>
          <a:prstGeom prst="rect">
            <a:avLst/>
          </a:prstGeom>
          <a:solidFill>
            <a:srgbClr val="0DA6A6"/>
          </a:solidFill>
          <a:ln w="0">
            <a:solidFill>
              <a:srgbClr val="0DA6A6"/>
            </a:solidFill>
            <a:prstDash val="solid"/>
          </a:ln>
        </p:spPr>
      </p:sp>
      <p:sp>
        <p:nvSpPr>
          <p:cNvPr id="18" name="Rectangle 17">
            <a:extLst>
              <a:ext uri="{FF2B5EF4-FFF2-40B4-BE49-F238E27FC236}">
                <a16:creationId xmlns:a16="http://schemas.microsoft.com/office/drawing/2014/main" id="{7B56F99E-A569-4C2C-855E-26A716FE2B97}"/>
              </a:ext>
            </a:extLst>
          </p:cNvPr>
          <p:cNvSpPr>
            <a:spLocks noGrp="1"/>
          </p:cNvSpPr>
          <p:nvPr/>
        </p:nvSpPr>
        <p:spPr>
          <a:xfrm>
            <a:off x="5029200" y="3686175"/>
            <a:ext cx="1066800" cy="209550"/>
          </a:xfrm>
          <a:prstGeom prst="rect">
            <a:avLst/>
          </a:prstGeom>
          <a:noFill/>
          <a:ln w="0">
            <a:noFill/>
            <a:prstDash val="solid"/>
          </a:ln>
        </p:spPr>
        <p:txBody>
          <a:bodyPr lIns="0" tIns="0" rIns="0" bIns="0" anchor="t">
            <a:normAutofit/>
          </a:bodyPr>
          <a:lstStyle/>
          <a:p>
            <a:pPr algn="ctr">
              <a:buNone/>
              <a:defRPr sz="1125" b="1">
                <a:solidFill>
                  <a:srgbClr val="0F2A43"/>
                </a:solidFill>
                <a:latin typeface="Arial"/>
                <a:ea typeface="Arial"/>
                <a:cs typeface="Arial"/>
              </a:defRPr>
            </a:pPr>
            <a:r>
              <a:rPr sz="1125" b="1">
                <a:solidFill>
                  <a:srgbClr val="0F2A43"/>
                </a:solidFill>
                <a:latin typeface="Arial"/>
                <a:ea typeface="Arial"/>
                <a:cs typeface="Arial"/>
              </a:rPr>
              <a:t>36</a:t>
            </a:r>
          </a:p>
        </p:txBody>
      </p:sp>
      <p:sp>
        <p:nvSpPr>
          <p:cNvPr id="19" name="Rectangle 18">
            <a:extLst>
              <a:ext uri="{FF2B5EF4-FFF2-40B4-BE49-F238E27FC236}">
                <a16:creationId xmlns:a16="http://schemas.microsoft.com/office/drawing/2014/main" id="{E502226F-B210-4D12-9591-5B974B29A21F}"/>
              </a:ext>
            </a:extLst>
          </p:cNvPr>
          <p:cNvSpPr>
            <a:spLocks noGrp="1"/>
          </p:cNvSpPr>
          <p:nvPr/>
        </p:nvSpPr>
        <p:spPr>
          <a:xfrm>
            <a:off x="4953000" y="5067300"/>
            <a:ext cx="1219200" cy="247650"/>
          </a:xfrm>
          <a:prstGeom prst="rect">
            <a:avLst/>
          </a:prstGeom>
          <a:noFill/>
          <a:ln w="0">
            <a:noFill/>
            <a:prstDash val="solid"/>
          </a:ln>
        </p:spPr>
        <p:txBody>
          <a:bodyPr lIns="0" tIns="0" rIns="0" bIns="0" anchor="t">
            <a:normAutofit/>
          </a:bodyPr>
          <a:lstStyle/>
          <a:p>
            <a:pPr algn="ctr">
              <a:buNone/>
              <a:defRPr sz="1050" b="0">
                <a:solidFill>
                  <a:srgbClr val="586879"/>
                </a:solidFill>
                <a:latin typeface="Arial"/>
                <a:ea typeface="Arial"/>
                <a:cs typeface="Arial"/>
              </a:defRPr>
            </a:pPr>
            <a:r>
              <a:rPr sz="1050" b="0">
                <a:solidFill>
                  <a:srgbClr val="586879"/>
                </a:solidFill>
                <a:latin typeface="Arial"/>
                <a:ea typeface="Arial"/>
                <a:cs typeface="Arial"/>
              </a:rPr>
              <a:t>Practice</a:t>
            </a:r>
          </a:p>
        </p:txBody>
      </p:sp>
      <p:sp>
        <p:nvSpPr>
          <p:cNvPr id="20" name="Rectangle 19">
            <a:extLst>
              <a:ext uri="{FF2B5EF4-FFF2-40B4-BE49-F238E27FC236}">
                <a16:creationId xmlns:a16="http://schemas.microsoft.com/office/drawing/2014/main" id="{A224676A-C959-4E45-9914-03F6751D8D5A}"/>
              </a:ext>
            </a:extLst>
          </p:cNvPr>
          <p:cNvSpPr>
            <a:spLocks noGrp="1"/>
          </p:cNvSpPr>
          <p:nvPr/>
        </p:nvSpPr>
        <p:spPr>
          <a:xfrm>
            <a:off x="7620000" y="2381250"/>
            <a:ext cx="2857500" cy="285750"/>
          </a:xfrm>
          <a:prstGeom prst="rect">
            <a:avLst/>
          </a:prstGeom>
          <a:noFill/>
          <a:ln w="0">
            <a:noFill/>
            <a:prstDash val="solid"/>
          </a:ln>
        </p:spPr>
        <p:txBody>
          <a:bodyPr lIns="0" tIns="0" rIns="0" bIns="0" anchor="t">
            <a:normAutofit/>
          </a:bodyPr>
          <a:lstStyle/>
          <a:p>
            <a:pPr algn="l">
              <a:buNone/>
              <a:defRPr sz="1725" b="1">
                <a:solidFill>
                  <a:srgbClr val="0F2A43"/>
                </a:solidFill>
                <a:latin typeface="Arial"/>
                <a:ea typeface="Arial"/>
                <a:cs typeface="Arial"/>
              </a:defRPr>
            </a:pPr>
            <a:r>
              <a:rPr sz="1725" b="1">
                <a:solidFill>
                  <a:srgbClr val="0F2A43"/>
                </a:solidFill>
                <a:latin typeface="Arial"/>
                <a:ea typeface="Arial"/>
                <a:cs typeface="Arial"/>
              </a:rPr>
              <a:t>Dashboard requirements</a:t>
            </a:r>
          </a:p>
        </p:txBody>
      </p:sp>
      <p:sp>
        <p:nvSpPr>
          <p:cNvPr id="21" name="Rectangle 20">
            <a:extLst>
              <a:ext uri="{FF2B5EF4-FFF2-40B4-BE49-F238E27FC236}">
                <a16:creationId xmlns:a16="http://schemas.microsoft.com/office/drawing/2014/main" id="{73640F88-1942-4E76-B7CF-CB6EDFAC0E7C}"/>
              </a:ext>
            </a:extLst>
          </p:cNvPr>
          <p:cNvSpPr>
            <a:spLocks noGrp="1"/>
          </p:cNvSpPr>
          <p:nvPr/>
        </p:nvSpPr>
        <p:spPr>
          <a:xfrm>
            <a:off x="7620000" y="2895600"/>
            <a:ext cx="3143250" cy="1714500"/>
          </a:xfrm>
          <a:prstGeom prst="rect">
            <a:avLst/>
          </a:prstGeom>
          <a:noFill/>
          <a:ln w="0">
            <a:noFill/>
            <a:prstDash val="solid"/>
          </a:ln>
        </p:spPr>
        <p:txBody>
          <a:bodyPr lIns="0" tIns="0" rIns="0" bIns="0" anchor="t">
            <a:normAutofit/>
          </a:bodyPr>
          <a:lstStyle/>
          <a:p>
            <a:pPr algn="l">
              <a:buNone/>
              <a:defRPr sz="1425" b="0">
                <a:solidFill>
                  <a:srgbClr val="0B1220"/>
                </a:solidFill>
                <a:latin typeface="Arial"/>
                <a:ea typeface="Arial"/>
                <a:cs typeface="Arial"/>
              </a:defRPr>
            </a:pPr>
            <a:r>
              <a:rPr sz="1425" b="0">
                <a:solidFill>
                  <a:srgbClr val="0B1220"/>
                </a:solidFill>
                <a:latin typeface="Arial"/>
                <a:ea typeface="Arial"/>
                <a:cs typeface="Arial"/>
              </a:rPr>
              <a:t>- Total questions asked</a:t>
            </a:r>
          </a:p>
          <a:p>
            <a:pPr algn="l">
              <a:buNone/>
              <a:defRPr sz="1425" b="0">
                <a:solidFill>
                  <a:srgbClr val="0B1220"/>
                </a:solidFill>
                <a:latin typeface="Arial"/>
                <a:ea typeface="Arial"/>
                <a:cs typeface="Arial"/>
              </a:defRPr>
            </a:pPr>
            <a:r>
              <a:rPr sz="1425" b="0">
                <a:solidFill>
                  <a:srgbClr val="0B1220"/>
                </a:solidFill>
                <a:latin typeface="Arial"/>
                <a:ea typeface="Arial"/>
                <a:cs typeface="Arial"/>
              </a:rPr>
              <a:t>- Most studied subjects</a:t>
            </a:r>
          </a:p>
          <a:p>
            <a:pPr algn="l">
              <a:buNone/>
              <a:defRPr sz="1425" b="0">
                <a:solidFill>
                  <a:srgbClr val="0B1220"/>
                </a:solidFill>
                <a:latin typeface="Arial"/>
                <a:ea typeface="Arial"/>
                <a:cs typeface="Arial"/>
              </a:defRPr>
            </a:pPr>
            <a:r>
              <a:rPr sz="1425" b="0">
                <a:solidFill>
                  <a:srgbClr val="0B1220"/>
                </a:solidFill>
                <a:latin typeface="Arial"/>
                <a:ea typeface="Arial"/>
                <a:cs typeface="Arial"/>
              </a:rPr>
              <a:t>- Quiz accuracy rate</a:t>
            </a:r>
          </a:p>
          <a:p>
            <a:pPr algn="l">
              <a:buNone/>
              <a:defRPr sz="1425" b="0">
                <a:solidFill>
                  <a:srgbClr val="0B1220"/>
                </a:solidFill>
                <a:latin typeface="Arial"/>
                <a:ea typeface="Arial"/>
                <a:cs typeface="Arial"/>
              </a:defRPr>
            </a:pPr>
            <a:r>
              <a:rPr sz="1425" b="0">
                <a:solidFill>
                  <a:srgbClr val="0B1220"/>
                </a:solidFill>
                <a:latin typeface="Arial"/>
                <a:ea typeface="Arial"/>
                <a:cs typeface="Arial"/>
              </a:rPr>
              <a:t>- Time spent reviewing</a:t>
            </a:r>
          </a:p>
          <a:p>
            <a:pPr algn="l">
              <a:buNone/>
              <a:defRPr sz="1425" b="0">
                <a:solidFill>
                  <a:srgbClr val="0B1220"/>
                </a:solidFill>
                <a:latin typeface="Arial"/>
                <a:ea typeface="Arial"/>
                <a:cs typeface="Arial"/>
              </a:defRPr>
            </a:pPr>
            <a:r>
              <a:rPr sz="1425" b="0">
                <a:solidFill>
                  <a:srgbClr val="0B1220"/>
                </a:solidFill>
                <a:latin typeface="Arial"/>
                <a:ea typeface="Arial"/>
                <a:cs typeface="Arial"/>
              </a:rPr>
              <a:t>- AI-generated insights</a:t>
            </a:r>
          </a:p>
        </p:txBody>
      </p:sp>
    </p:spTree>
    <p:extLst>
      <p:ext uri="{BB962C8B-B14F-4D97-AF65-F5344CB8AC3E}">
        <p14:creationId xmlns:p14="http://schemas.microsoft.com/office/powerpoint/2010/main" val="1316154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FEB0246-BAB9-4911-AD87-50388E0778D4}"/>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91E96B24-5231-4CB2-A1D6-42619F02DB54}"/>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16</a:t>
            </a:r>
          </a:p>
        </p:txBody>
      </p:sp>
      <p:sp>
        <p:nvSpPr>
          <p:cNvPr id="3" name="Rectangle 2">
            <a:extLst>
              <a:ext uri="{FF2B5EF4-FFF2-40B4-BE49-F238E27FC236}">
                <a16:creationId xmlns:a16="http://schemas.microsoft.com/office/drawing/2014/main" id="{2C2F88EF-5E60-4775-8E25-BE4D5540516F}"/>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05094B0E-D9C8-475A-9CA8-419D081F2775}"/>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9A057494-8BD4-4217-B876-F3BF13F9478E}"/>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Engagement should reinforce useful study behaviour</a:t>
            </a:r>
          </a:p>
        </p:txBody>
      </p:sp>
      <p:sp>
        <p:nvSpPr>
          <p:cNvPr id="6" name="Rectangle 5">
            <a:extLst>
              <a:ext uri="{FF2B5EF4-FFF2-40B4-BE49-F238E27FC236}">
                <a16:creationId xmlns:a16="http://schemas.microsoft.com/office/drawing/2014/main" id="{D5172229-CB7B-439A-9BBC-57AAD1629D2B}"/>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XP and badges are secondary to learning value.</a:t>
            </a:r>
          </a:p>
        </p:txBody>
      </p:sp>
      <p:sp>
        <p:nvSpPr>
          <p:cNvPr id="7" name="Rectangle 6">
            <a:extLst>
              <a:ext uri="{FF2B5EF4-FFF2-40B4-BE49-F238E27FC236}">
                <a16:creationId xmlns:a16="http://schemas.microsoft.com/office/drawing/2014/main" id="{0107C9A7-94B6-4C48-B91E-31380590A9DE}"/>
              </a:ext>
            </a:extLst>
          </p:cNvPr>
          <p:cNvSpPr>
            <a:spLocks noGrp="1"/>
          </p:cNvSpPr>
          <p:nvPr/>
        </p:nvSpPr>
        <p:spPr>
          <a:xfrm>
            <a:off x="609600" y="2190750"/>
            <a:ext cx="3479800" cy="2571750"/>
          </a:xfrm>
          <a:prstGeom prst="rect">
            <a:avLst/>
          </a:prstGeom>
          <a:solidFill>
            <a:srgbClr val="F2F7FA"/>
          </a:solidFill>
          <a:ln w="9525">
            <a:solidFill>
              <a:srgbClr val="D7E0E8"/>
            </a:solidFill>
            <a:prstDash val="solid"/>
          </a:ln>
        </p:spPr>
      </p:sp>
      <p:sp>
        <p:nvSpPr>
          <p:cNvPr id="8" name="Rectangle 7">
            <a:extLst>
              <a:ext uri="{FF2B5EF4-FFF2-40B4-BE49-F238E27FC236}">
                <a16:creationId xmlns:a16="http://schemas.microsoft.com/office/drawing/2014/main" id="{5898ABAA-8A5E-4094-94D8-AB2067004A6F}"/>
              </a:ext>
            </a:extLst>
          </p:cNvPr>
          <p:cNvSpPr>
            <a:spLocks noGrp="1"/>
          </p:cNvSpPr>
          <p:nvPr/>
        </p:nvSpPr>
        <p:spPr>
          <a:xfrm>
            <a:off x="800100" y="2362200"/>
            <a:ext cx="3098800" cy="209550"/>
          </a:xfrm>
          <a:prstGeom prst="rect">
            <a:avLst/>
          </a:prstGeom>
          <a:noFill/>
          <a:ln w="0">
            <a:noFill/>
            <a:prstDash val="solid"/>
          </a:ln>
        </p:spPr>
        <p:txBody>
          <a:bodyPr lIns="0" tIns="0" rIns="0" bIns="0" anchor="t">
            <a:normAutofit/>
          </a:bodyPr>
          <a:lstStyle/>
          <a:p>
            <a:pPr algn="l">
              <a:buNone/>
              <a:defRPr sz="1050" b="1">
                <a:solidFill>
                  <a:srgbClr val="3D8DFF"/>
                </a:solidFill>
                <a:latin typeface="Arial"/>
                <a:ea typeface="Arial"/>
                <a:cs typeface="Arial"/>
              </a:defRPr>
            </a:pPr>
            <a:r>
              <a:rPr sz="1050" b="1">
                <a:solidFill>
                  <a:srgbClr val="3D8DFF"/>
                </a:solidFill>
                <a:latin typeface="Arial"/>
                <a:ea typeface="Arial"/>
                <a:cs typeface="Arial"/>
              </a:rPr>
              <a:t>EARN</a:t>
            </a:r>
          </a:p>
        </p:txBody>
      </p:sp>
      <p:sp>
        <p:nvSpPr>
          <p:cNvPr id="9" name="Rectangle 8">
            <a:extLst>
              <a:ext uri="{FF2B5EF4-FFF2-40B4-BE49-F238E27FC236}">
                <a16:creationId xmlns:a16="http://schemas.microsoft.com/office/drawing/2014/main" id="{AAB1CA80-95EE-4A02-B5DB-91A99699C374}"/>
              </a:ext>
            </a:extLst>
          </p:cNvPr>
          <p:cNvSpPr>
            <a:spLocks noGrp="1"/>
          </p:cNvSpPr>
          <p:nvPr/>
        </p:nvSpPr>
        <p:spPr>
          <a:xfrm>
            <a:off x="800100" y="2705100"/>
            <a:ext cx="3098800" cy="514350"/>
          </a:xfrm>
          <a:prstGeom prst="rect">
            <a:avLst/>
          </a:prstGeom>
          <a:noFill/>
          <a:ln w="0">
            <a:noFill/>
            <a:prstDash val="solid"/>
          </a:ln>
        </p:spPr>
        <p:txBody>
          <a:bodyPr lIns="0" tIns="0" rIns="0" bIns="0" anchor="t">
            <a:normAutofit/>
          </a:bodyPr>
          <a:lstStyle/>
          <a:p>
            <a:pPr algn="l">
              <a:buNone/>
              <a:defRPr sz="1725" b="1">
                <a:solidFill>
                  <a:srgbClr val="0B1220"/>
                </a:solidFill>
                <a:latin typeface="Arial"/>
                <a:ea typeface="Arial"/>
                <a:cs typeface="Arial"/>
              </a:defRPr>
            </a:pPr>
            <a:r>
              <a:rPr sz="1725" b="1">
                <a:solidFill>
                  <a:srgbClr val="0B1220"/>
                </a:solidFill>
                <a:latin typeface="Arial"/>
                <a:ea typeface="Arial"/>
                <a:cs typeface="Arial"/>
              </a:rPr>
              <a:t>XP</a:t>
            </a:r>
          </a:p>
        </p:txBody>
      </p:sp>
      <p:sp>
        <p:nvSpPr>
          <p:cNvPr id="10" name="Rectangle 9">
            <a:extLst>
              <a:ext uri="{FF2B5EF4-FFF2-40B4-BE49-F238E27FC236}">
                <a16:creationId xmlns:a16="http://schemas.microsoft.com/office/drawing/2014/main" id="{BF701ACD-DD6A-4466-ADB1-AFE2413DAA39}"/>
              </a:ext>
            </a:extLst>
          </p:cNvPr>
          <p:cNvSpPr>
            <a:spLocks noGrp="1"/>
          </p:cNvSpPr>
          <p:nvPr/>
        </p:nvSpPr>
        <p:spPr>
          <a:xfrm>
            <a:off x="800100" y="3352800"/>
            <a:ext cx="3098800" cy="1238250"/>
          </a:xfrm>
          <a:prstGeom prst="rect">
            <a:avLst/>
          </a:prstGeom>
          <a:noFill/>
          <a:ln w="0">
            <a:noFill/>
            <a:prstDash val="solid"/>
          </a:ln>
        </p:spPr>
        <p:txBody>
          <a:bodyPr lIns="0" tIns="0" rIns="0" bIns="0" anchor="t">
            <a:normAutofit/>
          </a:bodyPr>
          <a:lstStyle/>
          <a:p>
            <a:pPr algn="l">
              <a:buNone/>
              <a:defRPr sz="1275" b="0">
                <a:solidFill>
                  <a:srgbClr val="586879"/>
                </a:solidFill>
                <a:latin typeface="Arial"/>
                <a:ea typeface="Arial"/>
                <a:cs typeface="Arial"/>
              </a:defRPr>
            </a:pPr>
            <a:r>
              <a:rPr sz="1275" b="0">
                <a:solidFill>
                  <a:srgbClr val="586879"/>
                </a:solidFill>
                <a:latin typeface="Arial"/>
                <a:ea typeface="Arial"/>
                <a:cs typeface="Arial"/>
              </a:rPr>
              <a:t>For asking, reviewing and completing practice quizzes.</a:t>
            </a:r>
          </a:p>
        </p:txBody>
      </p:sp>
      <p:sp>
        <p:nvSpPr>
          <p:cNvPr id="11" name="Rectangle 10">
            <a:extLst>
              <a:ext uri="{FF2B5EF4-FFF2-40B4-BE49-F238E27FC236}">
                <a16:creationId xmlns:a16="http://schemas.microsoft.com/office/drawing/2014/main" id="{E456F3D6-EAEE-4099-8B4E-4018CFCD6AD5}"/>
              </a:ext>
            </a:extLst>
          </p:cNvPr>
          <p:cNvSpPr>
            <a:spLocks noGrp="1"/>
          </p:cNvSpPr>
          <p:nvPr/>
        </p:nvSpPr>
        <p:spPr>
          <a:xfrm>
            <a:off x="4356100" y="2190750"/>
            <a:ext cx="3479800" cy="2571750"/>
          </a:xfrm>
          <a:prstGeom prst="rect">
            <a:avLst/>
          </a:prstGeom>
          <a:solidFill>
            <a:srgbClr val="F2F7FA"/>
          </a:solidFill>
          <a:ln w="9525">
            <a:solidFill>
              <a:srgbClr val="D7E0E8"/>
            </a:solidFill>
            <a:prstDash val="solid"/>
          </a:ln>
        </p:spPr>
      </p:sp>
      <p:sp>
        <p:nvSpPr>
          <p:cNvPr id="12" name="Rectangle 11">
            <a:extLst>
              <a:ext uri="{FF2B5EF4-FFF2-40B4-BE49-F238E27FC236}">
                <a16:creationId xmlns:a16="http://schemas.microsoft.com/office/drawing/2014/main" id="{125B49D2-8EBF-493F-9694-9C729DD87FF7}"/>
              </a:ext>
            </a:extLst>
          </p:cNvPr>
          <p:cNvSpPr>
            <a:spLocks noGrp="1"/>
          </p:cNvSpPr>
          <p:nvPr/>
        </p:nvSpPr>
        <p:spPr>
          <a:xfrm>
            <a:off x="4546600" y="2362200"/>
            <a:ext cx="3098800" cy="209550"/>
          </a:xfrm>
          <a:prstGeom prst="rect">
            <a:avLst/>
          </a:prstGeom>
          <a:noFill/>
          <a:ln w="0">
            <a:noFill/>
            <a:prstDash val="solid"/>
          </a:ln>
        </p:spPr>
        <p:txBody>
          <a:bodyPr lIns="0" tIns="0" rIns="0" bIns="0" anchor="t">
            <a:normAutofit/>
          </a:bodyPr>
          <a:lstStyle/>
          <a:p>
            <a:pPr algn="l">
              <a:buNone/>
              <a:defRPr sz="1050" b="1">
                <a:solidFill>
                  <a:srgbClr val="FF9B45"/>
                </a:solidFill>
                <a:latin typeface="Arial"/>
                <a:ea typeface="Arial"/>
                <a:cs typeface="Arial"/>
              </a:defRPr>
            </a:pPr>
            <a:r>
              <a:rPr sz="1050" b="1">
                <a:solidFill>
                  <a:srgbClr val="FF9B45"/>
                </a:solidFill>
                <a:latin typeface="Arial"/>
                <a:ea typeface="Arial"/>
                <a:cs typeface="Arial"/>
              </a:rPr>
              <a:t>UNLOCK</a:t>
            </a:r>
          </a:p>
        </p:txBody>
      </p:sp>
      <p:sp>
        <p:nvSpPr>
          <p:cNvPr id="13" name="Rectangle 12">
            <a:extLst>
              <a:ext uri="{FF2B5EF4-FFF2-40B4-BE49-F238E27FC236}">
                <a16:creationId xmlns:a16="http://schemas.microsoft.com/office/drawing/2014/main" id="{2EAA871B-C768-4211-BB1D-C472EBA1B9B5}"/>
              </a:ext>
            </a:extLst>
          </p:cNvPr>
          <p:cNvSpPr>
            <a:spLocks noGrp="1"/>
          </p:cNvSpPr>
          <p:nvPr/>
        </p:nvSpPr>
        <p:spPr>
          <a:xfrm>
            <a:off x="4546600" y="2705100"/>
            <a:ext cx="3098800" cy="514350"/>
          </a:xfrm>
          <a:prstGeom prst="rect">
            <a:avLst/>
          </a:prstGeom>
          <a:noFill/>
          <a:ln w="0">
            <a:noFill/>
            <a:prstDash val="solid"/>
          </a:ln>
        </p:spPr>
        <p:txBody>
          <a:bodyPr lIns="0" tIns="0" rIns="0" bIns="0" anchor="t">
            <a:normAutofit/>
          </a:bodyPr>
          <a:lstStyle/>
          <a:p>
            <a:pPr algn="l">
              <a:buNone/>
              <a:defRPr sz="1725" b="1">
                <a:solidFill>
                  <a:srgbClr val="0B1220"/>
                </a:solidFill>
                <a:latin typeface="Arial"/>
                <a:ea typeface="Arial"/>
                <a:cs typeface="Arial"/>
              </a:defRPr>
            </a:pPr>
            <a:r>
              <a:rPr sz="1725" b="1">
                <a:solidFill>
                  <a:srgbClr val="0B1220"/>
                </a:solidFill>
                <a:latin typeface="Arial"/>
                <a:ea typeface="Arial"/>
                <a:cs typeface="Arial"/>
              </a:rPr>
              <a:t>Themes + avatars</a:t>
            </a:r>
          </a:p>
        </p:txBody>
      </p:sp>
      <p:sp>
        <p:nvSpPr>
          <p:cNvPr id="14" name="Rectangle 13">
            <a:extLst>
              <a:ext uri="{FF2B5EF4-FFF2-40B4-BE49-F238E27FC236}">
                <a16:creationId xmlns:a16="http://schemas.microsoft.com/office/drawing/2014/main" id="{C4C18901-4E16-4A57-841F-3907BC999AA5}"/>
              </a:ext>
            </a:extLst>
          </p:cNvPr>
          <p:cNvSpPr>
            <a:spLocks noGrp="1"/>
          </p:cNvSpPr>
          <p:nvPr/>
        </p:nvSpPr>
        <p:spPr>
          <a:xfrm>
            <a:off x="4546600" y="3352800"/>
            <a:ext cx="3098800" cy="1238250"/>
          </a:xfrm>
          <a:prstGeom prst="rect">
            <a:avLst/>
          </a:prstGeom>
          <a:noFill/>
          <a:ln w="0">
            <a:noFill/>
            <a:prstDash val="solid"/>
          </a:ln>
        </p:spPr>
        <p:txBody>
          <a:bodyPr lIns="0" tIns="0" rIns="0" bIns="0" anchor="t">
            <a:normAutofit/>
          </a:bodyPr>
          <a:lstStyle/>
          <a:p>
            <a:pPr algn="l">
              <a:buNone/>
              <a:defRPr sz="1275" b="0">
                <a:solidFill>
                  <a:srgbClr val="586879"/>
                </a:solidFill>
                <a:latin typeface="Arial"/>
                <a:ea typeface="Arial"/>
                <a:cs typeface="Arial"/>
              </a:defRPr>
            </a:pPr>
            <a:r>
              <a:rPr sz="1275" b="0">
                <a:solidFill>
                  <a:srgbClr val="586879"/>
                </a:solidFill>
                <a:latin typeface="Arial"/>
                <a:ea typeface="Arial"/>
                <a:cs typeface="Arial"/>
              </a:rPr>
              <a:t>Lightweight continuity and a sense of progress.</a:t>
            </a:r>
          </a:p>
        </p:txBody>
      </p:sp>
      <p:sp>
        <p:nvSpPr>
          <p:cNvPr id="15" name="Rectangle 14">
            <a:extLst>
              <a:ext uri="{FF2B5EF4-FFF2-40B4-BE49-F238E27FC236}">
                <a16:creationId xmlns:a16="http://schemas.microsoft.com/office/drawing/2014/main" id="{8D1BF2AE-5563-4DE2-B482-39F24B306885}"/>
              </a:ext>
            </a:extLst>
          </p:cNvPr>
          <p:cNvSpPr>
            <a:spLocks noGrp="1"/>
          </p:cNvSpPr>
          <p:nvPr/>
        </p:nvSpPr>
        <p:spPr>
          <a:xfrm>
            <a:off x="8102600" y="2190750"/>
            <a:ext cx="3479800" cy="2571750"/>
          </a:xfrm>
          <a:prstGeom prst="rect">
            <a:avLst/>
          </a:prstGeom>
          <a:solidFill>
            <a:srgbClr val="F2F7FA"/>
          </a:solidFill>
          <a:ln w="9525">
            <a:solidFill>
              <a:srgbClr val="D7E0E8"/>
            </a:solidFill>
            <a:prstDash val="solid"/>
          </a:ln>
        </p:spPr>
      </p:sp>
      <p:sp>
        <p:nvSpPr>
          <p:cNvPr id="16" name="Rectangle 15">
            <a:extLst>
              <a:ext uri="{FF2B5EF4-FFF2-40B4-BE49-F238E27FC236}">
                <a16:creationId xmlns:a16="http://schemas.microsoft.com/office/drawing/2014/main" id="{770A5C82-F087-450B-95AD-ADFC03A0029E}"/>
              </a:ext>
            </a:extLst>
          </p:cNvPr>
          <p:cNvSpPr>
            <a:spLocks noGrp="1"/>
          </p:cNvSpPr>
          <p:nvPr/>
        </p:nvSpPr>
        <p:spPr>
          <a:xfrm>
            <a:off x="8293100" y="2362200"/>
            <a:ext cx="3098800" cy="209550"/>
          </a:xfrm>
          <a:prstGeom prst="rect">
            <a:avLst/>
          </a:prstGeom>
          <a:noFill/>
          <a:ln w="0">
            <a:noFill/>
            <a:prstDash val="solid"/>
          </a:ln>
        </p:spPr>
        <p:txBody>
          <a:bodyPr lIns="0" tIns="0" rIns="0" bIns="0" anchor="t">
            <a:normAutofit/>
          </a:bodyPr>
          <a:lstStyle/>
          <a:p>
            <a:pPr algn="l">
              <a:buNone/>
              <a:defRPr sz="1050" b="1">
                <a:solidFill>
                  <a:srgbClr val="0DA6A6"/>
                </a:solidFill>
                <a:latin typeface="Arial"/>
                <a:ea typeface="Arial"/>
                <a:cs typeface="Arial"/>
              </a:defRPr>
            </a:pPr>
            <a:r>
              <a:rPr sz="1050" b="1">
                <a:solidFill>
                  <a:srgbClr val="0DA6A6"/>
                </a:solidFill>
                <a:latin typeface="Arial"/>
                <a:ea typeface="Arial"/>
                <a:cs typeface="Arial"/>
              </a:rPr>
              <a:t>OPTIONAL</a:t>
            </a:r>
          </a:p>
        </p:txBody>
      </p:sp>
      <p:sp>
        <p:nvSpPr>
          <p:cNvPr id="17" name="Rectangle 16">
            <a:extLst>
              <a:ext uri="{FF2B5EF4-FFF2-40B4-BE49-F238E27FC236}">
                <a16:creationId xmlns:a16="http://schemas.microsoft.com/office/drawing/2014/main" id="{BC08A8A1-04AD-411D-B11B-CBC6F6AC95F0}"/>
              </a:ext>
            </a:extLst>
          </p:cNvPr>
          <p:cNvSpPr>
            <a:spLocks noGrp="1"/>
          </p:cNvSpPr>
          <p:nvPr/>
        </p:nvSpPr>
        <p:spPr>
          <a:xfrm>
            <a:off x="8293100" y="2705100"/>
            <a:ext cx="3098800" cy="514350"/>
          </a:xfrm>
          <a:prstGeom prst="rect">
            <a:avLst/>
          </a:prstGeom>
          <a:noFill/>
          <a:ln w="0">
            <a:noFill/>
            <a:prstDash val="solid"/>
          </a:ln>
        </p:spPr>
        <p:txBody>
          <a:bodyPr lIns="0" tIns="0" rIns="0" bIns="0" anchor="t">
            <a:normAutofit/>
          </a:bodyPr>
          <a:lstStyle/>
          <a:p>
            <a:pPr algn="l">
              <a:buNone/>
              <a:defRPr sz="1725" b="1">
                <a:solidFill>
                  <a:srgbClr val="0B1220"/>
                </a:solidFill>
                <a:latin typeface="Arial"/>
                <a:ea typeface="Arial"/>
                <a:cs typeface="Arial"/>
              </a:defRPr>
            </a:pPr>
            <a:r>
              <a:rPr sz="1725" b="1">
                <a:solidFill>
                  <a:srgbClr val="0B1220"/>
                </a:solidFill>
                <a:latin typeface="Arial"/>
                <a:ea typeface="Arial"/>
                <a:cs typeface="Arial"/>
              </a:rPr>
              <a:t>Leaderboard</a:t>
            </a:r>
          </a:p>
        </p:txBody>
      </p:sp>
      <p:sp>
        <p:nvSpPr>
          <p:cNvPr id="18" name="Rectangle 17">
            <a:extLst>
              <a:ext uri="{FF2B5EF4-FFF2-40B4-BE49-F238E27FC236}">
                <a16:creationId xmlns:a16="http://schemas.microsoft.com/office/drawing/2014/main" id="{E505926C-2BC6-4C7B-91FE-6EF622D341CD}"/>
              </a:ext>
            </a:extLst>
          </p:cNvPr>
          <p:cNvSpPr>
            <a:spLocks noGrp="1"/>
          </p:cNvSpPr>
          <p:nvPr/>
        </p:nvSpPr>
        <p:spPr>
          <a:xfrm>
            <a:off x="8293100" y="3352800"/>
            <a:ext cx="3098800" cy="1238250"/>
          </a:xfrm>
          <a:prstGeom prst="rect">
            <a:avLst/>
          </a:prstGeom>
          <a:noFill/>
          <a:ln w="0">
            <a:noFill/>
            <a:prstDash val="solid"/>
          </a:ln>
        </p:spPr>
        <p:txBody>
          <a:bodyPr lIns="0" tIns="0" rIns="0" bIns="0" anchor="t">
            <a:normAutofit/>
          </a:bodyPr>
          <a:lstStyle/>
          <a:p>
            <a:pPr algn="l">
              <a:buNone/>
              <a:defRPr sz="1275" b="0">
                <a:solidFill>
                  <a:srgbClr val="586879"/>
                </a:solidFill>
                <a:latin typeface="Arial"/>
                <a:ea typeface="Arial"/>
                <a:cs typeface="Arial"/>
              </a:defRPr>
            </a:pPr>
            <a:r>
              <a:rPr sz="1275" b="0">
                <a:solidFill>
                  <a:srgbClr val="586879"/>
                </a:solidFill>
                <a:latin typeface="Arial"/>
                <a:ea typeface="Arial"/>
                <a:cs typeface="Arial"/>
              </a:rPr>
              <a:t>Friends or global activity without exposing sensitive data.</a:t>
            </a:r>
          </a:p>
        </p:txBody>
      </p:sp>
    </p:spTree>
    <p:extLst>
      <p:ext uri="{BB962C8B-B14F-4D97-AF65-F5344CB8AC3E}">
        <p14:creationId xmlns:p14="http://schemas.microsoft.com/office/powerpoint/2010/main" val="1764941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31F0654-474A-4FB4-A678-5FF6BFC49A81}"/>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4AD3AC98-59E5-4B31-9DB2-52FABDEC1579}"/>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17</a:t>
            </a:r>
          </a:p>
        </p:txBody>
      </p:sp>
      <p:sp>
        <p:nvSpPr>
          <p:cNvPr id="3" name="Rectangle 2">
            <a:extLst>
              <a:ext uri="{FF2B5EF4-FFF2-40B4-BE49-F238E27FC236}">
                <a16:creationId xmlns:a16="http://schemas.microsoft.com/office/drawing/2014/main" id="{79E18005-BDBB-4069-96BB-14B0093DE99F}"/>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430EB6F6-0D47-495C-950E-ECCD754BCAC9}"/>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EED426C5-B37B-4A77-ADE3-EF04053029AD}"/>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Notifications should bring students back to useful work</a:t>
            </a:r>
          </a:p>
        </p:txBody>
      </p:sp>
      <p:sp>
        <p:nvSpPr>
          <p:cNvPr id="6" name="Rectangle 5">
            <a:extLst>
              <a:ext uri="{FF2B5EF4-FFF2-40B4-BE49-F238E27FC236}">
                <a16:creationId xmlns:a16="http://schemas.microsoft.com/office/drawing/2014/main" id="{56B79E9E-9CD4-4A06-B135-E778BE0788F2}"/>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Reminders are valuable only when they have a clear learning reason.</a:t>
            </a:r>
          </a:p>
        </p:txBody>
      </p:sp>
      <p:sp>
        <p:nvSpPr>
          <p:cNvPr id="7" name="Rectangle 6">
            <a:extLst>
              <a:ext uri="{FF2B5EF4-FFF2-40B4-BE49-F238E27FC236}">
                <a16:creationId xmlns:a16="http://schemas.microsoft.com/office/drawing/2014/main" id="{01FC18D4-66DC-43D7-88A9-A03DC9C3F142}"/>
              </a:ext>
            </a:extLst>
          </p:cNvPr>
          <p:cNvSpPr>
            <a:spLocks noGrp="1"/>
          </p:cNvSpPr>
          <p:nvPr/>
        </p:nvSpPr>
        <p:spPr>
          <a:xfrm>
            <a:off x="609600" y="1924050"/>
            <a:ext cx="5257800" cy="38100"/>
          </a:xfrm>
          <a:prstGeom prst="rect">
            <a:avLst/>
          </a:prstGeom>
          <a:solidFill>
            <a:srgbClr val="FF9B45"/>
          </a:solidFill>
          <a:ln w="0">
            <a:solidFill>
              <a:srgbClr val="FF9B45"/>
            </a:solidFill>
            <a:prstDash val="solid"/>
          </a:ln>
        </p:spPr>
      </p:sp>
      <p:sp>
        <p:nvSpPr>
          <p:cNvPr id="8" name="Rectangle 7">
            <a:extLst>
              <a:ext uri="{FF2B5EF4-FFF2-40B4-BE49-F238E27FC236}">
                <a16:creationId xmlns:a16="http://schemas.microsoft.com/office/drawing/2014/main" id="{B6DCAA10-7262-4783-9968-DDD8FAD01430}"/>
              </a:ext>
            </a:extLst>
          </p:cNvPr>
          <p:cNvSpPr>
            <a:spLocks noGrp="1"/>
          </p:cNvSpPr>
          <p:nvPr/>
        </p:nvSpPr>
        <p:spPr>
          <a:xfrm>
            <a:off x="6324600" y="1924050"/>
            <a:ext cx="5257800" cy="38100"/>
          </a:xfrm>
          <a:prstGeom prst="rect">
            <a:avLst/>
          </a:prstGeom>
          <a:solidFill>
            <a:srgbClr val="0DA6A6"/>
          </a:solidFill>
          <a:ln w="0">
            <a:solidFill>
              <a:srgbClr val="0DA6A6"/>
            </a:solidFill>
            <a:prstDash val="solid"/>
          </a:ln>
        </p:spPr>
      </p:sp>
      <p:sp>
        <p:nvSpPr>
          <p:cNvPr id="9" name="Rectangle 8">
            <a:extLst>
              <a:ext uri="{FF2B5EF4-FFF2-40B4-BE49-F238E27FC236}">
                <a16:creationId xmlns:a16="http://schemas.microsoft.com/office/drawing/2014/main" id="{BBB4E07A-6F66-4754-9FFB-407E483CFBC3}"/>
              </a:ext>
            </a:extLst>
          </p:cNvPr>
          <p:cNvSpPr>
            <a:spLocks noGrp="1"/>
          </p:cNvSpPr>
          <p:nvPr/>
        </p:nvSpPr>
        <p:spPr>
          <a:xfrm>
            <a:off x="609600" y="2095500"/>
            <a:ext cx="5257800" cy="381000"/>
          </a:xfrm>
          <a:prstGeom prst="rect">
            <a:avLst/>
          </a:prstGeom>
          <a:noFill/>
          <a:ln w="0">
            <a:noFill/>
            <a:prstDash val="solid"/>
          </a:ln>
        </p:spPr>
        <p:txBody>
          <a:bodyPr lIns="0" tIns="0" rIns="0" bIns="0" anchor="t">
            <a:normAutofit/>
          </a:bodyPr>
          <a:lstStyle/>
          <a:p>
            <a:pPr algn="l">
              <a:buNone/>
              <a:defRPr sz="1800" b="1">
                <a:solidFill>
                  <a:srgbClr val="FF9B45"/>
                </a:solidFill>
                <a:latin typeface="Arial"/>
                <a:ea typeface="Arial"/>
                <a:cs typeface="Arial"/>
              </a:defRPr>
            </a:pPr>
            <a:r>
              <a:rPr sz="1800" b="1">
                <a:solidFill>
                  <a:srgbClr val="FF9B45"/>
                </a:solidFill>
                <a:latin typeface="Arial"/>
                <a:ea typeface="Arial"/>
                <a:cs typeface="Arial"/>
              </a:rPr>
              <a:t>Notification requirements</a:t>
            </a:r>
          </a:p>
        </p:txBody>
      </p:sp>
      <p:sp>
        <p:nvSpPr>
          <p:cNvPr id="10" name="Rectangle 9">
            <a:extLst>
              <a:ext uri="{FF2B5EF4-FFF2-40B4-BE49-F238E27FC236}">
                <a16:creationId xmlns:a16="http://schemas.microsoft.com/office/drawing/2014/main" id="{319B26A3-2AA4-4DD0-B81A-7D09EE4D93A8}"/>
              </a:ext>
            </a:extLst>
          </p:cNvPr>
          <p:cNvSpPr>
            <a:spLocks noGrp="1"/>
          </p:cNvSpPr>
          <p:nvPr/>
        </p:nvSpPr>
        <p:spPr>
          <a:xfrm>
            <a:off x="609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 Review bookmarked answers</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Alert repeated mistakes</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Motivate consistent activity</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Send daily or weekly summaries</a:t>
            </a:r>
          </a:p>
        </p:txBody>
      </p:sp>
      <p:sp>
        <p:nvSpPr>
          <p:cNvPr id="11" name="Rectangle 10">
            <a:extLst>
              <a:ext uri="{FF2B5EF4-FFF2-40B4-BE49-F238E27FC236}">
                <a16:creationId xmlns:a16="http://schemas.microsoft.com/office/drawing/2014/main" id="{388BE3F0-CC51-4081-B33D-2449DA739240}"/>
              </a:ext>
            </a:extLst>
          </p:cNvPr>
          <p:cNvSpPr>
            <a:spLocks noGrp="1"/>
          </p:cNvSpPr>
          <p:nvPr/>
        </p:nvSpPr>
        <p:spPr>
          <a:xfrm>
            <a:off x="6324600" y="2095500"/>
            <a:ext cx="5257800" cy="381000"/>
          </a:xfrm>
          <a:prstGeom prst="rect">
            <a:avLst/>
          </a:prstGeom>
          <a:noFill/>
          <a:ln w="0">
            <a:noFill/>
            <a:prstDash val="solid"/>
          </a:ln>
        </p:spPr>
        <p:txBody>
          <a:bodyPr lIns="0" tIns="0" rIns="0" bIns="0" anchor="t">
            <a:normAutofit/>
          </a:bodyPr>
          <a:lstStyle/>
          <a:p>
            <a:pPr algn="l">
              <a:buNone/>
              <a:defRPr sz="1800" b="1">
                <a:solidFill>
                  <a:srgbClr val="0DA6A6"/>
                </a:solidFill>
                <a:latin typeface="Arial"/>
                <a:ea typeface="Arial"/>
                <a:cs typeface="Arial"/>
              </a:defRPr>
            </a:pPr>
            <a:r>
              <a:rPr sz="1800" b="1">
                <a:solidFill>
                  <a:srgbClr val="0DA6A6"/>
                </a:solidFill>
                <a:latin typeface="Arial"/>
                <a:ea typeface="Arial"/>
                <a:cs typeface="Arial"/>
              </a:rPr>
              <a:t>Safety controls</a:t>
            </a:r>
          </a:p>
        </p:txBody>
      </p:sp>
      <p:sp>
        <p:nvSpPr>
          <p:cNvPr id="12" name="Rectangle 11">
            <a:extLst>
              <a:ext uri="{FF2B5EF4-FFF2-40B4-BE49-F238E27FC236}">
                <a16:creationId xmlns:a16="http://schemas.microsoft.com/office/drawing/2014/main" id="{8960602A-3238-498D-8531-1D234041BCB6}"/>
              </a:ext>
            </a:extLst>
          </p:cNvPr>
          <p:cNvSpPr>
            <a:spLocks noGrp="1"/>
          </p:cNvSpPr>
          <p:nvPr/>
        </p:nvSpPr>
        <p:spPr>
          <a:xfrm>
            <a:off x="6324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 User-controlled preferences</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Quiet hours</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No sensitive content in previews</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Age-appropriate defaults</a:t>
            </a:r>
          </a:p>
        </p:txBody>
      </p:sp>
    </p:spTree>
    <p:extLst>
      <p:ext uri="{BB962C8B-B14F-4D97-AF65-F5344CB8AC3E}">
        <p14:creationId xmlns:p14="http://schemas.microsoft.com/office/powerpoint/2010/main" val="63614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6234DF56-7314-4CBB-AA89-8E6BCACEE6DB}"/>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76A2BBC1-F57F-4CC3-A8F9-E6B96D2E6801}"/>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18</a:t>
            </a:r>
          </a:p>
        </p:txBody>
      </p:sp>
      <p:sp>
        <p:nvSpPr>
          <p:cNvPr id="3" name="Rectangle 2">
            <a:extLst>
              <a:ext uri="{FF2B5EF4-FFF2-40B4-BE49-F238E27FC236}">
                <a16:creationId xmlns:a16="http://schemas.microsoft.com/office/drawing/2014/main" id="{07A07166-7673-4DFA-A9A5-38B07D576CEF}"/>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7E2B759C-9141-4D8D-85F3-62B22476A257}"/>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752B96F4-3B75-46C9-915B-A73152BAB59B}"/>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Offline access protects the review experience</a:t>
            </a:r>
          </a:p>
        </p:txBody>
      </p:sp>
      <p:sp>
        <p:nvSpPr>
          <p:cNvPr id="6" name="Rectangle 5">
            <a:extLst>
              <a:ext uri="{FF2B5EF4-FFF2-40B4-BE49-F238E27FC236}">
                <a16:creationId xmlns:a16="http://schemas.microsoft.com/office/drawing/2014/main" id="{CD2E7A0F-173E-4715-B3EE-968CB7B60D3F}"/>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Previously answered questions can remain useful without a network connection.</a:t>
            </a:r>
          </a:p>
        </p:txBody>
      </p:sp>
      <p:sp>
        <p:nvSpPr>
          <p:cNvPr id="7" name="Rectangle 6">
            <a:extLst>
              <a:ext uri="{FF2B5EF4-FFF2-40B4-BE49-F238E27FC236}">
                <a16:creationId xmlns:a16="http://schemas.microsoft.com/office/drawing/2014/main" id="{FAAB0E04-36F8-4FF6-8852-B9E172ABD335}"/>
              </a:ext>
            </a:extLst>
          </p:cNvPr>
          <p:cNvSpPr>
            <a:spLocks noGrp="1"/>
          </p:cNvSpPr>
          <p:nvPr/>
        </p:nvSpPr>
        <p:spPr>
          <a:xfrm>
            <a:off x="2505075" y="2581275"/>
            <a:ext cx="2038350" cy="28575"/>
          </a:xfrm>
          <a:prstGeom prst="rect">
            <a:avLst/>
          </a:prstGeom>
          <a:solidFill>
            <a:srgbClr val="D7E0E8"/>
          </a:solidFill>
          <a:ln w="0">
            <a:solidFill>
              <a:srgbClr val="D7E0E8"/>
            </a:solidFill>
            <a:prstDash val="solid"/>
          </a:ln>
        </p:spPr>
      </p:sp>
      <p:sp>
        <p:nvSpPr>
          <p:cNvPr id="8" name="Oval 7">
            <a:extLst>
              <a:ext uri="{FF2B5EF4-FFF2-40B4-BE49-F238E27FC236}">
                <a16:creationId xmlns:a16="http://schemas.microsoft.com/office/drawing/2014/main" id="{31717469-8313-423E-A3D1-FFFDDEFBBC37}"/>
              </a:ext>
            </a:extLst>
          </p:cNvPr>
          <p:cNvSpPr>
            <a:spLocks noGrp="1"/>
          </p:cNvSpPr>
          <p:nvPr/>
        </p:nvSpPr>
        <p:spPr>
          <a:xfrm>
            <a:off x="1971675" y="2333625"/>
            <a:ext cx="533400" cy="533400"/>
          </a:xfrm>
          <a:prstGeom prst="ellipse">
            <a:avLst/>
          </a:prstGeom>
          <a:solidFill>
            <a:srgbClr val="0DA6A6"/>
          </a:solidFill>
          <a:ln w="0">
            <a:solidFill>
              <a:srgbClr val="0DA6A6"/>
            </a:solidFill>
            <a:prstDash val="solid"/>
          </a:ln>
        </p:spPr>
      </p:sp>
      <p:sp>
        <p:nvSpPr>
          <p:cNvPr id="9" name="Rectangle 8">
            <a:extLst>
              <a:ext uri="{FF2B5EF4-FFF2-40B4-BE49-F238E27FC236}">
                <a16:creationId xmlns:a16="http://schemas.microsoft.com/office/drawing/2014/main" id="{8DB2314C-7F46-45BD-A916-08E972424F05}"/>
              </a:ext>
            </a:extLst>
          </p:cNvPr>
          <p:cNvSpPr>
            <a:spLocks noGrp="1"/>
          </p:cNvSpPr>
          <p:nvPr/>
        </p:nvSpPr>
        <p:spPr>
          <a:xfrm>
            <a:off x="1971675" y="2476500"/>
            <a:ext cx="533400" cy="266700"/>
          </a:xfrm>
          <a:prstGeom prst="rect">
            <a:avLst/>
          </a:prstGeom>
          <a:noFill/>
          <a:ln w="0">
            <a:noFill/>
            <a:prstDash val="solid"/>
          </a:ln>
        </p:spPr>
        <p:txBody>
          <a:bodyPr lIns="0" tIns="0" rIns="0" bIns="0" anchor="t">
            <a:normAutofit/>
          </a:bodyPr>
          <a:lstStyle/>
          <a:p>
            <a:pPr algn="ctr">
              <a:buNone/>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10" name="Rectangle 9">
            <a:extLst>
              <a:ext uri="{FF2B5EF4-FFF2-40B4-BE49-F238E27FC236}">
                <a16:creationId xmlns:a16="http://schemas.microsoft.com/office/drawing/2014/main" id="{B8B47412-1119-4884-A5A9-B7831CFB9A08}"/>
              </a:ext>
            </a:extLst>
          </p:cNvPr>
          <p:cNvSpPr>
            <a:spLocks noGrp="1"/>
          </p:cNvSpPr>
          <p:nvPr/>
        </p:nvSpPr>
        <p:spPr>
          <a:xfrm>
            <a:off x="1047750" y="3057525"/>
            <a:ext cx="2381250" cy="381000"/>
          </a:xfrm>
          <a:prstGeom prst="rect">
            <a:avLst/>
          </a:prstGeom>
          <a:noFill/>
          <a:ln w="0">
            <a:noFill/>
            <a:prstDash val="solid"/>
          </a:ln>
        </p:spPr>
        <p:txBody>
          <a:bodyPr lIns="0" tIns="0" rIns="0" bIns="0" anchor="t">
            <a:normAutofit/>
          </a:bodyPr>
          <a:lstStyle/>
          <a:p>
            <a:pPr algn="ctr">
              <a:buNone/>
              <a:defRPr sz="1200" b="1">
                <a:solidFill>
                  <a:srgbClr val="0B1220"/>
                </a:solidFill>
                <a:latin typeface="Arial"/>
                <a:ea typeface="Arial"/>
                <a:cs typeface="Arial"/>
              </a:defRPr>
            </a:pPr>
            <a:r>
              <a:rPr sz="1200" b="1">
                <a:solidFill>
                  <a:srgbClr val="0B1220"/>
                </a:solidFill>
                <a:latin typeface="Arial"/>
                <a:ea typeface="Arial"/>
                <a:cs typeface="Arial"/>
              </a:rPr>
              <a:t>Download</a:t>
            </a:r>
          </a:p>
        </p:txBody>
      </p:sp>
      <p:sp>
        <p:nvSpPr>
          <p:cNvPr id="11" name="Rectangle 10">
            <a:extLst>
              <a:ext uri="{FF2B5EF4-FFF2-40B4-BE49-F238E27FC236}">
                <a16:creationId xmlns:a16="http://schemas.microsoft.com/office/drawing/2014/main" id="{6578C5E8-11A1-4D6C-9B1D-0AD121FA3E08}"/>
              </a:ext>
            </a:extLst>
          </p:cNvPr>
          <p:cNvSpPr>
            <a:spLocks noGrp="1"/>
          </p:cNvSpPr>
          <p:nvPr/>
        </p:nvSpPr>
        <p:spPr>
          <a:xfrm>
            <a:off x="5076825" y="2581275"/>
            <a:ext cx="2038350" cy="28575"/>
          </a:xfrm>
          <a:prstGeom prst="rect">
            <a:avLst/>
          </a:prstGeom>
          <a:solidFill>
            <a:srgbClr val="D7E0E8"/>
          </a:solidFill>
          <a:ln w="0">
            <a:solidFill>
              <a:srgbClr val="D7E0E8"/>
            </a:solidFill>
            <a:prstDash val="solid"/>
          </a:ln>
        </p:spPr>
      </p:sp>
      <p:sp>
        <p:nvSpPr>
          <p:cNvPr id="12" name="Oval 11">
            <a:extLst>
              <a:ext uri="{FF2B5EF4-FFF2-40B4-BE49-F238E27FC236}">
                <a16:creationId xmlns:a16="http://schemas.microsoft.com/office/drawing/2014/main" id="{1D4A9C79-ED16-4ADC-9215-BD476767407E}"/>
              </a:ext>
            </a:extLst>
          </p:cNvPr>
          <p:cNvSpPr>
            <a:spLocks noGrp="1"/>
          </p:cNvSpPr>
          <p:nvPr/>
        </p:nvSpPr>
        <p:spPr>
          <a:xfrm>
            <a:off x="4543425" y="2333625"/>
            <a:ext cx="533400" cy="533400"/>
          </a:xfrm>
          <a:prstGeom prst="ellipse">
            <a:avLst/>
          </a:prstGeom>
          <a:solidFill>
            <a:srgbClr val="EAF5FB"/>
          </a:solidFill>
          <a:ln w="0">
            <a:solidFill>
              <a:srgbClr val="EAF5FB"/>
            </a:solidFill>
            <a:prstDash val="solid"/>
          </a:ln>
        </p:spPr>
      </p:sp>
      <p:sp>
        <p:nvSpPr>
          <p:cNvPr id="13" name="Rectangle 12">
            <a:extLst>
              <a:ext uri="{FF2B5EF4-FFF2-40B4-BE49-F238E27FC236}">
                <a16:creationId xmlns:a16="http://schemas.microsoft.com/office/drawing/2014/main" id="{AA6D2A4E-30B9-463B-9332-0F2BC548FDAE}"/>
              </a:ext>
            </a:extLst>
          </p:cNvPr>
          <p:cNvSpPr>
            <a:spLocks noGrp="1"/>
          </p:cNvSpPr>
          <p:nvPr/>
        </p:nvSpPr>
        <p:spPr>
          <a:xfrm>
            <a:off x="4543425" y="2476500"/>
            <a:ext cx="533400" cy="266700"/>
          </a:xfrm>
          <a:prstGeom prst="rect">
            <a:avLst/>
          </a:prstGeom>
          <a:noFill/>
          <a:ln w="0">
            <a:noFill/>
            <a:prstDash val="solid"/>
          </a:ln>
        </p:spPr>
        <p:txBody>
          <a:bodyPr lIns="0" tIns="0" rIns="0" bIns="0" anchor="t">
            <a:normAutofit/>
          </a:bodyPr>
          <a:lstStyle/>
          <a:p>
            <a:pPr algn="ctr">
              <a:buNone/>
              <a:defRPr sz="1350" b="1">
                <a:solidFill>
                  <a:srgbClr val="0F2A43"/>
                </a:solidFill>
                <a:latin typeface="Arial"/>
                <a:ea typeface="Arial"/>
                <a:cs typeface="Arial"/>
              </a:defRPr>
            </a:pPr>
            <a:r>
              <a:rPr sz="1350" b="1">
                <a:solidFill>
                  <a:srgbClr val="0F2A43"/>
                </a:solidFill>
                <a:latin typeface="Arial"/>
                <a:ea typeface="Arial"/>
                <a:cs typeface="Arial"/>
              </a:rPr>
              <a:t>2</a:t>
            </a:r>
          </a:p>
        </p:txBody>
      </p:sp>
      <p:sp>
        <p:nvSpPr>
          <p:cNvPr id="14" name="Rectangle 13">
            <a:extLst>
              <a:ext uri="{FF2B5EF4-FFF2-40B4-BE49-F238E27FC236}">
                <a16:creationId xmlns:a16="http://schemas.microsoft.com/office/drawing/2014/main" id="{0D20ED1A-D40F-4B96-BB1B-223926D8BCB9}"/>
              </a:ext>
            </a:extLst>
          </p:cNvPr>
          <p:cNvSpPr>
            <a:spLocks noGrp="1"/>
          </p:cNvSpPr>
          <p:nvPr/>
        </p:nvSpPr>
        <p:spPr>
          <a:xfrm>
            <a:off x="3619500" y="3057525"/>
            <a:ext cx="2381250" cy="381000"/>
          </a:xfrm>
          <a:prstGeom prst="rect">
            <a:avLst/>
          </a:prstGeom>
          <a:noFill/>
          <a:ln w="0">
            <a:noFill/>
            <a:prstDash val="solid"/>
          </a:ln>
        </p:spPr>
        <p:txBody>
          <a:bodyPr lIns="0" tIns="0" rIns="0" bIns="0" anchor="t">
            <a:normAutofit/>
          </a:bodyPr>
          <a:lstStyle/>
          <a:p>
            <a:pPr algn="ctr">
              <a:buNone/>
              <a:defRPr sz="1200" b="1">
                <a:solidFill>
                  <a:srgbClr val="0B1220"/>
                </a:solidFill>
                <a:latin typeface="Arial"/>
                <a:ea typeface="Arial"/>
                <a:cs typeface="Arial"/>
              </a:defRPr>
            </a:pPr>
            <a:r>
              <a:rPr sz="1200" b="1">
                <a:solidFill>
                  <a:srgbClr val="0B1220"/>
                </a:solidFill>
                <a:latin typeface="Arial"/>
                <a:ea typeface="Arial"/>
                <a:cs typeface="Arial"/>
              </a:rPr>
              <a:t>Read</a:t>
            </a:r>
          </a:p>
        </p:txBody>
      </p:sp>
      <p:sp>
        <p:nvSpPr>
          <p:cNvPr id="15" name="Rectangle 14">
            <a:extLst>
              <a:ext uri="{FF2B5EF4-FFF2-40B4-BE49-F238E27FC236}">
                <a16:creationId xmlns:a16="http://schemas.microsoft.com/office/drawing/2014/main" id="{E7324FD7-F200-49D8-9239-1E6DFD783EA2}"/>
              </a:ext>
            </a:extLst>
          </p:cNvPr>
          <p:cNvSpPr>
            <a:spLocks noGrp="1"/>
          </p:cNvSpPr>
          <p:nvPr/>
        </p:nvSpPr>
        <p:spPr>
          <a:xfrm>
            <a:off x="7648575" y="2581275"/>
            <a:ext cx="2038350" cy="28575"/>
          </a:xfrm>
          <a:prstGeom prst="rect">
            <a:avLst/>
          </a:prstGeom>
          <a:solidFill>
            <a:srgbClr val="D7E0E8"/>
          </a:solidFill>
          <a:ln w="0">
            <a:solidFill>
              <a:srgbClr val="D7E0E8"/>
            </a:solidFill>
            <a:prstDash val="solid"/>
          </a:ln>
        </p:spPr>
      </p:sp>
      <p:sp>
        <p:nvSpPr>
          <p:cNvPr id="16" name="Oval 15">
            <a:extLst>
              <a:ext uri="{FF2B5EF4-FFF2-40B4-BE49-F238E27FC236}">
                <a16:creationId xmlns:a16="http://schemas.microsoft.com/office/drawing/2014/main" id="{13901773-168B-4B25-B594-30CC3B49A150}"/>
              </a:ext>
            </a:extLst>
          </p:cNvPr>
          <p:cNvSpPr>
            <a:spLocks noGrp="1"/>
          </p:cNvSpPr>
          <p:nvPr/>
        </p:nvSpPr>
        <p:spPr>
          <a:xfrm>
            <a:off x="7115175" y="2333625"/>
            <a:ext cx="533400" cy="533400"/>
          </a:xfrm>
          <a:prstGeom prst="ellipse">
            <a:avLst/>
          </a:prstGeom>
          <a:solidFill>
            <a:srgbClr val="0DA6A6"/>
          </a:solidFill>
          <a:ln w="0">
            <a:solidFill>
              <a:srgbClr val="0DA6A6"/>
            </a:solidFill>
            <a:prstDash val="solid"/>
          </a:ln>
        </p:spPr>
      </p:sp>
      <p:sp>
        <p:nvSpPr>
          <p:cNvPr id="17" name="Rectangle 16">
            <a:extLst>
              <a:ext uri="{FF2B5EF4-FFF2-40B4-BE49-F238E27FC236}">
                <a16:creationId xmlns:a16="http://schemas.microsoft.com/office/drawing/2014/main" id="{2EA03017-D98E-40C6-960C-CC8F8F39BD93}"/>
              </a:ext>
            </a:extLst>
          </p:cNvPr>
          <p:cNvSpPr>
            <a:spLocks noGrp="1"/>
          </p:cNvSpPr>
          <p:nvPr/>
        </p:nvSpPr>
        <p:spPr>
          <a:xfrm>
            <a:off x="7115175" y="2476500"/>
            <a:ext cx="533400" cy="266700"/>
          </a:xfrm>
          <a:prstGeom prst="rect">
            <a:avLst/>
          </a:prstGeom>
          <a:noFill/>
          <a:ln w="0">
            <a:noFill/>
            <a:prstDash val="solid"/>
          </a:ln>
        </p:spPr>
        <p:txBody>
          <a:bodyPr lIns="0" tIns="0" rIns="0" bIns="0" anchor="t">
            <a:normAutofit/>
          </a:bodyPr>
          <a:lstStyle/>
          <a:p>
            <a:pPr algn="ctr">
              <a:buNone/>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8" name="Rectangle 17">
            <a:extLst>
              <a:ext uri="{FF2B5EF4-FFF2-40B4-BE49-F238E27FC236}">
                <a16:creationId xmlns:a16="http://schemas.microsoft.com/office/drawing/2014/main" id="{603DB188-79E7-4C1B-9241-78F5B9C8BBCC}"/>
              </a:ext>
            </a:extLst>
          </p:cNvPr>
          <p:cNvSpPr>
            <a:spLocks noGrp="1"/>
          </p:cNvSpPr>
          <p:nvPr/>
        </p:nvSpPr>
        <p:spPr>
          <a:xfrm>
            <a:off x="6191250" y="3057525"/>
            <a:ext cx="2381250" cy="381000"/>
          </a:xfrm>
          <a:prstGeom prst="rect">
            <a:avLst/>
          </a:prstGeom>
          <a:noFill/>
          <a:ln w="0">
            <a:noFill/>
            <a:prstDash val="solid"/>
          </a:ln>
        </p:spPr>
        <p:txBody>
          <a:bodyPr lIns="0" tIns="0" rIns="0" bIns="0" anchor="t">
            <a:normAutofit/>
          </a:bodyPr>
          <a:lstStyle/>
          <a:p>
            <a:pPr algn="ctr">
              <a:buNone/>
              <a:defRPr sz="1200" b="1">
                <a:solidFill>
                  <a:srgbClr val="0B1220"/>
                </a:solidFill>
                <a:latin typeface="Arial"/>
                <a:ea typeface="Arial"/>
                <a:cs typeface="Arial"/>
              </a:defRPr>
            </a:pPr>
            <a:r>
              <a:rPr sz="1200" b="1">
                <a:solidFill>
                  <a:srgbClr val="0B1220"/>
                </a:solidFill>
                <a:latin typeface="Arial"/>
                <a:ea typeface="Arial"/>
                <a:cs typeface="Arial"/>
              </a:rPr>
              <a:t>Review</a:t>
            </a:r>
          </a:p>
        </p:txBody>
      </p:sp>
      <p:sp>
        <p:nvSpPr>
          <p:cNvPr id="19" name="Oval 18">
            <a:extLst>
              <a:ext uri="{FF2B5EF4-FFF2-40B4-BE49-F238E27FC236}">
                <a16:creationId xmlns:a16="http://schemas.microsoft.com/office/drawing/2014/main" id="{D96429B7-37D8-4999-9D14-568FAE55E2C0}"/>
              </a:ext>
            </a:extLst>
          </p:cNvPr>
          <p:cNvSpPr>
            <a:spLocks noGrp="1"/>
          </p:cNvSpPr>
          <p:nvPr/>
        </p:nvSpPr>
        <p:spPr>
          <a:xfrm>
            <a:off x="9686925" y="2333625"/>
            <a:ext cx="533400" cy="533400"/>
          </a:xfrm>
          <a:prstGeom prst="ellipse">
            <a:avLst/>
          </a:prstGeom>
          <a:solidFill>
            <a:srgbClr val="EAF5FB"/>
          </a:solidFill>
          <a:ln w="0">
            <a:solidFill>
              <a:srgbClr val="EAF5FB"/>
            </a:solidFill>
            <a:prstDash val="solid"/>
          </a:ln>
        </p:spPr>
      </p:sp>
      <p:sp>
        <p:nvSpPr>
          <p:cNvPr id="20" name="Rectangle 19">
            <a:extLst>
              <a:ext uri="{FF2B5EF4-FFF2-40B4-BE49-F238E27FC236}">
                <a16:creationId xmlns:a16="http://schemas.microsoft.com/office/drawing/2014/main" id="{B87FD607-681E-4F59-B9D9-07803F78B60D}"/>
              </a:ext>
            </a:extLst>
          </p:cNvPr>
          <p:cNvSpPr>
            <a:spLocks noGrp="1"/>
          </p:cNvSpPr>
          <p:nvPr/>
        </p:nvSpPr>
        <p:spPr>
          <a:xfrm>
            <a:off x="9686925" y="2476500"/>
            <a:ext cx="533400" cy="266700"/>
          </a:xfrm>
          <a:prstGeom prst="rect">
            <a:avLst/>
          </a:prstGeom>
          <a:noFill/>
          <a:ln w="0">
            <a:noFill/>
            <a:prstDash val="solid"/>
          </a:ln>
        </p:spPr>
        <p:txBody>
          <a:bodyPr lIns="0" tIns="0" rIns="0" bIns="0" anchor="t">
            <a:normAutofit/>
          </a:bodyPr>
          <a:lstStyle/>
          <a:p>
            <a:pPr algn="ctr">
              <a:buNone/>
              <a:defRPr sz="1350" b="1">
                <a:solidFill>
                  <a:srgbClr val="0F2A43"/>
                </a:solidFill>
                <a:latin typeface="Arial"/>
                <a:ea typeface="Arial"/>
                <a:cs typeface="Arial"/>
              </a:defRPr>
            </a:pPr>
            <a:r>
              <a:rPr sz="1350" b="1">
                <a:solidFill>
                  <a:srgbClr val="0F2A43"/>
                </a:solidFill>
                <a:latin typeface="Arial"/>
                <a:ea typeface="Arial"/>
                <a:cs typeface="Arial"/>
              </a:rPr>
              <a:t>4</a:t>
            </a:r>
          </a:p>
        </p:txBody>
      </p:sp>
      <p:sp>
        <p:nvSpPr>
          <p:cNvPr id="21" name="Rectangle 20">
            <a:extLst>
              <a:ext uri="{FF2B5EF4-FFF2-40B4-BE49-F238E27FC236}">
                <a16:creationId xmlns:a16="http://schemas.microsoft.com/office/drawing/2014/main" id="{6C982C1F-565B-45AA-A517-F6C8CB1A4EAD}"/>
              </a:ext>
            </a:extLst>
          </p:cNvPr>
          <p:cNvSpPr>
            <a:spLocks noGrp="1"/>
          </p:cNvSpPr>
          <p:nvPr/>
        </p:nvSpPr>
        <p:spPr>
          <a:xfrm>
            <a:off x="8763000" y="3057525"/>
            <a:ext cx="2381250" cy="381000"/>
          </a:xfrm>
          <a:prstGeom prst="rect">
            <a:avLst/>
          </a:prstGeom>
          <a:noFill/>
          <a:ln w="0">
            <a:noFill/>
            <a:prstDash val="solid"/>
          </a:ln>
        </p:spPr>
        <p:txBody>
          <a:bodyPr lIns="0" tIns="0" rIns="0" bIns="0" anchor="t">
            <a:normAutofit/>
          </a:bodyPr>
          <a:lstStyle/>
          <a:p>
            <a:pPr algn="ctr">
              <a:buNone/>
              <a:defRPr sz="1200" b="1">
                <a:solidFill>
                  <a:srgbClr val="0B1220"/>
                </a:solidFill>
                <a:latin typeface="Arial"/>
                <a:ea typeface="Arial"/>
                <a:cs typeface="Arial"/>
              </a:defRPr>
            </a:pPr>
            <a:r>
              <a:rPr sz="1200" b="1">
                <a:solidFill>
                  <a:srgbClr val="0B1220"/>
                </a:solidFill>
                <a:latin typeface="Arial"/>
                <a:ea typeface="Arial"/>
                <a:cs typeface="Arial"/>
              </a:rPr>
              <a:t>Sync</a:t>
            </a:r>
          </a:p>
        </p:txBody>
      </p:sp>
      <p:sp>
        <p:nvSpPr>
          <p:cNvPr id="22" name="Rectangle 21">
            <a:extLst>
              <a:ext uri="{FF2B5EF4-FFF2-40B4-BE49-F238E27FC236}">
                <a16:creationId xmlns:a16="http://schemas.microsoft.com/office/drawing/2014/main" id="{480836FF-0ADD-4897-AB67-AFB0E62281EE}"/>
              </a:ext>
            </a:extLst>
          </p:cNvPr>
          <p:cNvSpPr>
            <a:spLocks noGrp="1"/>
          </p:cNvSpPr>
          <p:nvPr/>
        </p:nvSpPr>
        <p:spPr>
          <a:xfrm>
            <a:off x="1524000" y="4095750"/>
            <a:ext cx="2476500" cy="285750"/>
          </a:xfrm>
          <a:prstGeom prst="rect">
            <a:avLst/>
          </a:prstGeom>
          <a:noFill/>
          <a:ln w="0">
            <a:noFill/>
            <a:prstDash val="solid"/>
          </a:ln>
        </p:spPr>
        <p:txBody>
          <a:bodyPr lIns="0" tIns="0" rIns="0" bIns="0" anchor="t">
            <a:normAutofit/>
          </a:bodyPr>
          <a:lstStyle/>
          <a:p>
            <a:pPr algn="l">
              <a:buNone/>
              <a:defRPr sz="1650" b="1">
                <a:solidFill>
                  <a:srgbClr val="0F2A43"/>
                </a:solidFill>
                <a:latin typeface="Arial"/>
                <a:ea typeface="Arial"/>
                <a:cs typeface="Arial"/>
              </a:defRPr>
            </a:pPr>
            <a:r>
              <a:rPr sz="1650" b="1">
                <a:solidFill>
                  <a:srgbClr val="0F2A43"/>
                </a:solidFill>
                <a:latin typeface="Arial"/>
                <a:ea typeface="Arial"/>
                <a:cs typeface="Arial"/>
              </a:rPr>
              <a:t>Offline scope</a:t>
            </a:r>
          </a:p>
        </p:txBody>
      </p:sp>
      <p:sp>
        <p:nvSpPr>
          <p:cNvPr id="23" name="Rectangle 22">
            <a:extLst>
              <a:ext uri="{FF2B5EF4-FFF2-40B4-BE49-F238E27FC236}">
                <a16:creationId xmlns:a16="http://schemas.microsoft.com/office/drawing/2014/main" id="{028B70F9-B8AA-4D73-8B66-380C229BF0C8}"/>
              </a:ext>
            </a:extLst>
          </p:cNvPr>
          <p:cNvSpPr>
            <a:spLocks noGrp="1"/>
          </p:cNvSpPr>
          <p:nvPr/>
        </p:nvSpPr>
        <p:spPr>
          <a:xfrm>
            <a:off x="1524000" y="4552950"/>
            <a:ext cx="2857500" cy="685800"/>
          </a:xfrm>
          <a:prstGeom prst="rect">
            <a:avLst/>
          </a:prstGeom>
          <a:noFill/>
          <a:ln w="0">
            <a:noFill/>
            <a:prstDash val="solid"/>
          </a:ln>
        </p:spPr>
        <p:txBody>
          <a:bodyPr lIns="0" tIns="0" rIns="0" bIns="0" anchor="t">
            <a:normAutofit/>
          </a:bodyPr>
          <a:lstStyle/>
          <a:p>
            <a:pPr algn="l">
              <a:buNone/>
              <a:defRPr sz="1425" b="0">
                <a:solidFill>
                  <a:srgbClr val="586879"/>
                </a:solidFill>
                <a:latin typeface="Arial"/>
                <a:ea typeface="Arial"/>
                <a:cs typeface="Arial"/>
              </a:defRPr>
            </a:pPr>
            <a:r>
              <a:rPr sz="1425" b="0">
                <a:solidFill>
                  <a:srgbClr val="586879"/>
                </a:solidFill>
                <a:latin typeface="Arial"/>
                <a:ea typeface="Arial"/>
                <a:cs typeface="Arial"/>
              </a:rPr>
              <a:t>Read history, view bookmarks and continue downloaded practice.</a:t>
            </a:r>
          </a:p>
        </p:txBody>
      </p:sp>
      <p:sp>
        <p:nvSpPr>
          <p:cNvPr id="24" name="Rectangle 23">
            <a:extLst>
              <a:ext uri="{FF2B5EF4-FFF2-40B4-BE49-F238E27FC236}">
                <a16:creationId xmlns:a16="http://schemas.microsoft.com/office/drawing/2014/main" id="{459C3B58-DC2B-4DB2-9636-66BFE4B64684}"/>
              </a:ext>
            </a:extLst>
          </p:cNvPr>
          <p:cNvSpPr>
            <a:spLocks noGrp="1"/>
          </p:cNvSpPr>
          <p:nvPr/>
        </p:nvSpPr>
        <p:spPr>
          <a:xfrm>
            <a:off x="7239000" y="4095750"/>
            <a:ext cx="2857500" cy="285750"/>
          </a:xfrm>
          <a:prstGeom prst="rect">
            <a:avLst/>
          </a:prstGeom>
          <a:noFill/>
          <a:ln w="0">
            <a:noFill/>
            <a:prstDash val="solid"/>
          </a:ln>
        </p:spPr>
        <p:txBody>
          <a:bodyPr lIns="0" tIns="0" rIns="0" bIns="0" anchor="t">
            <a:normAutofit/>
          </a:bodyPr>
          <a:lstStyle/>
          <a:p>
            <a:pPr algn="l">
              <a:buNone/>
              <a:defRPr sz="1650" b="1">
                <a:solidFill>
                  <a:srgbClr val="0F2A43"/>
                </a:solidFill>
                <a:latin typeface="Arial"/>
                <a:ea typeface="Arial"/>
                <a:cs typeface="Arial"/>
              </a:defRPr>
            </a:pPr>
            <a:r>
              <a:rPr sz="1650" b="1">
                <a:solidFill>
                  <a:srgbClr val="0F2A43"/>
                </a:solidFill>
                <a:latin typeface="Arial"/>
                <a:ea typeface="Arial"/>
                <a:cs typeface="Arial"/>
              </a:rPr>
              <a:t>When online returns</a:t>
            </a:r>
          </a:p>
        </p:txBody>
      </p:sp>
      <p:sp>
        <p:nvSpPr>
          <p:cNvPr id="25" name="Rectangle 24">
            <a:extLst>
              <a:ext uri="{FF2B5EF4-FFF2-40B4-BE49-F238E27FC236}">
                <a16:creationId xmlns:a16="http://schemas.microsoft.com/office/drawing/2014/main" id="{CACA4353-6E95-47A3-BA42-879D93448B49}"/>
              </a:ext>
            </a:extLst>
          </p:cNvPr>
          <p:cNvSpPr>
            <a:spLocks noGrp="1"/>
          </p:cNvSpPr>
          <p:nvPr/>
        </p:nvSpPr>
        <p:spPr>
          <a:xfrm>
            <a:off x="7239000" y="4552950"/>
            <a:ext cx="3238500" cy="685800"/>
          </a:xfrm>
          <a:prstGeom prst="rect">
            <a:avLst/>
          </a:prstGeom>
          <a:noFill/>
          <a:ln w="0">
            <a:noFill/>
            <a:prstDash val="solid"/>
          </a:ln>
        </p:spPr>
        <p:txBody>
          <a:bodyPr lIns="0" tIns="0" rIns="0" bIns="0" anchor="t">
            <a:normAutofit/>
          </a:bodyPr>
          <a:lstStyle/>
          <a:p>
            <a:pPr algn="l">
              <a:buNone/>
              <a:defRPr sz="1425" b="0">
                <a:solidFill>
                  <a:srgbClr val="586879"/>
                </a:solidFill>
                <a:latin typeface="Arial"/>
                <a:ea typeface="Arial"/>
                <a:cs typeface="Arial"/>
              </a:defRPr>
            </a:pPr>
            <a:r>
              <a:rPr sz="1425" b="0">
                <a:solidFill>
                  <a:srgbClr val="586879"/>
                </a:solidFill>
                <a:latin typeface="Arial"/>
                <a:ea typeface="Arial"/>
                <a:cs typeface="Arial"/>
              </a:rPr>
              <a:t>Sync queued questions, refresh progress and show status clearly.</a:t>
            </a:r>
          </a:p>
        </p:txBody>
      </p:sp>
    </p:spTree>
    <p:extLst>
      <p:ext uri="{BB962C8B-B14F-4D97-AF65-F5344CB8AC3E}">
        <p14:creationId xmlns:p14="http://schemas.microsoft.com/office/powerpoint/2010/main" val="1216427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E8EC6103-F954-4BD8-BFCE-9041E52273BA}"/>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7EF518BE-718F-47F2-BD99-793E870501C3}"/>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19</a:t>
            </a:r>
          </a:p>
        </p:txBody>
      </p:sp>
      <p:sp>
        <p:nvSpPr>
          <p:cNvPr id="3" name="Rectangle 2">
            <a:extLst>
              <a:ext uri="{FF2B5EF4-FFF2-40B4-BE49-F238E27FC236}">
                <a16:creationId xmlns:a16="http://schemas.microsoft.com/office/drawing/2014/main" id="{C4131074-EFCB-4CDC-8F79-F39E55F91D37}"/>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FCDF0A8A-2502-4E8A-BAE8-FA1FB3E059A2}"/>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E13EC9B3-A9AD-4BF8-B178-1270FD6ED0A6}"/>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Security and safety are functional requirements</a:t>
            </a:r>
          </a:p>
        </p:txBody>
      </p:sp>
      <p:sp>
        <p:nvSpPr>
          <p:cNvPr id="6" name="Rectangle 5">
            <a:extLst>
              <a:ext uri="{FF2B5EF4-FFF2-40B4-BE49-F238E27FC236}">
                <a16:creationId xmlns:a16="http://schemas.microsoft.com/office/drawing/2014/main" id="{F1E9EADD-933C-4EB5-A59E-A2B07C59170D}"/>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Student questions, images and profile data must be treated as protected content.</a:t>
            </a:r>
          </a:p>
        </p:txBody>
      </p:sp>
      <p:sp>
        <p:nvSpPr>
          <p:cNvPr id="7" name="Rectangle 6">
            <a:extLst>
              <a:ext uri="{FF2B5EF4-FFF2-40B4-BE49-F238E27FC236}">
                <a16:creationId xmlns:a16="http://schemas.microsoft.com/office/drawing/2014/main" id="{DB16F517-DBFB-4C66-948B-1FB921198F01}"/>
              </a:ext>
            </a:extLst>
          </p:cNvPr>
          <p:cNvSpPr>
            <a:spLocks noGrp="1"/>
          </p:cNvSpPr>
          <p:nvPr/>
        </p:nvSpPr>
        <p:spPr>
          <a:xfrm>
            <a:off x="609600" y="1905000"/>
            <a:ext cx="2476500" cy="666750"/>
          </a:xfrm>
          <a:prstGeom prst="rect">
            <a:avLst/>
          </a:prstGeom>
          <a:solidFill>
            <a:srgbClr val="0F2A43"/>
          </a:solidFill>
          <a:ln w="9525">
            <a:solidFill>
              <a:srgbClr val="D7E0E8"/>
            </a:solidFill>
            <a:prstDash val="solid"/>
          </a:ln>
        </p:spPr>
      </p:sp>
      <p:sp>
        <p:nvSpPr>
          <p:cNvPr id="8" name="Rectangle 7">
            <a:extLst>
              <a:ext uri="{FF2B5EF4-FFF2-40B4-BE49-F238E27FC236}">
                <a16:creationId xmlns:a16="http://schemas.microsoft.com/office/drawing/2014/main" id="{808E3365-CE2A-4499-ADF0-ED4E855F482B}"/>
              </a:ext>
            </a:extLst>
          </p:cNvPr>
          <p:cNvSpPr>
            <a:spLocks noGrp="1"/>
          </p:cNvSpPr>
          <p:nvPr/>
        </p:nvSpPr>
        <p:spPr>
          <a:xfrm>
            <a:off x="704850" y="2000250"/>
            <a:ext cx="2286000" cy="514350"/>
          </a:xfrm>
          <a:prstGeom prst="rect">
            <a:avLst/>
          </a:prstGeom>
          <a:noFill/>
          <a:ln w="0">
            <a:noFill/>
            <a:prstDash val="solid"/>
          </a:ln>
        </p:spPr>
        <p:txBody>
          <a:bodyPr lIns="0" tIns="0" rIns="0" bIns="0" anchor="t">
            <a:normAutofit/>
          </a:bodyPr>
          <a:lstStyle/>
          <a:p>
            <a:pPr algn="l">
              <a:buNone/>
              <a:defRPr sz="1050" b="1">
                <a:solidFill>
                  <a:srgbClr val="FFFFFF"/>
                </a:solidFill>
                <a:latin typeface="Arial"/>
                <a:ea typeface="Arial"/>
                <a:cs typeface="Arial"/>
              </a:defRPr>
            </a:pPr>
            <a:r>
              <a:rPr sz="1050" b="1">
                <a:solidFill>
                  <a:srgbClr val="FFFFFF"/>
                </a:solidFill>
                <a:latin typeface="Arial"/>
                <a:ea typeface="Arial"/>
                <a:cs typeface="Arial"/>
              </a:rPr>
              <a:t>Requirement</a:t>
            </a:r>
          </a:p>
        </p:txBody>
      </p:sp>
      <p:sp>
        <p:nvSpPr>
          <p:cNvPr id="9" name="Rectangle 8">
            <a:extLst>
              <a:ext uri="{FF2B5EF4-FFF2-40B4-BE49-F238E27FC236}">
                <a16:creationId xmlns:a16="http://schemas.microsoft.com/office/drawing/2014/main" id="{576C69C9-ECEC-4907-A8F4-E6FCD85B18AC}"/>
              </a:ext>
            </a:extLst>
          </p:cNvPr>
          <p:cNvSpPr>
            <a:spLocks noGrp="1"/>
          </p:cNvSpPr>
          <p:nvPr/>
        </p:nvSpPr>
        <p:spPr>
          <a:xfrm>
            <a:off x="3086100" y="1905000"/>
            <a:ext cx="4476750" cy="666750"/>
          </a:xfrm>
          <a:prstGeom prst="rect">
            <a:avLst/>
          </a:prstGeom>
          <a:solidFill>
            <a:srgbClr val="0F2A43"/>
          </a:solidFill>
          <a:ln w="9525">
            <a:solidFill>
              <a:srgbClr val="D7E0E8"/>
            </a:solidFill>
            <a:prstDash val="solid"/>
          </a:ln>
        </p:spPr>
      </p:sp>
      <p:sp>
        <p:nvSpPr>
          <p:cNvPr id="10" name="Rectangle 9">
            <a:extLst>
              <a:ext uri="{FF2B5EF4-FFF2-40B4-BE49-F238E27FC236}">
                <a16:creationId xmlns:a16="http://schemas.microsoft.com/office/drawing/2014/main" id="{24313BB4-6998-4242-A219-59CCD6699633}"/>
              </a:ext>
            </a:extLst>
          </p:cNvPr>
          <p:cNvSpPr>
            <a:spLocks noGrp="1"/>
          </p:cNvSpPr>
          <p:nvPr/>
        </p:nvSpPr>
        <p:spPr>
          <a:xfrm>
            <a:off x="3181350" y="2000250"/>
            <a:ext cx="4286250" cy="514350"/>
          </a:xfrm>
          <a:prstGeom prst="rect">
            <a:avLst/>
          </a:prstGeom>
          <a:noFill/>
          <a:ln w="0">
            <a:noFill/>
            <a:prstDash val="solid"/>
          </a:ln>
        </p:spPr>
        <p:txBody>
          <a:bodyPr lIns="0" tIns="0" rIns="0" bIns="0" anchor="t">
            <a:normAutofit/>
          </a:bodyPr>
          <a:lstStyle/>
          <a:p>
            <a:pPr algn="l">
              <a:buNone/>
              <a:defRPr sz="1050" b="1">
                <a:solidFill>
                  <a:srgbClr val="FFFFFF"/>
                </a:solidFill>
                <a:latin typeface="Arial"/>
                <a:ea typeface="Arial"/>
                <a:cs typeface="Arial"/>
              </a:defRPr>
            </a:pPr>
            <a:r>
              <a:rPr sz="1050" b="1">
                <a:solidFill>
                  <a:srgbClr val="FFFFFF"/>
                </a:solidFill>
                <a:latin typeface="Arial"/>
                <a:ea typeface="Arial"/>
                <a:cs typeface="Arial"/>
              </a:rPr>
              <a:t>Expected behaviour</a:t>
            </a:r>
          </a:p>
        </p:txBody>
      </p:sp>
      <p:sp>
        <p:nvSpPr>
          <p:cNvPr id="11" name="Rectangle 10">
            <a:extLst>
              <a:ext uri="{FF2B5EF4-FFF2-40B4-BE49-F238E27FC236}">
                <a16:creationId xmlns:a16="http://schemas.microsoft.com/office/drawing/2014/main" id="{8C57AD45-2B28-4B4F-8301-3B7B9B055BD5}"/>
              </a:ext>
            </a:extLst>
          </p:cNvPr>
          <p:cNvSpPr>
            <a:spLocks noGrp="1"/>
          </p:cNvSpPr>
          <p:nvPr/>
        </p:nvSpPr>
        <p:spPr>
          <a:xfrm>
            <a:off x="7562850" y="1905000"/>
            <a:ext cx="3638550" cy="666750"/>
          </a:xfrm>
          <a:prstGeom prst="rect">
            <a:avLst/>
          </a:prstGeom>
          <a:solidFill>
            <a:srgbClr val="0F2A43"/>
          </a:solidFill>
          <a:ln w="9525">
            <a:solidFill>
              <a:srgbClr val="D7E0E8"/>
            </a:solidFill>
            <a:prstDash val="solid"/>
          </a:ln>
        </p:spPr>
      </p:sp>
      <p:sp>
        <p:nvSpPr>
          <p:cNvPr id="12" name="Rectangle 11">
            <a:extLst>
              <a:ext uri="{FF2B5EF4-FFF2-40B4-BE49-F238E27FC236}">
                <a16:creationId xmlns:a16="http://schemas.microsoft.com/office/drawing/2014/main" id="{C5963D74-46CC-4299-B374-90BE443AE58E}"/>
              </a:ext>
            </a:extLst>
          </p:cNvPr>
          <p:cNvSpPr>
            <a:spLocks noGrp="1"/>
          </p:cNvSpPr>
          <p:nvPr/>
        </p:nvSpPr>
        <p:spPr>
          <a:xfrm>
            <a:off x="7658100" y="2000250"/>
            <a:ext cx="3448050" cy="514350"/>
          </a:xfrm>
          <a:prstGeom prst="rect">
            <a:avLst/>
          </a:prstGeom>
          <a:noFill/>
          <a:ln w="0">
            <a:noFill/>
            <a:prstDash val="solid"/>
          </a:ln>
        </p:spPr>
        <p:txBody>
          <a:bodyPr lIns="0" tIns="0" rIns="0" bIns="0" anchor="t">
            <a:normAutofit/>
          </a:bodyPr>
          <a:lstStyle/>
          <a:p>
            <a:pPr algn="l">
              <a:buNone/>
              <a:defRPr sz="1050" b="1">
                <a:solidFill>
                  <a:srgbClr val="FFFFFF"/>
                </a:solidFill>
                <a:latin typeface="Arial"/>
                <a:ea typeface="Arial"/>
                <a:cs typeface="Arial"/>
              </a:defRPr>
            </a:pPr>
            <a:r>
              <a:rPr sz="1050" b="1">
                <a:solidFill>
                  <a:srgbClr val="FFFFFF"/>
                </a:solidFill>
                <a:latin typeface="Arial"/>
                <a:ea typeface="Arial"/>
                <a:cs typeface="Arial"/>
              </a:rPr>
              <a:t>Why it matters</a:t>
            </a:r>
          </a:p>
        </p:txBody>
      </p:sp>
      <p:sp>
        <p:nvSpPr>
          <p:cNvPr id="13" name="Rectangle 12">
            <a:extLst>
              <a:ext uri="{FF2B5EF4-FFF2-40B4-BE49-F238E27FC236}">
                <a16:creationId xmlns:a16="http://schemas.microsoft.com/office/drawing/2014/main" id="{95456970-8CE2-4897-80C1-D854F01A07C6}"/>
              </a:ext>
            </a:extLst>
          </p:cNvPr>
          <p:cNvSpPr>
            <a:spLocks noGrp="1"/>
          </p:cNvSpPr>
          <p:nvPr/>
        </p:nvSpPr>
        <p:spPr>
          <a:xfrm>
            <a:off x="609600" y="2571750"/>
            <a:ext cx="2476500" cy="666750"/>
          </a:xfrm>
          <a:prstGeom prst="rect">
            <a:avLst/>
          </a:prstGeom>
          <a:solidFill>
            <a:srgbClr val="FFFFFF"/>
          </a:solidFill>
          <a:ln w="9525">
            <a:solidFill>
              <a:srgbClr val="D7E0E8"/>
            </a:solidFill>
            <a:prstDash val="solid"/>
          </a:ln>
        </p:spPr>
      </p:sp>
      <p:sp>
        <p:nvSpPr>
          <p:cNvPr id="14" name="Rectangle 13">
            <a:extLst>
              <a:ext uri="{FF2B5EF4-FFF2-40B4-BE49-F238E27FC236}">
                <a16:creationId xmlns:a16="http://schemas.microsoft.com/office/drawing/2014/main" id="{24F2C734-DD2F-4EE6-99F0-AD6AE2E1BA43}"/>
              </a:ext>
            </a:extLst>
          </p:cNvPr>
          <p:cNvSpPr>
            <a:spLocks noGrp="1"/>
          </p:cNvSpPr>
          <p:nvPr/>
        </p:nvSpPr>
        <p:spPr>
          <a:xfrm>
            <a:off x="704850" y="2667000"/>
            <a:ext cx="2286000" cy="514350"/>
          </a:xfrm>
          <a:prstGeom prst="rect">
            <a:avLst/>
          </a:prstGeom>
          <a:noFill/>
          <a:ln w="0">
            <a:noFill/>
            <a:prstDash val="solid"/>
          </a:ln>
        </p:spPr>
        <p:txBody>
          <a:bodyPr lIns="0" tIns="0" rIns="0" bIns="0" anchor="t">
            <a:normAutofit/>
          </a:bodyPr>
          <a:lstStyle/>
          <a:p>
            <a:pPr algn="l">
              <a:buNone/>
              <a:defRPr sz="1125" b="1">
                <a:solidFill>
                  <a:srgbClr val="0F2A43"/>
                </a:solidFill>
                <a:latin typeface="Arial"/>
                <a:ea typeface="Arial"/>
                <a:cs typeface="Arial"/>
              </a:defRPr>
            </a:pPr>
            <a:r>
              <a:rPr sz="1125" b="1">
                <a:solidFill>
                  <a:srgbClr val="0F2A43"/>
                </a:solidFill>
                <a:latin typeface="Arial"/>
                <a:ea typeface="Arial"/>
                <a:cs typeface="Arial"/>
              </a:rPr>
              <a:t>Password strength</a:t>
            </a:r>
          </a:p>
        </p:txBody>
      </p:sp>
      <p:sp>
        <p:nvSpPr>
          <p:cNvPr id="15" name="Rectangle 14">
            <a:extLst>
              <a:ext uri="{FF2B5EF4-FFF2-40B4-BE49-F238E27FC236}">
                <a16:creationId xmlns:a16="http://schemas.microsoft.com/office/drawing/2014/main" id="{BF345E59-C12E-42CD-9B62-9123E27832CD}"/>
              </a:ext>
            </a:extLst>
          </p:cNvPr>
          <p:cNvSpPr>
            <a:spLocks noGrp="1"/>
          </p:cNvSpPr>
          <p:nvPr/>
        </p:nvSpPr>
        <p:spPr>
          <a:xfrm>
            <a:off x="3086100" y="2571750"/>
            <a:ext cx="4476750" cy="666750"/>
          </a:xfrm>
          <a:prstGeom prst="rect">
            <a:avLst/>
          </a:prstGeom>
          <a:solidFill>
            <a:srgbClr val="FFFFFF"/>
          </a:solidFill>
          <a:ln w="9525">
            <a:solidFill>
              <a:srgbClr val="D7E0E8"/>
            </a:solidFill>
            <a:prstDash val="solid"/>
          </a:ln>
        </p:spPr>
      </p:sp>
      <p:sp>
        <p:nvSpPr>
          <p:cNvPr id="16" name="Rectangle 15">
            <a:extLst>
              <a:ext uri="{FF2B5EF4-FFF2-40B4-BE49-F238E27FC236}">
                <a16:creationId xmlns:a16="http://schemas.microsoft.com/office/drawing/2014/main" id="{C049C38A-74C0-4253-8D32-1E3E51DAE4A9}"/>
              </a:ext>
            </a:extLst>
          </p:cNvPr>
          <p:cNvSpPr>
            <a:spLocks noGrp="1"/>
          </p:cNvSpPr>
          <p:nvPr/>
        </p:nvSpPr>
        <p:spPr>
          <a:xfrm>
            <a:off x="3181350" y="2667000"/>
            <a:ext cx="42862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Weak passwords are blocked</a:t>
            </a:r>
          </a:p>
        </p:txBody>
      </p:sp>
      <p:sp>
        <p:nvSpPr>
          <p:cNvPr id="17" name="Rectangle 16">
            <a:extLst>
              <a:ext uri="{FF2B5EF4-FFF2-40B4-BE49-F238E27FC236}">
                <a16:creationId xmlns:a16="http://schemas.microsoft.com/office/drawing/2014/main" id="{BEEC1D9B-39FF-4521-94BB-DB150DC0A7C0}"/>
              </a:ext>
            </a:extLst>
          </p:cNvPr>
          <p:cNvSpPr>
            <a:spLocks noGrp="1"/>
          </p:cNvSpPr>
          <p:nvPr/>
        </p:nvSpPr>
        <p:spPr>
          <a:xfrm>
            <a:off x="7562850" y="2571750"/>
            <a:ext cx="3638550" cy="666750"/>
          </a:xfrm>
          <a:prstGeom prst="rect">
            <a:avLst/>
          </a:prstGeom>
          <a:solidFill>
            <a:srgbClr val="FFFFFF"/>
          </a:solidFill>
          <a:ln w="9525">
            <a:solidFill>
              <a:srgbClr val="D7E0E8"/>
            </a:solidFill>
            <a:prstDash val="solid"/>
          </a:ln>
        </p:spPr>
      </p:sp>
      <p:sp>
        <p:nvSpPr>
          <p:cNvPr id="18" name="Rectangle 17">
            <a:extLst>
              <a:ext uri="{FF2B5EF4-FFF2-40B4-BE49-F238E27FC236}">
                <a16:creationId xmlns:a16="http://schemas.microsoft.com/office/drawing/2014/main" id="{15BFDC76-6A53-459B-94FD-1A430548386F}"/>
              </a:ext>
            </a:extLst>
          </p:cNvPr>
          <p:cNvSpPr>
            <a:spLocks noGrp="1"/>
          </p:cNvSpPr>
          <p:nvPr/>
        </p:nvSpPr>
        <p:spPr>
          <a:xfrm>
            <a:off x="7658100" y="2667000"/>
            <a:ext cx="34480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Reduces account compromise</a:t>
            </a:r>
          </a:p>
        </p:txBody>
      </p:sp>
      <p:sp>
        <p:nvSpPr>
          <p:cNvPr id="19" name="Rectangle 18">
            <a:extLst>
              <a:ext uri="{FF2B5EF4-FFF2-40B4-BE49-F238E27FC236}">
                <a16:creationId xmlns:a16="http://schemas.microsoft.com/office/drawing/2014/main" id="{2550A4AB-9E20-42CB-A5E0-D395347880BD}"/>
              </a:ext>
            </a:extLst>
          </p:cNvPr>
          <p:cNvSpPr>
            <a:spLocks noGrp="1"/>
          </p:cNvSpPr>
          <p:nvPr/>
        </p:nvSpPr>
        <p:spPr>
          <a:xfrm>
            <a:off x="609600" y="3238500"/>
            <a:ext cx="2476500" cy="666750"/>
          </a:xfrm>
          <a:prstGeom prst="rect">
            <a:avLst/>
          </a:prstGeom>
          <a:solidFill>
            <a:srgbClr val="F2F7FA"/>
          </a:solidFill>
          <a:ln w="9525">
            <a:solidFill>
              <a:srgbClr val="D7E0E8"/>
            </a:solidFill>
            <a:prstDash val="solid"/>
          </a:ln>
        </p:spPr>
      </p:sp>
      <p:sp>
        <p:nvSpPr>
          <p:cNvPr id="20" name="Rectangle 19">
            <a:extLst>
              <a:ext uri="{FF2B5EF4-FFF2-40B4-BE49-F238E27FC236}">
                <a16:creationId xmlns:a16="http://schemas.microsoft.com/office/drawing/2014/main" id="{02742A73-219C-4BF3-A11E-1CDE5AADFFBF}"/>
              </a:ext>
            </a:extLst>
          </p:cNvPr>
          <p:cNvSpPr>
            <a:spLocks noGrp="1"/>
          </p:cNvSpPr>
          <p:nvPr/>
        </p:nvSpPr>
        <p:spPr>
          <a:xfrm>
            <a:off x="704850" y="3333750"/>
            <a:ext cx="2286000" cy="514350"/>
          </a:xfrm>
          <a:prstGeom prst="rect">
            <a:avLst/>
          </a:prstGeom>
          <a:noFill/>
          <a:ln w="0">
            <a:noFill/>
            <a:prstDash val="solid"/>
          </a:ln>
        </p:spPr>
        <p:txBody>
          <a:bodyPr lIns="0" tIns="0" rIns="0" bIns="0" anchor="t">
            <a:normAutofit/>
          </a:bodyPr>
          <a:lstStyle/>
          <a:p>
            <a:pPr algn="l">
              <a:buNone/>
              <a:defRPr sz="1125" b="1">
                <a:solidFill>
                  <a:srgbClr val="0F2A43"/>
                </a:solidFill>
                <a:latin typeface="Arial"/>
                <a:ea typeface="Arial"/>
                <a:cs typeface="Arial"/>
              </a:defRPr>
            </a:pPr>
            <a:r>
              <a:rPr sz="1125" b="1">
                <a:solidFill>
                  <a:srgbClr val="0F2A43"/>
                </a:solidFill>
                <a:latin typeface="Arial"/>
                <a:ea typeface="Arial"/>
                <a:cs typeface="Arial"/>
              </a:rPr>
              <a:t>2FA option</a:t>
            </a:r>
          </a:p>
        </p:txBody>
      </p:sp>
      <p:sp>
        <p:nvSpPr>
          <p:cNvPr id="21" name="Rectangle 20">
            <a:extLst>
              <a:ext uri="{FF2B5EF4-FFF2-40B4-BE49-F238E27FC236}">
                <a16:creationId xmlns:a16="http://schemas.microsoft.com/office/drawing/2014/main" id="{B6DFB105-BEC3-4749-A0A1-2C12779DA1F4}"/>
              </a:ext>
            </a:extLst>
          </p:cNvPr>
          <p:cNvSpPr>
            <a:spLocks noGrp="1"/>
          </p:cNvSpPr>
          <p:nvPr/>
        </p:nvSpPr>
        <p:spPr>
          <a:xfrm>
            <a:off x="3086100" y="3238500"/>
            <a:ext cx="4476750" cy="666750"/>
          </a:xfrm>
          <a:prstGeom prst="rect">
            <a:avLst/>
          </a:prstGeom>
          <a:solidFill>
            <a:srgbClr val="F2F7FA"/>
          </a:solidFill>
          <a:ln w="9525">
            <a:solidFill>
              <a:srgbClr val="D7E0E8"/>
            </a:solidFill>
            <a:prstDash val="solid"/>
          </a:ln>
        </p:spPr>
      </p:sp>
      <p:sp>
        <p:nvSpPr>
          <p:cNvPr id="22" name="Rectangle 21">
            <a:extLst>
              <a:ext uri="{FF2B5EF4-FFF2-40B4-BE49-F238E27FC236}">
                <a16:creationId xmlns:a16="http://schemas.microsoft.com/office/drawing/2014/main" id="{222CF79F-C0DC-4387-B2A0-4DD5FE2B76B5}"/>
              </a:ext>
            </a:extLst>
          </p:cNvPr>
          <p:cNvSpPr>
            <a:spLocks noGrp="1"/>
          </p:cNvSpPr>
          <p:nvPr/>
        </p:nvSpPr>
        <p:spPr>
          <a:xfrm>
            <a:off x="3181350" y="3333750"/>
            <a:ext cx="42862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Second factor can be enabled</a:t>
            </a:r>
          </a:p>
        </p:txBody>
      </p:sp>
      <p:sp>
        <p:nvSpPr>
          <p:cNvPr id="23" name="Rectangle 22">
            <a:extLst>
              <a:ext uri="{FF2B5EF4-FFF2-40B4-BE49-F238E27FC236}">
                <a16:creationId xmlns:a16="http://schemas.microsoft.com/office/drawing/2014/main" id="{9E69C6A4-540F-4840-9630-5914F064E029}"/>
              </a:ext>
            </a:extLst>
          </p:cNvPr>
          <p:cNvSpPr>
            <a:spLocks noGrp="1"/>
          </p:cNvSpPr>
          <p:nvPr/>
        </p:nvSpPr>
        <p:spPr>
          <a:xfrm>
            <a:off x="7562850" y="3238500"/>
            <a:ext cx="3638550" cy="666750"/>
          </a:xfrm>
          <a:prstGeom prst="rect">
            <a:avLst/>
          </a:prstGeom>
          <a:solidFill>
            <a:srgbClr val="F2F7FA"/>
          </a:solidFill>
          <a:ln w="9525">
            <a:solidFill>
              <a:srgbClr val="D7E0E8"/>
            </a:solidFill>
            <a:prstDash val="solid"/>
          </a:ln>
        </p:spPr>
      </p:sp>
      <p:sp>
        <p:nvSpPr>
          <p:cNvPr id="24" name="Rectangle 23">
            <a:extLst>
              <a:ext uri="{FF2B5EF4-FFF2-40B4-BE49-F238E27FC236}">
                <a16:creationId xmlns:a16="http://schemas.microsoft.com/office/drawing/2014/main" id="{5864516D-C193-448F-BB79-50B4CF82B1D8}"/>
              </a:ext>
            </a:extLst>
          </p:cNvPr>
          <p:cNvSpPr>
            <a:spLocks noGrp="1"/>
          </p:cNvSpPr>
          <p:nvPr/>
        </p:nvSpPr>
        <p:spPr>
          <a:xfrm>
            <a:off x="7658100" y="3333750"/>
            <a:ext cx="34480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Adds protection for personal history</a:t>
            </a:r>
          </a:p>
        </p:txBody>
      </p:sp>
      <p:sp>
        <p:nvSpPr>
          <p:cNvPr id="25" name="Rectangle 24">
            <a:extLst>
              <a:ext uri="{FF2B5EF4-FFF2-40B4-BE49-F238E27FC236}">
                <a16:creationId xmlns:a16="http://schemas.microsoft.com/office/drawing/2014/main" id="{69F7E9AF-1D0A-47FF-9BAA-9F984E9ABD99}"/>
              </a:ext>
            </a:extLst>
          </p:cNvPr>
          <p:cNvSpPr>
            <a:spLocks noGrp="1"/>
          </p:cNvSpPr>
          <p:nvPr/>
        </p:nvSpPr>
        <p:spPr>
          <a:xfrm>
            <a:off x="609600" y="3905250"/>
            <a:ext cx="2476500" cy="666750"/>
          </a:xfrm>
          <a:prstGeom prst="rect">
            <a:avLst/>
          </a:prstGeom>
          <a:solidFill>
            <a:srgbClr val="FFFFFF"/>
          </a:solidFill>
          <a:ln w="9525">
            <a:solidFill>
              <a:srgbClr val="D7E0E8"/>
            </a:solidFill>
            <a:prstDash val="solid"/>
          </a:ln>
        </p:spPr>
      </p:sp>
      <p:sp>
        <p:nvSpPr>
          <p:cNvPr id="26" name="Rectangle 25">
            <a:extLst>
              <a:ext uri="{FF2B5EF4-FFF2-40B4-BE49-F238E27FC236}">
                <a16:creationId xmlns:a16="http://schemas.microsoft.com/office/drawing/2014/main" id="{A43E99F6-28A9-419A-8BA3-E4962A1ED230}"/>
              </a:ext>
            </a:extLst>
          </p:cNvPr>
          <p:cNvSpPr>
            <a:spLocks noGrp="1"/>
          </p:cNvSpPr>
          <p:nvPr/>
        </p:nvSpPr>
        <p:spPr>
          <a:xfrm>
            <a:off x="704850" y="4000500"/>
            <a:ext cx="2286000" cy="514350"/>
          </a:xfrm>
          <a:prstGeom prst="rect">
            <a:avLst/>
          </a:prstGeom>
          <a:noFill/>
          <a:ln w="0">
            <a:noFill/>
            <a:prstDash val="solid"/>
          </a:ln>
        </p:spPr>
        <p:txBody>
          <a:bodyPr lIns="0" tIns="0" rIns="0" bIns="0" anchor="t">
            <a:normAutofit/>
          </a:bodyPr>
          <a:lstStyle/>
          <a:p>
            <a:pPr algn="l">
              <a:buNone/>
              <a:defRPr sz="1125" b="1">
                <a:solidFill>
                  <a:srgbClr val="0F2A43"/>
                </a:solidFill>
                <a:latin typeface="Arial"/>
                <a:ea typeface="Arial"/>
                <a:cs typeface="Arial"/>
              </a:defRPr>
            </a:pPr>
            <a:r>
              <a:rPr sz="1125" b="1">
                <a:solidFill>
                  <a:srgbClr val="0F2A43"/>
                </a:solidFill>
                <a:latin typeface="Arial"/>
                <a:ea typeface="Arial"/>
                <a:cs typeface="Arial"/>
              </a:rPr>
              <a:t>Encrypted storage</a:t>
            </a:r>
          </a:p>
        </p:txBody>
      </p:sp>
      <p:sp>
        <p:nvSpPr>
          <p:cNvPr id="27" name="Rectangle 26">
            <a:extLst>
              <a:ext uri="{FF2B5EF4-FFF2-40B4-BE49-F238E27FC236}">
                <a16:creationId xmlns:a16="http://schemas.microsoft.com/office/drawing/2014/main" id="{4F4AB35A-B95E-4CFE-A102-242E550F8A7B}"/>
              </a:ext>
            </a:extLst>
          </p:cNvPr>
          <p:cNvSpPr>
            <a:spLocks noGrp="1"/>
          </p:cNvSpPr>
          <p:nvPr/>
        </p:nvSpPr>
        <p:spPr>
          <a:xfrm>
            <a:off x="3086100" y="3905250"/>
            <a:ext cx="4476750" cy="666750"/>
          </a:xfrm>
          <a:prstGeom prst="rect">
            <a:avLst/>
          </a:prstGeom>
          <a:solidFill>
            <a:srgbClr val="FFFFFF"/>
          </a:solidFill>
          <a:ln w="9525">
            <a:solidFill>
              <a:srgbClr val="D7E0E8"/>
            </a:solidFill>
            <a:prstDash val="solid"/>
          </a:ln>
        </p:spPr>
      </p:sp>
      <p:sp>
        <p:nvSpPr>
          <p:cNvPr id="28" name="Rectangle 27">
            <a:extLst>
              <a:ext uri="{FF2B5EF4-FFF2-40B4-BE49-F238E27FC236}">
                <a16:creationId xmlns:a16="http://schemas.microsoft.com/office/drawing/2014/main" id="{7C869A6D-C632-45E6-8CAF-59EB0E1D54DD}"/>
              </a:ext>
            </a:extLst>
          </p:cNvPr>
          <p:cNvSpPr>
            <a:spLocks noGrp="1"/>
          </p:cNvSpPr>
          <p:nvPr/>
        </p:nvSpPr>
        <p:spPr>
          <a:xfrm>
            <a:off x="3181350" y="4000500"/>
            <a:ext cx="42862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User data and images protected</a:t>
            </a:r>
          </a:p>
        </p:txBody>
      </p:sp>
      <p:sp>
        <p:nvSpPr>
          <p:cNvPr id="29" name="Rectangle 28">
            <a:extLst>
              <a:ext uri="{FF2B5EF4-FFF2-40B4-BE49-F238E27FC236}">
                <a16:creationId xmlns:a16="http://schemas.microsoft.com/office/drawing/2014/main" id="{8DCA606F-8742-42DC-B640-5914EB80B7EE}"/>
              </a:ext>
            </a:extLst>
          </p:cNvPr>
          <p:cNvSpPr>
            <a:spLocks noGrp="1"/>
          </p:cNvSpPr>
          <p:nvPr/>
        </p:nvSpPr>
        <p:spPr>
          <a:xfrm>
            <a:off x="7562850" y="3905250"/>
            <a:ext cx="3638550" cy="666750"/>
          </a:xfrm>
          <a:prstGeom prst="rect">
            <a:avLst/>
          </a:prstGeom>
          <a:solidFill>
            <a:srgbClr val="FFFFFF"/>
          </a:solidFill>
          <a:ln w="9525">
            <a:solidFill>
              <a:srgbClr val="D7E0E8"/>
            </a:solidFill>
            <a:prstDash val="solid"/>
          </a:ln>
        </p:spPr>
      </p:sp>
      <p:sp>
        <p:nvSpPr>
          <p:cNvPr id="30" name="Rectangle 29">
            <a:extLst>
              <a:ext uri="{FF2B5EF4-FFF2-40B4-BE49-F238E27FC236}">
                <a16:creationId xmlns:a16="http://schemas.microsoft.com/office/drawing/2014/main" id="{3BC257A4-FFF6-41B5-A254-D15C092A18B6}"/>
              </a:ext>
            </a:extLst>
          </p:cNvPr>
          <p:cNvSpPr>
            <a:spLocks noGrp="1"/>
          </p:cNvSpPr>
          <p:nvPr/>
        </p:nvSpPr>
        <p:spPr>
          <a:xfrm>
            <a:off x="7658100" y="4000500"/>
            <a:ext cx="34480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Limits exposure of student content</a:t>
            </a:r>
          </a:p>
        </p:txBody>
      </p:sp>
      <p:sp>
        <p:nvSpPr>
          <p:cNvPr id="31" name="Rectangle 30">
            <a:extLst>
              <a:ext uri="{FF2B5EF4-FFF2-40B4-BE49-F238E27FC236}">
                <a16:creationId xmlns:a16="http://schemas.microsoft.com/office/drawing/2014/main" id="{B47FC4BD-5DAB-4A9A-BB76-A7B82452AAC5}"/>
              </a:ext>
            </a:extLst>
          </p:cNvPr>
          <p:cNvSpPr>
            <a:spLocks noGrp="1"/>
          </p:cNvSpPr>
          <p:nvPr/>
        </p:nvSpPr>
        <p:spPr>
          <a:xfrm>
            <a:off x="609600" y="4572000"/>
            <a:ext cx="2476500" cy="666750"/>
          </a:xfrm>
          <a:prstGeom prst="rect">
            <a:avLst/>
          </a:prstGeom>
          <a:solidFill>
            <a:srgbClr val="F2F7FA"/>
          </a:solidFill>
          <a:ln w="9525">
            <a:solidFill>
              <a:srgbClr val="D7E0E8"/>
            </a:solidFill>
            <a:prstDash val="solid"/>
          </a:ln>
        </p:spPr>
      </p:sp>
      <p:sp>
        <p:nvSpPr>
          <p:cNvPr id="32" name="Rectangle 31">
            <a:extLst>
              <a:ext uri="{FF2B5EF4-FFF2-40B4-BE49-F238E27FC236}">
                <a16:creationId xmlns:a16="http://schemas.microsoft.com/office/drawing/2014/main" id="{BD0AF3E2-8AEF-496A-85F2-E677D4EF1DF2}"/>
              </a:ext>
            </a:extLst>
          </p:cNvPr>
          <p:cNvSpPr>
            <a:spLocks noGrp="1"/>
          </p:cNvSpPr>
          <p:nvPr/>
        </p:nvSpPr>
        <p:spPr>
          <a:xfrm>
            <a:off x="704850" y="4667250"/>
            <a:ext cx="2286000" cy="514350"/>
          </a:xfrm>
          <a:prstGeom prst="rect">
            <a:avLst/>
          </a:prstGeom>
          <a:noFill/>
          <a:ln w="0">
            <a:noFill/>
            <a:prstDash val="solid"/>
          </a:ln>
        </p:spPr>
        <p:txBody>
          <a:bodyPr lIns="0" tIns="0" rIns="0" bIns="0" anchor="t">
            <a:normAutofit/>
          </a:bodyPr>
          <a:lstStyle/>
          <a:p>
            <a:pPr algn="l">
              <a:buNone/>
              <a:defRPr sz="1125" b="1">
                <a:solidFill>
                  <a:srgbClr val="0F2A43"/>
                </a:solidFill>
                <a:latin typeface="Arial"/>
                <a:ea typeface="Arial"/>
                <a:cs typeface="Arial"/>
              </a:defRPr>
            </a:pPr>
            <a:r>
              <a:rPr sz="1125" b="1">
                <a:solidFill>
                  <a:srgbClr val="0F2A43"/>
                </a:solidFill>
                <a:latin typeface="Arial"/>
                <a:ea typeface="Arial"/>
                <a:cs typeface="Arial"/>
              </a:rPr>
              <a:t>Abuse detection</a:t>
            </a:r>
          </a:p>
        </p:txBody>
      </p:sp>
      <p:sp>
        <p:nvSpPr>
          <p:cNvPr id="33" name="Rectangle 32">
            <a:extLst>
              <a:ext uri="{FF2B5EF4-FFF2-40B4-BE49-F238E27FC236}">
                <a16:creationId xmlns:a16="http://schemas.microsoft.com/office/drawing/2014/main" id="{6D3766A5-F2EA-4C19-9278-7DFE718590BC}"/>
              </a:ext>
            </a:extLst>
          </p:cNvPr>
          <p:cNvSpPr>
            <a:spLocks noGrp="1"/>
          </p:cNvSpPr>
          <p:nvPr/>
        </p:nvSpPr>
        <p:spPr>
          <a:xfrm>
            <a:off x="3086100" y="4572000"/>
            <a:ext cx="4476750" cy="666750"/>
          </a:xfrm>
          <a:prstGeom prst="rect">
            <a:avLst/>
          </a:prstGeom>
          <a:solidFill>
            <a:srgbClr val="F2F7FA"/>
          </a:solidFill>
          <a:ln w="9525">
            <a:solidFill>
              <a:srgbClr val="D7E0E8"/>
            </a:solidFill>
            <a:prstDash val="solid"/>
          </a:ln>
        </p:spPr>
      </p:sp>
      <p:sp>
        <p:nvSpPr>
          <p:cNvPr id="34" name="Rectangle 33">
            <a:extLst>
              <a:ext uri="{FF2B5EF4-FFF2-40B4-BE49-F238E27FC236}">
                <a16:creationId xmlns:a16="http://schemas.microsoft.com/office/drawing/2014/main" id="{452D1E8E-EE37-4F3F-A010-CFDB89D30BD2}"/>
              </a:ext>
            </a:extLst>
          </p:cNvPr>
          <p:cNvSpPr>
            <a:spLocks noGrp="1"/>
          </p:cNvSpPr>
          <p:nvPr/>
        </p:nvSpPr>
        <p:spPr>
          <a:xfrm>
            <a:off x="3181350" y="4667250"/>
            <a:ext cx="42862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Spam and inappropriate content flagged</a:t>
            </a:r>
          </a:p>
        </p:txBody>
      </p:sp>
      <p:sp>
        <p:nvSpPr>
          <p:cNvPr id="35" name="Rectangle 34">
            <a:extLst>
              <a:ext uri="{FF2B5EF4-FFF2-40B4-BE49-F238E27FC236}">
                <a16:creationId xmlns:a16="http://schemas.microsoft.com/office/drawing/2014/main" id="{1410EE00-24D8-4086-951C-97354864B7C6}"/>
              </a:ext>
            </a:extLst>
          </p:cNvPr>
          <p:cNvSpPr>
            <a:spLocks noGrp="1"/>
          </p:cNvSpPr>
          <p:nvPr/>
        </p:nvSpPr>
        <p:spPr>
          <a:xfrm>
            <a:off x="7562850" y="4572000"/>
            <a:ext cx="3638550" cy="666750"/>
          </a:xfrm>
          <a:prstGeom prst="rect">
            <a:avLst/>
          </a:prstGeom>
          <a:solidFill>
            <a:srgbClr val="F2F7FA"/>
          </a:solidFill>
          <a:ln w="9525">
            <a:solidFill>
              <a:srgbClr val="D7E0E8"/>
            </a:solidFill>
            <a:prstDash val="solid"/>
          </a:ln>
        </p:spPr>
      </p:sp>
      <p:sp>
        <p:nvSpPr>
          <p:cNvPr id="36" name="Rectangle 35">
            <a:extLst>
              <a:ext uri="{FF2B5EF4-FFF2-40B4-BE49-F238E27FC236}">
                <a16:creationId xmlns:a16="http://schemas.microsoft.com/office/drawing/2014/main" id="{B41A1C69-4F41-4B81-94C7-386EE3A5A227}"/>
              </a:ext>
            </a:extLst>
          </p:cNvPr>
          <p:cNvSpPr>
            <a:spLocks noGrp="1"/>
          </p:cNvSpPr>
          <p:nvPr/>
        </p:nvSpPr>
        <p:spPr>
          <a:xfrm>
            <a:off x="7658100" y="4667250"/>
            <a:ext cx="34480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Protects the learning environment</a:t>
            </a:r>
          </a:p>
        </p:txBody>
      </p:sp>
    </p:spTree>
    <p:extLst>
      <p:ext uri="{BB962C8B-B14F-4D97-AF65-F5344CB8AC3E}">
        <p14:creationId xmlns:p14="http://schemas.microsoft.com/office/powerpoint/2010/main" val="771312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6D9A427-1264-4F1C-AC7C-E3CD06DAF662}"/>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C4E472EB-6DD6-4B3D-9ABF-CAE0B52AB05D}"/>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20</a:t>
            </a:r>
          </a:p>
        </p:txBody>
      </p:sp>
      <p:sp>
        <p:nvSpPr>
          <p:cNvPr id="3" name="Rectangle 2">
            <a:extLst>
              <a:ext uri="{FF2B5EF4-FFF2-40B4-BE49-F238E27FC236}">
                <a16:creationId xmlns:a16="http://schemas.microsoft.com/office/drawing/2014/main" id="{46ED4F95-18CE-40B9-9DE7-ADE305F32F81}"/>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681CCAE2-33CB-4BA2-8509-3D1407A8C4D8}"/>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5375DD56-B81D-481F-B1CD-7AB6451FE40E}"/>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Performance and usability make the promise credible</a:t>
            </a:r>
          </a:p>
        </p:txBody>
      </p:sp>
      <p:sp>
        <p:nvSpPr>
          <p:cNvPr id="6" name="Rectangle 5">
            <a:extLst>
              <a:ext uri="{FF2B5EF4-FFF2-40B4-BE49-F238E27FC236}">
                <a16:creationId xmlns:a16="http://schemas.microsoft.com/office/drawing/2014/main" id="{996BD019-5F19-4CED-BE8C-A3526A44D3CB}"/>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Non-functional requirements shape the experience students actually feel.</a:t>
            </a:r>
          </a:p>
        </p:txBody>
      </p:sp>
      <p:sp>
        <p:nvSpPr>
          <p:cNvPr id="7" name="Rectangle 6">
            <a:extLst>
              <a:ext uri="{FF2B5EF4-FFF2-40B4-BE49-F238E27FC236}">
                <a16:creationId xmlns:a16="http://schemas.microsoft.com/office/drawing/2014/main" id="{2251C180-3D99-462A-ACB4-4F4DE21D671A}"/>
              </a:ext>
            </a:extLst>
          </p:cNvPr>
          <p:cNvSpPr>
            <a:spLocks noGrp="1"/>
          </p:cNvSpPr>
          <p:nvPr/>
        </p:nvSpPr>
        <p:spPr>
          <a:xfrm>
            <a:off x="609600" y="2190750"/>
            <a:ext cx="3479800" cy="2571750"/>
          </a:xfrm>
          <a:prstGeom prst="rect">
            <a:avLst/>
          </a:prstGeom>
          <a:solidFill>
            <a:srgbClr val="F2F7FA"/>
          </a:solidFill>
          <a:ln w="9525">
            <a:solidFill>
              <a:srgbClr val="D7E0E8"/>
            </a:solidFill>
            <a:prstDash val="solid"/>
          </a:ln>
        </p:spPr>
      </p:sp>
      <p:sp>
        <p:nvSpPr>
          <p:cNvPr id="8" name="Rectangle 7">
            <a:extLst>
              <a:ext uri="{FF2B5EF4-FFF2-40B4-BE49-F238E27FC236}">
                <a16:creationId xmlns:a16="http://schemas.microsoft.com/office/drawing/2014/main" id="{BE76668B-CE4E-4960-859D-57F6236C47FB}"/>
              </a:ext>
            </a:extLst>
          </p:cNvPr>
          <p:cNvSpPr>
            <a:spLocks noGrp="1"/>
          </p:cNvSpPr>
          <p:nvPr/>
        </p:nvSpPr>
        <p:spPr>
          <a:xfrm>
            <a:off x="800100" y="2362200"/>
            <a:ext cx="3098800" cy="209550"/>
          </a:xfrm>
          <a:prstGeom prst="rect">
            <a:avLst/>
          </a:prstGeom>
          <a:noFill/>
          <a:ln w="0">
            <a:noFill/>
            <a:prstDash val="solid"/>
          </a:ln>
        </p:spPr>
        <p:txBody>
          <a:bodyPr lIns="0" tIns="0" rIns="0" bIns="0" anchor="t">
            <a:normAutofit/>
          </a:bodyPr>
          <a:lstStyle/>
          <a:p>
            <a:pPr algn="l">
              <a:buNone/>
              <a:defRPr sz="1050" b="1">
                <a:solidFill>
                  <a:srgbClr val="3D8DFF"/>
                </a:solidFill>
                <a:latin typeface="Arial"/>
                <a:ea typeface="Arial"/>
                <a:cs typeface="Arial"/>
              </a:defRPr>
            </a:pPr>
            <a:r>
              <a:rPr sz="1050" b="1">
                <a:solidFill>
                  <a:srgbClr val="3D8DFF"/>
                </a:solidFill>
                <a:latin typeface="Arial"/>
                <a:ea typeface="Arial"/>
                <a:cs typeface="Arial"/>
              </a:rPr>
              <a:t>PERFORMANCE</a:t>
            </a:r>
          </a:p>
        </p:txBody>
      </p:sp>
      <p:sp>
        <p:nvSpPr>
          <p:cNvPr id="9" name="Rectangle 8">
            <a:extLst>
              <a:ext uri="{FF2B5EF4-FFF2-40B4-BE49-F238E27FC236}">
                <a16:creationId xmlns:a16="http://schemas.microsoft.com/office/drawing/2014/main" id="{EBD8966F-A8B2-4010-8970-93E4F29423E8}"/>
              </a:ext>
            </a:extLst>
          </p:cNvPr>
          <p:cNvSpPr>
            <a:spLocks noGrp="1"/>
          </p:cNvSpPr>
          <p:nvPr/>
        </p:nvSpPr>
        <p:spPr>
          <a:xfrm>
            <a:off x="800100" y="2705100"/>
            <a:ext cx="3098800" cy="514350"/>
          </a:xfrm>
          <a:prstGeom prst="rect">
            <a:avLst/>
          </a:prstGeom>
          <a:noFill/>
          <a:ln w="0">
            <a:noFill/>
            <a:prstDash val="solid"/>
          </a:ln>
        </p:spPr>
        <p:txBody>
          <a:bodyPr lIns="0" tIns="0" rIns="0" bIns="0" anchor="t">
            <a:normAutofit/>
          </a:bodyPr>
          <a:lstStyle/>
          <a:p>
            <a:pPr algn="l">
              <a:buNone/>
              <a:defRPr sz="1725" b="1">
                <a:solidFill>
                  <a:srgbClr val="0B1220"/>
                </a:solidFill>
                <a:latin typeface="Arial"/>
                <a:ea typeface="Arial"/>
                <a:cs typeface="Arial"/>
              </a:defRPr>
            </a:pPr>
            <a:r>
              <a:rPr sz="1725" b="1">
                <a:solidFill>
                  <a:srgbClr val="0B1220"/>
                </a:solidFill>
                <a:latin typeface="Arial"/>
                <a:ea typeface="Arial"/>
                <a:cs typeface="Arial"/>
              </a:rPr>
              <a:t>Fast and resilient</a:t>
            </a:r>
          </a:p>
        </p:txBody>
      </p:sp>
      <p:sp>
        <p:nvSpPr>
          <p:cNvPr id="10" name="Rectangle 9">
            <a:extLst>
              <a:ext uri="{FF2B5EF4-FFF2-40B4-BE49-F238E27FC236}">
                <a16:creationId xmlns:a16="http://schemas.microsoft.com/office/drawing/2014/main" id="{5D66799E-C976-4D2F-89BB-70C5D8917602}"/>
              </a:ext>
            </a:extLst>
          </p:cNvPr>
          <p:cNvSpPr>
            <a:spLocks noGrp="1"/>
          </p:cNvSpPr>
          <p:nvPr/>
        </p:nvSpPr>
        <p:spPr>
          <a:xfrm>
            <a:off x="800100" y="3352800"/>
            <a:ext cx="3098800" cy="1238250"/>
          </a:xfrm>
          <a:prstGeom prst="rect">
            <a:avLst/>
          </a:prstGeom>
          <a:noFill/>
          <a:ln w="0">
            <a:noFill/>
            <a:prstDash val="solid"/>
          </a:ln>
        </p:spPr>
        <p:txBody>
          <a:bodyPr lIns="0" tIns="0" rIns="0" bIns="0" anchor="t">
            <a:normAutofit/>
          </a:bodyPr>
          <a:lstStyle/>
          <a:p>
            <a:pPr algn="l">
              <a:buNone/>
              <a:defRPr sz="1275" b="0">
                <a:solidFill>
                  <a:srgbClr val="586879"/>
                </a:solidFill>
                <a:latin typeface="Arial"/>
                <a:ea typeface="Arial"/>
                <a:cs typeface="Arial"/>
              </a:defRPr>
            </a:pPr>
            <a:r>
              <a:rPr sz="1275" b="0">
                <a:solidFill>
                  <a:srgbClr val="586879"/>
                </a:solidFill>
                <a:latin typeface="Arial"/>
                <a:ea typeface="Arial"/>
                <a:cs typeface="Arial"/>
              </a:rPr>
              <a:t>Handle concurrent questions, optimise response time and show useful loading states.</a:t>
            </a:r>
          </a:p>
        </p:txBody>
      </p:sp>
      <p:sp>
        <p:nvSpPr>
          <p:cNvPr id="11" name="Rectangle 10">
            <a:extLst>
              <a:ext uri="{FF2B5EF4-FFF2-40B4-BE49-F238E27FC236}">
                <a16:creationId xmlns:a16="http://schemas.microsoft.com/office/drawing/2014/main" id="{E03E6BCE-232B-4B0F-BDFE-1CF8D2EAAE00}"/>
              </a:ext>
            </a:extLst>
          </p:cNvPr>
          <p:cNvSpPr>
            <a:spLocks noGrp="1"/>
          </p:cNvSpPr>
          <p:nvPr/>
        </p:nvSpPr>
        <p:spPr>
          <a:xfrm>
            <a:off x="4356100" y="2190750"/>
            <a:ext cx="3479800" cy="2571750"/>
          </a:xfrm>
          <a:prstGeom prst="rect">
            <a:avLst/>
          </a:prstGeom>
          <a:solidFill>
            <a:srgbClr val="F2F7FA"/>
          </a:solidFill>
          <a:ln w="9525">
            <a:solidFill>
              <a:srgbClr val="D7E0E8"/>
            </a:solidFill>
            <a:prstDash val="solid"/>
          </a:ln>
        </p:spPr>
      </p:sp>
      <p:sp>
        <p:nvSpPr>
          <p:cNvPr id="12" name="Rectangle 11">
            <a:extLst>
              <a:ext uri="{FF2B5EF4-FFF2-40B4-BE49-F238E27FC236}">
                <a16:creationId xmlns:a16="http://schemas.microsoft.com/office/drawing/2014/main" id="{91C19F6D-D2C6-4EE4-B71E-BEF62E5527A8}"/>
              </a:ext>
            </a:extLst>
          </p:cNvPr>
          <p:cNvSpPr>
            <a:spLocks noGrp="1"/>
          </p:cNvSpPr>
          <p:nvPr/>
        </p:nvSpPr>
        <p:spPr>
          <a:xfrm>
            <a:off x="4546600" y="2362200"/>
            <a:ext cx="3098800" cy="209550"/>
          </a:xfrm>
          <a:prstGeom prst="rect">
            <a:avLst/>
          </a:prstGeom>
          <a:noFill/>
          <a:ln w="0">
            <a:noFill/>
            <a:prstDash val="solid"/>
          </a:ln>
        </p:spPr>
        <p:txBody>
          <a:bodyPr lIns="0" tIns="0" rIns="0" bIns="0" anchor="t">
            <a:normAutofit/>
          </a:bodyPr>
          <a:lstStyle/>
          <a:p>
            <a:pPr algn="l">
              <a:buNone/>
              <a:defRPr sz="1050" b="1">
                <a:solidFill>
                  <a:srgbClr val="FF9B45"/>
                </a:solidFill>
                <a:latin typeface="Arial"/>
                <a:ea typeface="Arial"/>
                <a:cs typeface="Arial"/>
              </a:defRPr>
            </a:pPr>
            <a:r>
              <a:rPr sz="1050" b="1">
                <a:solidFill>
                  <a:srgbClr val="FF9B45"/>
                </a:solidFill>
                <a:latin typeface="Arial"/>
                <a:ea typeface="Arial"/>
                <a:cs typeface="Arial"/>
              </a:rPr>
              <a:t>USABILITY</a:t>
            </a:r>
          </a:p>
        </p:txBody>
      </p:sp>
      <p:sp>
        <p:nvSpPr>
          <p:cNvPr id="13" name="Rectangle 12">
            <a:extLst>
              <a:ext uri="{FF2B5EF4-FFF2-40B4-BE49-F238E27FC236}">
                <a16:creationId xmlns:a16="http://schemas.microsoft.com/office/drawing/2014/main" id="{41804B5D-A2F3-44DF-87EF-56EE465D71AC}"/>
              </a:ext>
            </a:extLst>
          </p:cNvPr>
          <p:cNvSpPr>
            <a:spLocks noGrp="1"/>
          </p:cNvSpPr>
          <p:nvPr/>
        </p:nvSpPr>
        <p:spPr>
          <a:xfrm>
            <a:off x="4546600" y="2705100"/>
            <a:ext cx="3098800" cy="514350"/>
          </a:xfrm>
          <a:prstGeom prst="rect">
            <a:avLst/>
          </a:prstGeom>
          <a:noFill/>
          <a:ln w="0">
            <a:noFill/>
            <a:prstDash val="solid"/>
          </a:ln>
        </p:spPr>
        <p:txBody>
          <a:bodyPr lIns="0" tIns="0" rIns="0" bIns="0" anchor="t">
            <a:normAutofit/>
          </a:bodyPr>
          <a:lstStyle/>
          <a:p>
            <a:pPr algn="l">
              <a:buNone/>
              <a:defRPr sz="1725" b="1">
                <a:solidFill>
                  <a:srgbClr val="0B1220"/>
                </a:solidFill>
                <a:latin typeface="Arial"/>
                <a:ea typeface="Arial"/>
                <a:cs typeface="Arial"/>
              </a:defRPr>
            </a:pPr>
            <a:r>
              <a:rPr sz="1725" b="1">
                <a:solidFill>
                  <a:srgbClr val="0B1220"/>
                </a:solidFill>
                <a:latin typeface="Arial"/>
                <a:ea typeface="Arial"/>
                <a:cs typeface="Arial"/>
              </a:rPr>
              <a:t>Simple and readable</a:t>
            </a:r>
          </a:p>
        </p:txBody>
      </p:sp>
      <p:sp>
        <p:nvSpPr>
          <p:cNvPr id="14" name="Rectangle 13">
            <a:extLst>
              <a:ext uri="{FF2B5EF4-FFF2-40B4-BE49-F238E27FC236}">
                <a16:creationId xmlns:a16="http://schemas.microsoft.com/office/drawing/2014/main" id="{7799B307-6E1B-456A-B9C7-A5D475932558}"/>
              </a:ext>
            </a:extLst>
          </p:cNvPr>
          <p:cNvSpPr>
            <a:spLocks noGrp="1"/>
          </p:cNvSpPr>
          <p:nvPr/>
        </p:nvSpPr>
        <p:spPr>
          <a:xfrm>
            <a:off x="4546600" y="3352800"/>
            <a:ext cx="3098800" cy="1238250"/>
          </a:xfrm>
          <a:prstGeom prst="rect">
            <a:avLst/>
          </a:prstGeom>
          <a:noFill/>
          <a:ln w="0">
            <a:noFill/>
            <a:prstDash val="solid"/>
          </a:ln>
        </p:spPr>
        <p:txBody>
          <a:bodyPr lIns="0" tIns="0" rIns="0" bIns="0" anchor="t">
            <a:normAutofit/>
          </a:bodyPr>
          <a:lstStyle/>
          <a:p>
            <a:pPr algn="l">
              <a:buNone/>
              <a:defRPr sz="1275" b="0">
                <a:solidFill>
                  <a:srgbClr val="586879"/>
                </a:solidFill>
                <a:latin typeface="Arial"/>
                <a:ea typeface="Arial"/>
                <a:cs typeface="Arial"/>
              </a:defRPr>
            </a:pPr>
            <a:r>
              <a:rPr sz="1275" b="0">
                <a:solidFill>
                  <a:srgbClr val="586879"/>
                </a:solidFill>
                <a:latin typeface="Arial"/>
                <a:ea typeface="Arial"/>
                <a:cs typeface="Arial"/>
              </a:rPr>
              <a:t>Minimal submission steps, clear answer structure and intuitive navigation.</a:t>
            </a:r>
          </a:p>
        </p:txBody>
      </p:sp>
      <p:sp>
        <p:nvSpPr>
          <p:cNvPr id="15" name="Rectangle 14">
            <a:extLst>
              <a:ext uri="{FF2B5EF4-FFF2-40B4-BE49-F238E27FC236}">
                <a16:creationId xmlns:a16="http://schemas.microsoft.com/office/drawing/2014/main" id="{26E8C261-DB2E-4BD6-99AE-D6E4653732F7}"/>
              </a:ext>
            </a:extLst>
          </p:cNvPr>
          <p:cNvSpPr>
            <a:spLocks noGrp="1"/>
          </p:cNvSpPr>
          <p:nvPr/>
        </p:nvSpPr>
        <p:spPr>
          <a:xfrm>
            <a:off x="8102600" y="2190750"/>
            <a:ext cx="3479800" cy="2571750"/>
          </a:xfrm>
          <a:prstGeom prst="rect">
            <a:avLst/>
          </a:prstGeom>
          <a:solidFill>
            <a:srgbClr val="F2F7FA"/>
          </a:solidFill>
          <a:ln w="9525">
            <a:solidFill>
              <a:srgbClr val="D7E0E8"/>
            </a:solidFill>
            <a:prstDash val="solid"/>
          </a:ln>
        </p:spPr>
      </p:sp>
      <p:sp>
        <p:nvSpPr>
          <p:cNvPr id="16" name="Rectangle 15">
            <a:extLst>
              <a:ext uri="{FF2B5EF4-FFF2-40B4-BE49-F238E27FC236}">
                <a16:creationId xmlns:a16="http://schemas.microsoft.com/office/drawing/2014/main" id="{E96555DB-D4D0-474E-88AA-0385031483B2}"/>
              </a:ext>
            </a:extLst>
          </p:cNvPr>
          <p:cNvSpPr>
            <a:spLocks noGrp="1"/>
          </p:cNvSpPr>
          <p:nvPr/>
        </p:nvSpPr>
        <p:spPr>
          <a:xfrm>
            <a:off x="8293100" y="2362200"/>
            <a:ext cx="3098800" cy="209550"/>
          </a:xfrm>
          <a:prstGeom prst="rect">
            <a:avLst/>
          </a:prstGeom>
          <a:noFill/>
          <a:ln w="0">
            <a:noFill/>
            <a:prstDash val="solid"/>
          </a:ln>
        </p:spPr>
        <p:txBody>
          <a:bodyPr lIns="0" tIns="0" rIns="0" bIns="0" anchor="t">
            <a:normAutofit/>
          </a:bodyPr>
          <a:lstStyle/>
          <a:p>
            <a:pPr algn="l">
              <a:buNone/>
              <a:defRPr sz="1050" b="1">
                <a:solidFill>
                  <a:srgbClr val="0DA6A6"/>
                </a:solidFill>
                <a:latin typeface="Arial"/>
                <a:ea typeface="Arial"/>
                <a:cs typeface="Arial"/>
              </a:defRPr>
            </a:pPr>
            <a:r>
              <a:rPr sz="1050" b="1">
                <a:solidFill>
                  <a:srgbClr val="0DA6A6"/>
                </a:solidFill>
                <a:latin typeface="Arial"/>
                <a:ea typeface="Arial"/>
                <a:cs typeface="Arial"/>
              </a:rPr>
              <a:t>PLATFORM</a:t>
            </a:r>
          </a:p>
        </p:txBody>
      </p:sp>
      <p:sp>
        <p:nvSpPr>
          <p:cNvPr id="17" name="Rectangle 16">
            <a:extLst>
              <a:ext uri="{FF2B5EF4-FFF2-40B4-BE49-F238E27FC236}">
                <a16:creationId xmlns:a16="http://schemas.microsoft.com/office/drawing/2014/main" id="{1B670419-A4CC-4E96-9EC3-ED7E1B5DC7C2}"/>
              </a:ext>
            </a:extLst>
          </p:cNvPr>
          <p:cNvSpPr>
            <a:spLocks noGrp="1"/>
          </p:cNvSpPr>
          <p:nvPr/>
        </p:nvSpPr>
        <p:spPr>
          <a:xfrm>
            <a:off x="8293100" y="2705100"/>
            <a:ext cx="3098800" cy="514350"/>
          </a:xfrm>
          <a:prstGeom prst="rect">
            <a:avLst/>
          </a:prstGeom>
          <a:noFill/>
          <a:ln w="0">
            <a:noFill/>
            <a:prstDash val="solid"/>
          </a:ln>
        </p:spPr>
        <p:txBody>
          <a:bodyPr lIns="0" tIns="0" rIns="0" bIns="0" anchor="t">
            <a:normAutofit/>
          </a:bodyPr>
          <a:lstStyle/>
          <a:p>
            <a:pPr algn="l">
              <a:buNone/>
              <a:defRPr sz="1725" b="1">
                <a:solidFill>
                  <a:srgbClr val="0B1220"/>
                </a:solidFill>
                <a:latin typeface="Arial"/>
                <a:ea typeface="Arial"/>
                <a:cs typeface="Arial"/>
              </a:defRPr>
            </a:pPr>
            <a:r>
              <a:rPr sz="1725" b="1">
                <a:solidFill>
                  <a:srgbClr val="0B1220"/>
                </a:solidFill>
                <a:latin typeface="Arial"/>
                <a:ea typeface="Arial"/>
                <a:cs typeface="Arial"/>
              </a:rPr>
              <a:t>Android first</a:t>
            </a:r>
          </a:p>
        </p:txBody>
      </p:sp>
      <p:sp>
        <p:nvSpPr>
          <p:cNvPr id="18" name="Rectangle 17">
            <a:extLst>
              <a:ext uri="{FF2B5EF4-FFF2-40B4-BE49-F238E27FC236}">
                <a16:creationId xmlns:a16="http://schemas.microsoft.com/office/drawing/2014/main" id="{A9EE1E82-15E0-4DB4-91DC-0178DDF5327C}"/>
              </a:ext>
            </a:extLst>
          </p:cNvPr>
          <p:cNvSpPr>
            <a:spLocks noGrp="1"/>
          </p:cNvSpPr>
          <p:nvPr/>
        </p:nvSpPr>
        <p:spPr>
          <a:xfrm>
            <a:off x="8293100" y="3352800"/>
            <a:ext cx="3098800" cy="1238250"/>
          </a:xfrm>
          <a:prstGeom prst="rect">
            <a:avLst/>
          </a:prstGeom>
          <a:noFill/>
          <a:ln w="0">
            <a:noFill/>
            <a:prstDash val="solid"/>
          </a:ln>
        </p:spPr>
        <p:txBody>
          <a:bodyPr lIns="0" tIns="0" rIns="0" bIns="0" anchor="t">
            <a:normAutofit/>
          </a:bodyPr>
          <a:lstStyle/>
          <a:p>
            <a:pPr algn="l">
              <a:buNone/>
              <a:defRPr sz="1275" b="0">
                <a:solidFill>
                  <a:srgbClr val="586879"/>
                </a:solidFill>
                <a:latin typeface="Arial"/>
                <a:ea typeface="Arial"/>
                <a:cs typeface="Arial"/>
              </a:defRPr>
            </a:pPr>
            <a:r>
              <a:rPr sz="1275" b="0">
                <a:solidFill>
                  <a:srgbClr val="586879"/>
                </a:solidFill>
                <a:latin typeface="Arial"/>
                <a:ea typeface="Arial"/>
                <a:cs typeface="Arial"/>
              </a:rPr>
              <a:t>Support Android for the MVP; keep iOS as an optional future channel.</a:t>
            </a:r>
          </a:p>
        </p:txBody>
      </p:sp>
    </p:spTree>
    <p:extLst>
      <p:ext uri="{BB962C8B-B14F-4D97-AF65-F5344CB8AC3E}">
        <p14:creationId xmlns:p14="http://schemas.microsoft.com/office/powerpoint/2010/main" val="85338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A0942B8-DA89-4C44-8358-4175CF66CBF9}"/>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4C7D5DCD-70B4-450E-AD02-E216A0309A3D}"/>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21</a:t>
            </a:r>
          </a:p>
        </p:txBody>
      </p:sp>
      <p:sp>
        <p:nvSpPr>
          <p:cNvPr id="3" name="Rectangle 2">
            <a:extLst>
              <a:ext uri="{FF2B5EF4-FFF2-40B4-BE49-F238E27FC236}">
                <a16:creationId xmlns:a16="http://schemas.microsoft.com/office/drawing/2014/main" id="{C5867219-0857-4839-BB04-7E3AF510F364}"/>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4C473224-E1E5-4D54-A947-6DC5F7AFF1E7}"/>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65766968-F7D5-4BD3-BD57-C45CAE847906}"/>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Privacy and compatibility constrain the design</a:t>
            </a:r>
          </a:p>
        </p:txBody>
      </p:sp>
      <p:sp>
        <p:nvSpPr>
          <p:cNvPr id="6" name="Rectangle 5">
            <a:extLst>
              <a:ext uri="{FF2B5EF4-FFF2-40B4-BE49-F238E27FC236}">
                <a16:creationId xmlns:a16="http://schemas.microsoft.com/office/drawing/2014/main" id="{1F6748C8-9DEB-4478-9016-08E7CB022B67}"/>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The application must be usable across learners without collecting unnecessary data.</a:t>
            </a:r>
          </a:p>
        </p:txBody>
      </p:sp>
      <p:sp>
        <p:nvSpPr>
          <p:cNvPr id="7" name="Rectangle 6">
            <a:extLst>
              <a:ext uri="{FF2B5EF4-FFF2-40B4-BE49-F238E27FC236}">
                <a16:creationId xmlns:a16="http://schemas.microsoft.com/office/drawing/2014/main" id="{B0C61418-2126-460C-A807-5DCD9DD14BC3}"/>
              </a:ext>
            </a:extLst>
          </p:cNvPr>
          <p:cNvSpPr>
            <a:spLocks noGrp="1"/>
          </p:cNvSpPr>
          <p:nvPr/>
        </p:nvSpPr>
        <p:spPr>
          <a:xfrm>
            <a:off x="609600" y="1924050"/>
            <a:ext cx="5257800" cy="38100"/>
          </a:xfrm>
          <a:prstGeom prst="rect">
            <a:avLst/>
          </a:prstGeom>
          <a:solidFill>
            <a:srgbClr val="0DA6A6"/>
          </a:solidFill>
          <a:ln w="0">
            <a:solidFill>
              <a:srgbClr val="0DA6A6"/>
            </a:solidFill>
            <a:prstDash val="solid"/>
          </a:ln>
        </p:spPr>
      </p:sp>
      <p:sp>
        <p:nvSpPr>
          <p:cNvPr id="8" name="Rectangle 7">
            <a:extLst>
              <a:ext uri="{FF2B5EF4-FFF2-40B4-BE49-F238E27FC236}">
                <a16:creationId xmlns:a16="http://schemas.microsoft.com/office/drawing/2014/main" id="{005D3AE3-B595-4BAC-8D29-0FD5956CC70C}"/>
              </a:ext>
            </a:extLst>
          </p:cNvPr>
          <p:cNvSpPr>
            <a:spLocks noGrp="1"/>
          </p:cNvSpPr>
          <p:nvPr/>
        </p:nvSpPr>
        <p:spPr>
          <a:xfrm>
            <a:off x="6324600" y="1924050"/>
            <a:ext cx="5257800" cy="38100"/>
          </a:xfrm>
          <a:prstGeom prst="rect">
            <a:avLst/>
          </a:prstGeom>
          <a:solidFill>
            <a:srgbClr val="3D8DFF"/>
          </a:solidFill>
          <a:ln w="0">
            <a:solidFill>
              <a:srgbClr val="3D8DFF"/>
            </a:solidFill>
            <a:prstDash val="solid"/>
          </a:ln>
        </p:spPr>
      </p:sp>
      <p:sp>
        <p:nvSpPr>
          <p:cNvPr id="9" name="Rectangle 8">
            <a:extLst>
              <a:ext uri="{FF2B5EF4-FFF2-40B4-BE49-F238E27FC236}">
                <a16:creationId xmlns:a16="http://schemas.microsoft.com/office/drawing/2014/main" id="{9D249F1C-94A2-4BAB-8DE1-47841D5FCE40}"/>
              </a:ext>
            </a:extLst>
          </p:cNvPr>
          <p:cNvSpPr>
            <a:spLocks noGrp="1"/>
          </p:cNvSpPr>
          <p:nvPr/>
        </p:nvSpPr>
        <p:spPr>
          <a:xfrm>
            <a:off x="609600" y="2095500"/>
            <a:ext cx="5257800" cy="381000"/>
          </a:xfrm>
          <a:prstGeom prst="rect">
            <a:avLst/>
          </a:prstGeom>
          <a:noFill/>
          <a:ln w="0">
            <a:noFill/>
            <a:prstDash val="solid"/>
          </a:ln>
        </p:spPr>
        <p:txBody>
          <a:bodyPr lIns="0" tIns="0" rIns="0" bIns="0" anchor="t">
            <a:normAutofit/>
          </a:bodyPr>
          <a:lstStyle/>
          <a:p>
            <a:pPr algn="l">
              <a:buNone/>
              <a:defRPr sz="1800" b="1">
                <a:solidFill>
                  <a:srgbClr val="0DA6A6"/>
                </a:solidFill>
                <a:latin typeface="Arial"/>
                <a:ea typeface="Arial"/>
                <a:cs typeface="Arial"/>
              </a:defRPr>
            </a:pPr>
            <a:r>
              <a:rPr sz="1800" b="1">
                <a:solidFill>
                  <a:srgbClr val="0DA6A6"/>
                </a:solidFill>
                <a:latin typeface="Arial"/>
                <a:ea typeface="Arial"/>
                <a:cs typeface="Arial"/>
              </a:rPr>
              <a:t>Privacy</a:t>
            </a:r>
          </a:p>
        </p:txBody>
      </p:sp>
      <p:sp>
        <p:nvSpPr>
          <p:cNvPr id="10" name="Rectangle 9">
            <a:extLst>
              <a:ext uri="{FF2B5EF4-FFF2-40B4-BE49-F238E27FC236}">
                <a16:creationId xmlns:a16="http://schemas.microsoft.com/office/drawing/2014/main" id="{C90E5316-57C2-4803-9864-076A4F8DBB65}"/>
              </a:ext>
            </a:extLst>
          </p:cNvPr>
          <p:cNvSpPr>
            <a:spLocks noGrp="1"/>
          </p:cNvSpPr>
          <p:nvPr/>
        </p:nvSpPr>
        <p:spPr>
          <a:xfrm>
            <a:off x="609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 Securely encrypt user data</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Minimise collection</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Consider GDPR</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Consider COPPA for younger students</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Define retention and access rules</a:t>
            </a:r>
          </a:p>
        </p:txBody>
      </p:sp>
      <p:sp>
        <p:nvSpPr>
          <p:cNvPr id="11" name="Rectangle 10">
            <a:extLst>
              <a:ext uri="{FF2B5EF4-FFF2-40B4-BE49-F238E27FC236}">
                <a16:creationId xmlns:a16="http://schemas.microsoft.com/office/drawing/2014/main" id="{89768E39-7BA3-4DBD-9DE4-6ED9248B1FB9}"/>
              </a:ext>
            </a:extLst>
          </p:cNvPr>
          <p:cNvSpPr>
            <a:spLocks noGrp="1"/>
          </p:cNvSpPr>
          <p:nvPr/>
        </p:nvSpPr>
        <p:spPr>
          <a:xfrm>
            <a:off x="6324600" y="2095500"/>
            <a:ext cx="5257800" cy="381000"/>
          </a:xfrm>
          <a:prstGeom prst="rect">
            <a:avLst/>
          </a:prstGeom>
          <a:noFill/>
          <a:ln w="0">
            <a:noFill/>
            <a:prstDash val="solid"/>
          </a:ln>
        </p:spPr>
        <p:txBody>
          <a:bodyPr lIns="0" tIns="0" rIns="0" bIns="0" anchor="t">
            <a:normAutofit/>
          </a:bodyPr>
          <a:lstStyle/>
          <a:p>
            <a:pPr algn="l">
              <a:buNone/>
              <a:defRPr sz="1800" b="1">
                <a:solidFill>
                  <a:srgbClr val="3D8DFF"/>
                </a:solidFill>
                <a:latin typeface="Arial"/>
                <a:ea typeface="Arial"/>
                <a:cs typeface="Arial"/>
              </a:defRPr>
            </a:pPr>
            <a:r>
              <a:rPr sz="1800" b="1">
                <a:solidFill>
                  <a:srgbClr val="3D8DFF"/>
                </a:solidFill>
                <a:latin typeface="Arial"/>
                <a:ea typeface="Arial"/>
                <a:cs typeface="Arial"/>
              </a:rPr>
              <a:t>Compatibility</a:t>
            </a:r>
          </a:p>
        </p:txBody>
      </p:sp>
      <p:sp>
        <p:nvSpPr>
          <p:cNvPr id="12" name="Rectangle 11">
            <a:extLst>
              <a:ext uri="{FF2B5EF4-FFF2-40B4-BE49-F238E27FC236}">
                <a16:creationId xmlns:a16="http://schemas.microsoft.com/office/drawing/2014/main" id="{CD6B0B17-1D09-416F-95FD-F38E120A0D77}"/>
              </a:ext>
            </a:extLst>
          </p:cNvPr>
          <p:cNvSpPr>
            <a:spLocks noGrp="1"/>
          </p:cNvSpPr>
          <p:nvPr/>
        </p:nvSpPr>
        <p:spPr>
          <a:xfrm>
            <a:off x="6324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 Android is the MVP platform</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iOS is optional</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Previously answered content works offline</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New questions sync after reconnection</a:t>
            </a:r>
          </a:p>
        </p:txBody>
      </p:sp>
    </p:spTree>
    <p:extLst>
      <p:ext uri="{BB962C8B-B14F-4D97-AF65-F5344CB8AC3E}">
        <p14:creationId xmlns:p14="http://schemas.microsoft.com/office/powerpoint/2010/main" val="5637305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6DF7F495-ED54-419A-848D-57FB54514CF6}"/>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5224D863-CDB5-4EB7-B02F-9BB96B4FF351}"/>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22</a:t>
            </a:r>
          </a:p>
        </p:txBody>
      </p:sp>
      <p:sp>
        <p:nvSpPr>
          <p:cNvPr id="3" name="Rectangle 2">
            <a:extLst>
              <a:ext uri="{FF2B5EF4-FFF2-40B4-BE49-F238E27FC236}">
                <a16:creationId xmlns:a16="http://schemas.microsoft.com/office/drawing/2014/main" id="{B5A2F2B8-219F-4B70-ACEB-65CD992E30E2}"/>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15BD4476-7D9D-4F2F-A78B-F1CB91D4D3C4}"/>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EB2E04E7-969C-4864-9757-9CFBF6504CC3}"/>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The MVP must fit a 14-week window</a:t>
            </a:r>
          </a:p>
        </p:txBody>
      </p:sp>
      <p:sp>
        <p:nvSpPr>
          <p:cNvPr id="6" name="Rectangle 5">
            <a:extLst>
              <a:ext uri="{FF2B5EF4-FFF2-40B4-BE49-F238E27FC236}">
                <a16:creationId xmlns:a16="http://schemas.microsoft.com/office/drawing/2014/main" id="{C6000A23-9A22-4E28-9256-FEDE31478E0F}"/>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Scope is a requirement because delivery time is part of the business problem.</a:t>
            </a:r>
          </a:p>
        </p:txBody>
      </p:sp>
      <p:sp>
        <p:nvSpPr>
          <p:cNvPr id="7" name="Rectangle 6">
            <a:extLst>
              <a:ext uri="{FF2B5EF4-FFF2-40B4-BE49-F238E27FC236}">
                <a16:creationId xmlns:a16="http://schemas.microsoft.com/office/drawing/2014/main" id="{94749046-100C-4790-8A5B-FA1A10A1967A}"/>
              </a:ext>
            </a:extLst>
          </p:cNvPr>
          <p:cNvSpPr>
            <a:spLocks noGrp="1"/>
          </p:cNvSpPr>
          <p:nvPr/>
        </p:nvSpPr>
        <p:spPr>
          <a:xfrm>
            <a:off x="609600" y="1905000"/>
            <a:ext cx="2476500" cy="666750"/>
          </a:xfrm>
          <a:prstGeom prst="rect">
            <a:avLst/>
          </a:prstGeom>
          <a:solidFill>
            <a:srgbClr val="0F2A43"/>
          </a:solidFill>
          <a:ln w="9525">
            <a:solidFill>
              <a:srgbClr val="D7E0E8"/>
            </a:solidFill>
            <a:prstDash val="solid"/>
          </a:ln>
        </p:spPr>
      </p:sp>
      <p:sp>
        <p:nvSpPr>
          <p:cNvPr id="8" name="Rectangle 7">
            <a:extLst>
              <a:ext uri="{FF2B5EF4-FFF2-40B4-BE49-F238E27FC236}">
                <a16:creationId xmlns:a16="http://schemas.microsoft.com/office/drawing/2014/main" id="{BEAD39DB-AB4D-4BBD-A4AC-690F046CA9BF}"/>
              </a:ext>
            </a:extLst>
          </p:cNvPr>
          <p:cNvSpPr>
            <a:spLocks noGrp="1"/>
          </p:cNvSpPr>
          <p:nvPr/>
        </p:nvSpPr>
        <p:spPr>
          <a:xfrm>
            <a:off x="704850" y="2000250"/>
            <a:ext cx="2286000" cy="514350"/>
          </a:xfrm>
          <a:prstGeom prst="rect">
            <a:avLst/>
          </a:prstGeom>
          <a:noFill/>
          <a:ln w="0">
            <a:noFill/>
            <a:prstDash val="solid"/>
          </a:ln>
        </p:spPr>
        <p:txBody>
          <a:bodyPr lIns="0" tIns="0" rIns="0" bIns="0" anchor="t">
            <a:normAutofit/>
          </a:bodyPr>
          <a:lstStyle/>
          <a:p>
            <a:pPr algn="l">
              <a:buNone/>
              <a:defRPr sz="1050" b="1">
                <a:solidFill>
                  <a:srgbClr val="FFFFFF"/>
                </a:solidFill>
                <a:latin typeface="Arial"/>
                <a:ea typeface="Arial"/>
                <a:cs typeface="Arial"/>
              </a:defRPr>
            </a:pPr>
            <a:r>
              <a:rPr sz="1050" b="1">
                <a:solidFill>
                  <a:srgbClr val="FFFFFF"/>
                </a:solidFill>
                <a:latin typeface="Arial"/>
                <a:ea typeface="Arial"/>
                <a:cs typeface="Arial"/>
              </a:rPr>
              <a:t>Constraint</a:t>
            </a:r>
          </a:p>
        </p:txBody>
      </p:sp>
      <p:sp>
        <p:nvSpPr>
          <p:cNvPr id="9" name="Rectangle 8">
            <a:extLst>
              <a:ext uri="{FF2B5EF4-FFF2-40B4-BE49-F238E27FC236}">
                <a16:creationId xmlns:a16="http://schemas.microsoft.com/office/drawing/2014/main" id="{1BB8AF34-A945-45E0-8769-8D981D253F0C}"/>
              </a:ext>
            </a:extLst>
          </p:cNvPr>
          <p:cNvSpPr>
            <a:spLocks noGrp="1"/>
          </p:cNvSpPr>
          <p:nvPr/>
        </p:nvSpPr>
        <p:spPr>
          <a:xfrm>
            <a:off x="3086100" y="1905000"/>
            <a:ext cx="4476750" cy="666750"/>
          </a:xfrm>
          <a:prstGeom prst="rect">
            <a:avLst/>
          </a:prstGeom>
          <a:solidFill>
            <a:srgbClr val="0F2A43"/>
          </a:solidFill>
          <a:ln w="9525">
            <a:solidFill>
              <a:srgbClr val="D7E0E8"/>
            </a:solidFill>
            <a:prstDash val="solid"/>
          </a:ln>
        </p:spPr>
      </p:sp>
      <p:sp>
        <p:nvSpPr>
          <p:cNvPr id="10" name="Rectangle 9">
            <a:extLst>
              <a:ext uri="{FF2B5EF4-FFF2-40B4-BE49-F238E27FC236}">
                <a16:creationId xmlns:a16="http://schemas.microsoft.com/office/drawing/2014/main" id="{70B5FF25-8301-445D-B87D-8D3ADCBC1E30}"/>
              </a:ext>
            </a:extLst>
          </p:cNvPr>
          <p:cNvSpPr>
            <a:spLocks noGrp="1"/>
          </p:cNvSpPr>
          <p:nvPr/>
        </p:nvSpPr>
        <p:spPr>
          <a:xfrm>
            <a:off x="3181350" y="2000250"/>
            <a:ext cx="4286250" cy="514350"/>
          </a:xfrm>
          <a:prstGeom prst="rect">
            <a:avLst/>
          </a:prstGeom>
          <a:noFill/>
          <a:ln w="0">
            <a:noFill/>
            <a:prstDash val="solid"/>
          </a:ln>
        </p:spPr>
        <p:txBody>
          <a:bodyPr lIns="0" tIns="0" rIns="0" bIns="0" anchor="t">
            <a:normAutofit/>
          </a:bodyPr>
          <a:lstStyle/>
          <a:p>
            <a:pPr algn="l">
              <a:buNone/>
              <a:defRPr sz="1050" b="1">
                <a:solidFill>
                  <a:srgbClr val="FFFFFF"/>
                </a:solidFill>
                <a:latin typeface="Arial"/>
                <a:ea typeface="Arial"/>
                <a:cs typeface="Arial"/>
              </a:defRPr>
            </a:pPr>
            <a:r>
              <a:rPr sz="1050" b="1">
                <a:solidFill>
                  <a:srgbClr val="FFFFFF"/>
                </a:solidFill>
                <a:latin typeface="Arial"/>
                <a:ea typeface="Arial"/>
                <a:cs typeface="Arial"/>
              </a:rPr>
              <a:t>Implication</a:t>
            </a:r>
          </a:p>
        </p:txBody>
      </p:sp>
      <p:sp>
        <p:nvSpPr>
          <p:cNvPr id="11" name="Rectangle 10">
            <a:extLst>
              <a:ext uri="{FF2B5EF4-FFF2-40B4-BE49-F238E27FC236}">
                <a16:creationId xmlns:a16="http://schemas.microsoft.com/office/drawing/2014/main" id="{9E2F0602-ABC2-40A3-BD17-CF17ACFF7B0F}"/>
              </a:ext>
            </a:extLst>
          </p:cNvPr>
          <p:cNvSpPr>
            <a:spLocks noGrp="1"/>
          </p:cNvSpPr>
          <p:nvPr/>
        </p:nvSpPr>
        <p:spPr>
          <a:xfrm>
            <a:off x="7562850" y="1905000"/>
            <a:ext cx="3638550" cy="666750"/>
          </a:xfrm>
          <a:prstGeom prst="rect">
            <a:avLst/>
          </a:prstGeom>
          <a:solidFill>
            <a:srgbClr val="0F2A43"/>
          </a:solidFill>
          <a:ln w="9525">
            <a:solidFill>
              <a:srgbClr val="D7E0E8"/>
            </a:solidFill>
            <a:prstDash val="solid"/>
          </a:ln>
        </p:spPr>
      </p:sp>
      <p:sp>
        <p:nvSpPr>
          <p:cNvPr id="12" name="Rectangle 11">
            <a:extLst>
              <a:ext uri="{FF2B5EF4-FFF2-40B4-BE49-F238E27FC236}">
                <a16:creationId xmlns:a16="http://schemas.microsoft.com/office/drawing/2014/main" id="{4172FE9A-21A4-40FE-9DDF-261055DD21EE}"/>
              </a:ext>
            </a:extLst>
          </p:cNvPr>
          <p:cNvSpPr>
            <a:spLocks noGrp="1"/>
          </p:cNvSpPr>
          <p:nvPr/>
        </p:nvSpPr>
        <p:spPr>
          <a:xfrm>
            <a:off x="7658100" y="2000250"/>
            <a:ext cx="3448050" cy="514350"/>
          </a:xfrm>
          <a:prstGeom prst="rect">
            <a:avLst/>
          </a:prstGeom>
          <a:noFill/>
          <a:ln w="0">
            <a:noFill/>
            <a:prstDash val="solid"/>
          </a:ln>
        </p:spPr>
        <p:txBody>
          <a:bodyPr lIns="0" tIns="0" rIns="0" bIns="0" anchor="t">
            <a:normAutofit/>
          </a:bodyPr>
          <a:lstStyle/>
          <a:p>
            <a:pPr algn="l">
              <a:buNone/>
              <a:defRPr sz="1050" b="1">
                <a:solidFill>
                  <a:srgbClr val="FFFFFF"/>
                </a:solidFill>
                <a:latin typeface="Arial"/>
                <a:ea typeface="Arial"/>
                <a:cs typeface="Arial"/>
              </a:defRPr>
            </a:pPr>
            <a:r>
              <a:rPr sz="1050" b="1">
                <a:solidFill>
                  <a:srgbClr val="FFFFFF"/>
                </a:solidFill>
                <a:latin typeface="Arial"/>
                <a:ea typeface="Arial"/>
                <a:cs typeface="Arial"/>
              </a:rPr>
              <a:t>MVP response</a:t>
            </a:r>
          </a:p>
        </p:txBody>
      </p:sp>
      <p:sp>
        <p:nvSpPr>
          <p:cNvPr id="13" name="Rectangle 12">
            <a:extLst>
              <a:ext uri="{FF2B5EF4-FFF2-40B4-BE49-F238E27FC236}">
                <a16:creationId xmlns:a16="http://schemas.microsoft.com/office/drawing/2014/main" id="{8D363F1C-CE9E-4F37-889F-2647120A380B}"/>
              </a:ext>
            </a:extLst>
          </p:cNvPr>
          <p:cNvSpPr>
            <a:spLocks noGrp="1"/>
          </p:cNvSpPr>
          <p:nvPr/>
        </p:nvSpPr>
        <p:spPr>
          <a:xfrm>
            <a:off x="609600" y="2571750"/>
            <a:ext cx="2476500" cy="666750"/>
          </a:xfrm>
          <a:prstGeom prst="rect">
            <a:avLst/>
          </a:prstGeom>
          <a:solidFill>
            <a:srgbClr val="FFFFFF"/>
          </a:solidFill>
          <a:ln w="9525">
            <a:solidFill>
              <a:srgbClr val="D7E0E8"/>
            </a:solidFill>
            <a:prstDash val="solid"/>
          </a:ln>
        </p:spPr>
      </p:sp>
      <p:sp>
        <p:nvSpPr>
          <p:cNvPr id="14" name="Rectangle 13">
            <a:extLst>
              <a:ext uri="{FF2B5EF4-FFF2-40B4-BE49-F238E27FC236}">
                <a16:creationId xmlns:a16="http://schemas.microsoft.com/office/drawing/2014/main" id="{179A6589-5C49-484A-B46C-81A05C060D06}"/>
              </a:ext>
            </a:extLst>
          </p:cNvPr>
          <p:cNvSpPr>
            <a:spLocks noGrp="1"/>
          </p:cNvSpPr>
          <p:nvPr/>
        </p:nvSpPr>
        <p:spPr>
          <a:xfrm>
            <a:off x="704850" y="2667000"/>
            <a:ext cx="2286000" cy="514350"/>
          </a:xfrm>
          <a:prstGeom prst="rect">
            <a:avLst/>
          </a:prstGeom>
          <a:noFill/>
          <a:ln w="0">
            <a:noFill/>
            <a:prstDash val="solid"/>
          </a:ln>
        </p:spPr>
        <p:txBody>
          <a:bodyPr lIns="0" tIns="0" rIns="0" bIns="0" anchor="t">
            <a:normAutofit/>
          </a:bodyPr>
          <a:lstStyle/>
          <a:p>
            <a:pPr algn="l">
              <a:buNone/>
              <a:defRPr sz="1125" b="1">
                <a:solidFill>
                  <a:srgbClr val="0F2A43"/>
                </a:solidFill>
                <a:latin typeface="Arial"/>
                <a:ea typeface="Arial"/>
                <a:cs typeface="Arial"/>
              </a:defRPr>
            </a:pPr>
            <a:r>
              <a:rPr sz="1125" b="1">
                <a:solidFill>
                  <a:srgbClr val="0F2A43"/>
                </a:solidFill>
                <a:latin typeface="Arial"/>
                <a:ea typeface="Arial"/>
                <a:cs typeface="Arial"/>
              </a:rPr>
              <a:t>Timeline</a:t>
            </a:r>
          </a:p>
        </p:txBody>
      </p:sp>
      <p:sp>
        <p:nvSpPr>
          <p:cNvPr id="15" name="Rectangle 14">
            <a:extLst>
              <a:ext uri="{FF2B5EF4-FFF2-40B4-BE49-F238E27FC236}">
                <a16:creationId xmlns:a16="http://schemas.microsoft.com/office/drawing/2014/main" id="{89D5E75A-4ED0-41D0-952F-EFC253F1460B}"/>
              </a:ext>
            </a:extLst>
          </p:cNvPr>
          <p:cNvSpPr>
            <a:spLocks noGrp="1"/>
          </p:cNvSpPr>
          <p:nvPr/>
        </p:nvSpPr>
        <p:spPr>
          <a:xfrm>
            <a:off x="3086100" y="2571750"/>
            <a:ext cx="4476750" cy="666750"/>
          </a:xfrm>
          <a:prstGeom prst="rect">
            <a:avLst/>
          </a:prstGeom>
          <a:solidFill>
            <a:srgbClr val="FFFFFF"/>
          </a:solidFill>
          <a:ln w="9525">
            <a:solidFill>
              <a:srgbClr val="D7E0E8"/>
            </a:solidFill>
            <a:prstDash val="solid"/>
          </a:ln>
        </p:spPr>
      </p:sp>
      <p:sp>
        <p:nvSpPr>
          <p:cNvPr id="16" name="Rectangle 15">
            <a:extLst>
              <a:ext uri="{FF2B5EF4-FFF2-40B4-BE49-F238E27FC236}">
                <a16:creationId xmlns:a16="http://schemas.microsoft.com/office/drawing/2014/main" id="{CE934D64-8BF1-4D51-8B23-61163B515EA3}"/>
              </a:ext>
            </a:extLst>
          </p:cNvPr>
          <p:cNvSpPr>
            <a:spLocks noGrp="1"/>
          </p:cNvSpPr>
          <p:nvPr/>
        </p:nvSpPr>
        <p:spPr>
          <a:xfrm>
            <a:off x="3181350" y="2667000"/>
            <a:ext cx="42862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No room for broad feature parity</a:t>
            </a:r>
          </a:p>
        </p:txBody>
      </p:sp>
      <p:sp>
        <p:nvSpPr>
          <p:cNvPr id="17" name="Rectangle 16">
            <a:extLst>
              <a:ext uri="{FF2B5EF4-FFF2-40B4-BE49-F238E27FC236}">
                <a16:creationId xmlns:a16="http://schemas.microsoft.com/office/drawing/2014/main" id="{484EE4EA-C2EB-4CE0-918B-63F913F70E5E}"/>
              </a:ext>
            </a:extLst>
          </p:cNvPr>
          <p:cNvSpPr>
            <a:spLocks noGrp="1"/>
          </p:cNvSpPr>
          <p:nvPr/>
        </p:nvSpPr>
        <p:spPr>
          <a:xfrm>
            <a:off x="7562850" y="2571750"/>
            <a:ext cx="3638550" cy="666750"/>
          </a:xfrm>
          <a:prstGeom prst="rect">
            <a:avLst/>
          </a:prstGeom>
          <a:solidFill>
            <a:srgbClr val="FFFFFF"/>
          </a:solidFill>
          <a:ln w="9525">
            <a:solidFill>
              <a:srgbClr val="D7E0E8"/>
            </a:solidFill>
            <a:prstDash val="solid"/>
          </a:ln>
        </p:spPr>
      </p:sp>
      <p:sp>
        <p:nvSpPr>
          <p:cNvPr id="18" name="Rectangle 17">
            <a:extLst>
              <a:ext uri="{FF2B5EF4-FFF2-40B4-BE49-F238E27FC236}">
                <a16:creationId xmlns:a16="http://schemas.microsoft.com/office/drawing/2014/main" id="{268CAB0F-4CD9-4173-AB7A-FEEA924FF11A}"/>
              </a:ext>
            </a:extLst>
          </p:cNvPr>
          <p:cNvSpPr>
            <a:spLocks noGrp="1"/>
          </p:cNvSpPr>
          <p:nvPr/>
        </p:nvSpPr>
        <p:spPr>
          <a:xfrm>
            <a:off x="7658100" y="2667000"/>
            <a:ext cx="34480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Prioritise core learning loop</a:t>
            </a:r>
          </a:p>
        </p:txBody>
      </p:sp>
      <p:sp>
        <p:nvSpPr>
          <p:cNvPr id="19" name="Rectangle 18">
            <a:extLst>
              <a:ext uri="{FF2B5EF4-FFF2-40B4-BE49-F238E27FC236}">
                <a16:creationId xmlns:a16="http://schemas.microsoft.com/office/drawing/2014/main" id="{9EA73EEB-D231-456B-8004-385E7E92CD98}"/>
              </a:ext>
            </a:extLst>
          </p:cNvPr>
          <p:cNvSpPr>
            <a:spLocks noGrp="1"/>
          </p:cNvSpPr>
          <p:nvPr/>
        </p:nvSpPr>
        <p:spPr>
          <a:xfrm>
            <a:off x="609600" y="3238500"/>
            <a:ext cx="2476500" cy="666750"/>
          </a:xfrm>
          <a:prstGeom prst="rect">
            <a:avLst/>
          </a:prstGeom>
          <a:solidFill>
            <a:srgbClr val="F2F7FA"/>
          </a:solidFill>
          <a:ln w="9525">
            <a:solidFill>
              <a:srgbClr val="D7E0E8"/>
            </a:solidFill>
            <a:prstDash val="solid"/>
          </a:ln>
        </p:spPr>
      </p:sp>
      <p:sp>
        <p:nvSpPr>
          <p:cNvPr id="20" name="Rectangle 19">
            <a:extLst>
              <a:ext uri="{FF2B5EF4-FFF2-40B4-BE49-F238E27FC236}">
                <a16:creationId xmlns:a16="http://schemas.microsoft.com/office/drawing/2014/main" id="{BBB98DD1-9A76-469C-9490-9CE01C0CFC73}"/>
              </a:ext>
            </a:extLst>
          </p:cNvPr>
          <p:cNvSpPr>
            <a:spLocks noGrp="1"/>
          </p:cNvSpPr>
          <p:nvPr/>
        </p:nvSpPr>
        <p:spPr>
          <a:xfrm>
            <a:off x="704850" y="3333750"/>
            <a:ext cx="2286000" cy="514350"/>
          </a:xfrm>
          <a:prstGeom prst="rect">
            <a:avLst/>
          </a:prstGeom>
          <a:noFill/>
          <a:ln w="0">
            <a:noFill/>
            <a:prstDash val="solid"/>
          </a:ln>
        </p:spPr>
        <p:txBody>
          <a:bodyPr lIns="0" tIns="0" rIns="0" bIns="0" anchor="t">
            <a:normAutofit/>
          </a:bodyPr>
          <a:lstStyle/>
          <a:p>
            <a:pPr algn="l">
              <a:buNone/>
              <a:defRPr sz="1125" b="1">
                <a:solidFill>
                  <a:srgbClr val="0F2A43"/>
                </a:solidFill>
                <a:latin typeface="Arial"/>
                <a:ea typeface="Arial"/>
                <a:cs typeface="Arial"/>
              </a:defRPr>
            </a:pPr>
            <a:r>
              <a:rPr sz="1125" b="1">
                <a:solidFill>
                  <a:srgbClr val="0F2A43"/>
                </a:solidFill>
                <a:latin typeface="Arial"/>
                <a:ea typeface="Arial"/>
                <a:cs typeface="Arial"/>
              </a:rPr>
              <a:t>Budget</a:t>
            </a:r>
          </a:p>
        </p:txBody>
      </p:sp>
      <p:sp>
        <p:nvSpPr>
          <p:cNvPr id="21" name="Rectangle 20">
            <a:extLst>
              <a:ext uri="{FF2B5EF4-FFF2-40B4-BE49-F238E27FC236}">
                <a16:creationId xmlns:a16="http://schemas.microsoft.com/office/drawing/2014/main" id="{5F883341-48A0-4C7F-ADF2-7B01BA023BAE}"/>
              </a:ext>
            </a:extLst>
          </p:cNvPr>
          <p:cNvSpPr>
            <a:spLocks noGrp="1"/>
          </p:cNvSpPr>
          <p:nvPr/>
        </p:nvSpPr>
        <p:spPr>
          <a:xfrm>
            <a:off x="3086100" y="3238500"/>
            <a:ext cx="4476750" cy="666750"/>
          </a:xfrm>
          <a:prstGeom prst="rect">
            <a:avLst/>
          </a:prstGeom>
          <a:solidFill>
            <a:srgbClr val="F2F7FA"/>
          </a:solidFill>
          <a:ln w="9525">
            <a:solidFill>
              <a:srgbClr val="D7E0E8"/>
            </a:solidFill>
            <a:prstDash val="solid"/>
          </a:ln>
        </p:spPr>
      </p:sp>
      <p:sp>
        <p:nvSpPr>
          <p:cNvPr id="22" name="Rectangle 21">
            <a:extLst>
              <a:ext uri="{FF2B5EF4-FFF2-40B4-BE49-F238E27FC236}">
                <a16:creationId xmlns:a16="http://schemas.microsoft.com/office/drawing/2014/main" id="{2C8FACE1-1281-4878-B922-E64BAEE9E99D}"/>
              </a:ext>
            </a:extLst>
          </p:cNvPr>
          <p:cNvSpPr>
            <a:spLocks noGrp="1"/>
          </p:cNvSpPr>
          <p:nvPr/>
        </p:nvSpPr>
        <p:spPr>
          <a:xfrm>
            <a:off x="3181350" y="3333750"/>
            <a:ext cx="42862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AI calls have operating cost</a:t>
            </a:r>
          </a:p>
        </p:txBody>
      </p:sp>
      <p:sp>
        <p:nvSpPr>
          <p:cNvPr id="23" name="Rectangle 22">
            <a:extLst>
              <a:ext uri="{FF2B5EF4-FFF2-40B4-BE49-F238E27FC236}">
                <a16:creationId xmlns:a16="http://schemas.microsoft.com/office/drawing/2014/main" id="{322C6EB5-2B74-4CD3-96F7-C1F20FBC1272}"/>
              </a:ext>
            </a:extLst>
          </p:cNvPr>
          <p:cNvSpPr>
            <a:spLocks noGrp="1"/>
          </p:cNvSpPr>
          <p:nvPr/>
        </p:nvSpPr>
        <p:spPr>
          <a:xfrm>
            <a:off x="7562850" y="3238500"/>
            <a:ext cx="3638550" cy="666750"/>
          </a:xfrm>
          <a:prstGeom prst="rect">
            <a:avLst/>
          </a:prstGeom>
          <a:solidFill>
            <a:srgbClr val="F2F7FA"/>
          </a:solidFill>
          <a:ln w="9525">
            <a:solidFill>
              <a:srgbClr val="D7E0E8"/>
            </a:solidFill>
            <a:prstDash val="solid"/>
          </a:ln>
        </p:spPr>
      </p:sp>
      <p:sp>
        <p:nvSpPr>
          <p:cNvPr id="24" name="Rectangle 23">
            <a:extLst>
              <a:ext uri="{FF2B5EF4-FFF2-40B4-BE49-F238E27FC236}">
                <a16:creationId xmlns:a16="http://schemas.microsoft.com/office/drawing/2014/main" id="{1B1B7158-770F-481D-B6B0-3D3C10FA266C}"/>
              </a:ext>
            </a:extLst>
          </p:cNvPr>
          <p:cNvSpPr>
            <a:spLocks noGrp="1"/>
          </p:cNvSpPr>
          <p:nvPr/>
        </p:nvSpPr>
        <p:spPr>
          <a:xfrm>
            <a:off x="7658100" y="3333750"/>
            <a:ext cx="34480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Cache, reuse and quota requests</a:t>
            </a:r>
          </a:p>
        </p:txBody>
      </p:sp>
      <p:sp>
        <p:nvSpPr>
          <p:cNvPr id="25" name="Rectangle 24">
            <a:extLst>
              <a:ext uri="{FF2B5EF4-FFF2-40B4-BE49-F238E27FC236}">
                <a16:creationId xmlns:a16="http://schemas.microsoft.com/office/drawing/2014/main" id="{19D3CFE0-EEE5-4C92-9541-3C7080386807}"/>
              </a:ext>
            </a:extLst>
          </p:cNvPr>
          <p:cNvSpPr>
            <a:spLocks noGrp="1"/>
          </p:cNvSpPr>
          <p:nvPr/>
        </p:nvSpPr>
        <p:spPr>
          <a:xfrm>
            <a:off x="609600" y="3905250"/>
            <a:ext cx="2476500" cy="666750"/>
          </a:xfrm>
          <a:prstGeom prst="rect">
            <a:avLst/>
          </a:prstGeom>
          <a:solidFill>
            <a:srgbClr val="FFFFFF"/>
          </a:solidFill>
          <a:ln w="9525">
            <a:solidFill>
              <a:srgbClr val="D7E0E8"/>
            </a:solidFill>
            <a:prstDash val="solid"/>
          </a:ln>
        </p:spPr>
      </p:sp>
      <p:sp>
        <p:nvSpPr>
          <p:cNvPr id="26" name="Rectangle 25">
            <a:extLst>
              <a:ext uri="{FF2B5EF4-FFF2-40B4-BE49-F238E27FC236}">
                <a16:creationId xmlns:a16="http://schemas.microsoft.com/office/drawing/2014/main" id="{8B31237B-58C7-415B-85CC-BF6CB7F33C59}"/>
              </a:ext>
            </a:extLst>
          </p:cNvPr>
          <p:cNvSpPr>
            <a:spLocks noGrp="1"/>
          </p:cNvSpPr>
          <p:nvPr/>
        </p:nvSpPr>
        <p:spPr>
          <a:xfrm>
            <a:off x="704850" y="4000500"/>
            <a:ext cx="2286000" cy="514350"/>
          </a:xfrm>
          <a:prstGeom prst="rect">
            <a:avLst/>
          </a:prstGeom>
          <a:noFill/>
          <a:ln w="0">
            <a:noFill/>
            <a:prstDash val="solid"/>
          </a:ln>
        </p:spPr>
        <p:txBody>
          <a:bodyPr lIns="0" tIns="0" rIns="0" bIns="0" anchor="t">
            <a:normAutofit/>
          </a:bodyPr>
          <a:lstStyle/>
          <a:p>
            <a:pPr algn="l">
              <a:buNone/>
              <a:defRPr sz="1125" b="1">
                <a:solidFill>
                  <a:srgbClr val="0F2A43"/>
                </a:solidFill>
                <a:latin typeface="Arial"/>
                <a:ea typeface="Arial"/>
                <a:cs typeface="Arial"/>
              </a:defRPr>
            </a:pPr>
            <a:r>
              <a:rPr sz="1125" b="1">
                <a:solidFill>
                  <a:srgbClr val="0F2A43"/>
                </a:solidFill>
                <a:latin typeface="Arial"/>
                <a:ea typeface="Arial"/>
                <a:cs typeface="Arial"/>
              </a:rPr>
              <a:t>Team skills</a:t>
            </a:r>
          </a:p>
        </p:txBody>
      </p:sp>
      <p:sp>
        <p:nvSpPr>
          <p:cNvPr id="27" name="Rectangle 26">
            <a:extLst>
              <a:ext uri="{FF2B5EF4-FFF2-40B4-BE49-F238E27FC236}">
                <a16:creationId xmlns:a16="http://schemas.microsoft.com/office/drawing/2014/main" id="{467A5164-7B24-45A7-BCFA-07624261CEC7}"/>
              </a:ext>
            </a:extLst>
          </p:cNvPr>
          <p:cNvSpPr>
            <a:spLocks noGrp="1"/>
          </p:cNvSpPr>
          <p:nvPr/>
        </p:nvSpPr>
        <p:spPr>
          <a:xfrm>
            <a:off x="3086100" y="3905250"/>
            <a:ext cx="4476750" cy="666750"/>
          </a:xfrm>
          <a:prstGeom prst="rect">
            <a:avLst/>
          </a:prstGeom>
          <a:solidFill>
            <a:srgbClr val="FFFFFF"/>
          </a:solidFill>
          <a:ln w="9525">
            <a:solidFill>
              <a:srgbClr val="D7E0E8"/>
            </a:solidFill>
            <a:prstDash val="solid"/>
          </a:ln>
        </p:spPr>
      </p:sp>
      <p:sp>
        <p:nvSpPr>
          <p:cNvPr id="28" name="Rectangle 27">
            <a:extLst>
              <a:ext uri="{FF2B5EF4-FFF2-40B4-BE49-F238E27FC236}">
                <a16:creationId xmlns:a16="http://schemas.microsoft.com/office/drawing/2014/main" id="{BB9034B0-45CE-4E0A-84F6-C295A6A1B1A2}"/>
              </a:ext>
            </a:extLst>
          </p:cNvPr>
          <p:cNvSpPr>
            <a:spLocks noGrp="1"/>
          </p:cNvSpPr>
          <p:nvPr/>
        </p:nvSpPr>
        <p:spPr>
          <a:xfrm>
            <a:off x="3181350" y="4000500"/>
            <a:ext cx="42862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Mobile and AI learning is needed</a:t>
            </a:r>
          </a:p>
        </p:txBody>
      </p:sp>
      <p:sp>
        <p:nvSpPr>
          <p:cNvPr id="29" name="Rectangle 28">
            <a:extLst>
              <a:ext uri="{FF2B5EF4-FFF2-40B4-BE49-F238E27FC236}">
                <a16:creationId xmlns:a16="http://schemas.microsoft.com/office/drawing/2014/main" id="{90E8579C-E47D-44BC-A263-134414410570}"/>
              </a:ext>
            </a:extLst>
          </p:cNvPr>
          <p:cNvSpPr>
            <a:spLocks noGrp="1"/>
          </p:cNvSpPr>
          <p:nvPr/>
        </p:nvSpPr>
        <p:spPr>
          <a:xfrm>
            <a:off x="7562850" y="3905250"/>
            <a:ext cx="3638550" cy="666750"/>
          </a:xfrm>
          <a:prstGeom prst="rect">
            <a:avLst/>
          </a:prstGeom>
          <a:solidFill>
            <a:srgbClr val="FFFFFF"/>
          </a:solidFill>
          <a:ln w="9525">
            <a:solidFill>
              <a:srgbClr val="D7E0E8"/>
            </a:solidFill>
            <a:prstDash val="solid"/>
          </a:ln>
        </p:spPr>
      </p:sp>
      <p:sp>
        <p:nvSpPr>
          <p:cNvPr id="30" name="Rectangle 29">
            <a:extLst>
              <a:ext uri="{FF2B5EF4-FFF2-40B4-BE49-F238E27FC236}">
                <a16:creationId xmlns:a16="http://schemas.microsoft.com/office/drawing/2014/main" id="{C692AAEA-1ECC-4B0B-8239-42530DAE5642}"/>
              </a:ext>
            </a:extLst>
          </p:cNvPr>
          <p:cNvSpPr>
            <a:spLocks noGrp="1"/>
          </p:cNvSpPr>
          <p:nvPr/>
        </p:nvSpPr>
        <p:spPr>
          <a:xfrm>
            <a:off x="7658100" y="4000500"/>
            <a:ext cx="34480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Plan training and pairing</a:t>
            </a:r>
          </a:p>
        </p:txBody>
      </p:sp>
      <p:sp>
        <p:nvSpPr>
          <p:cNvPr id="31" name="Rectangle 30">
            <a:extLst>
              <a:ext uri="{FF2B5EF4-FFF2-40B4-BE49-F238E27FC236}">
                <a16:creationId xmlns:a16="http://schemas.microsoft.com/office/drawing/2014/main" id="{FAAFD6E9-1F63-4375-8CFC-53EA223D37E1}"/>
              </a:ext>
            </a:extLst>
          </p:cNvPr>
          <p:cNvSpPr>
            <a:spLocks noGrp="1"/>
          </p:cNvSpPr>
          <p:nvPr/>
        </p:nvSpPr>
        <p:spPr>
          <a:xfrm>
            <a:off x="609600" y="4572000"/>
            <a:ext cx="2476500" cy="666750"/>
          </a:xfrm>
          <a:prstGeom prst="rect">
            <a:avLst/>
          </a:prstGeom>
          <a:solidFill>
            <a:srgbClr val="F2F7FA"/>
          </a:solidFill>
          <a:ln w="9525">
            <a:solidFill>
              <a:srgbClr val="D7E0E8"/>
            </a:solidFill>
            <a:prstDash val="solid"/>
          </a:ln>
        </p:spPr>
      </p:sp>
      <p:sp>
        <p:nvSpPr>
          <p:cNvPr id="32" name="Rectangle 31">
            <a:extLst>
              <a:ext uri="{FF2B5EF4-FFF2-40B4-BE49-F238E27FC236}">
                <a16:creationId xmlns:a16="http://schemas.microsoft.com/office/drawing/2014/main" id="{0257EFFF-F5B0-4F25-AE36-10792CFB56FB}"/>
              </a:ext>
            </a:extLst>
          </p:cNvPr>
          <p:cNvSpPr>
            <a:spLocks noGrp="1"/>
          </p:cNvSpPr>
          <p:nvPr/>
        </p:nvSpPr>
        <p:spPr>
          <a:xfrm>
            <a:off x="704850" y="4667250"/>
            <a:ext cx="2286000" cy="514350"/>
          </a:xfrm>
          <a:prstGeom prst="rect">
            <a:avLst/>
          </a:prstGeom>
          <a:noFill/>
          <a:ln w="0">
            <a:noFill/>
            <a:prstDash val="solid"/>
          </a:ln>
        </p:spPr>
        <p:txBody>
          <a:bodyPr lIns="0" tIns="0" rIns="0" bIns="0" anchor="t">
            <a:normAutofit/>
          </a:bodyPr>
          <a:lstStyle/>
          <a:p>
            <a:pPr algn="l">
              <a:buNone/>
              <a:defRPr sz="1125" b="1">
                <a:solidFill>
                  <a:srgbClr val="0F2A43"/>
                </a:solidFill>
                <a:latin typeface="Arial"/>
                <a:ea typeface="Arial"/>
                <a:cs typeface="Arial"/>
              </a:defRPr>
            </a:pPr>
            <a:r>
              <a:rPr sz="1125" b="1">
                <a:solidFill>
                  <a:srgbClr val="0F2A43"/>
                </a:solidFill>
                <a:latin typeface="Arial"/>
                <a:ea typeface="Arial"/>
                <a:cs typeface="Arial"/>
              </a:rPr>
              <a:t>Quality</a:t>
            </a:r>
          </a:p>
        </p:txBody>
      </p:sp>
      <p:sp>
        <p:nvSpPr>
          <p:cNvPr id="33" name="Rectangle 32">
            <a:extLst>
              <a:ext uri="{FF2B5EF4-FFF2-40B4-BE49-F238E27FC236}">
                <a16:creationId xmlns:a16="http://schemas.microsoft.com/office/drawing/2014/main" id="{688481A8-89E4-4C24-8E1F-7C145BF5D326}"/>
              </a:ext>
            </a:extLst>
          </p:cNvPr>
          <p:cNvSpPr>
            <a:spLocks noGrp="1"/>
          </p:cNvSpPr>
          <p:nvPr/>
        </p:nvSpPr>
        <p:spPr>
          <a:xfrm>
            <a:off x="3086100" y="4572000"/>
            <a:ext cx="4476750" cy="666750"/>
          </a:xfrm>
          <a:prstGeom prst="rect">
            <a:avLst/>
          </a:prstGeom>
          <a:solidFill>
            <a:srgbClr val="F2F7FA"/>
          </a:solidFill>
          <a:ln w="9525">
            <a:solidFill>
              <a:srgbClr val="D7E0E8"/>
            </a:solidFill>
            <a:prstDash val="solid"/>
          </a:ln>
        </p:spPr>
      </p:sp>
      <p:sp>
        <p:nvSpPr>
          <p:cNvPr id="34" name="Rectangle 33">
            <a:extLst>
              <a:ext uri="{FF2B5EF4-FFF2-40B4-BE49-F238E27FC236}">
                <a16:creationId xmlns:a16="http://schemas.microsoft.com/office/drawing/2014/main" id="{B29ABFEB-7CC5-4B23-ACB4-0F8043C1AEF5}"/>
              </a:ext>
            </a:extLst>
          </p:cNvPr>
          <p:cNvSpPr>
            <a:spLocks noGrp="1"/>
          </p:cNvSpPr>
          <p:nvPr/>
        </p:nvSpPr>
        <p:spPr>
          <a:xfrm>
            <a:off x="3181350" y="4667250"/>
            <a:ext cx="42862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A fast answer can still be wrong or unsafe</a:t>
            </a:r>
          </a:p>
        </p:txBody>
      </p:sp>
      <p:sp>
        <p:nvSpPr>
          <p:cNvPr id="35" name="Rectangle 34">
            <a:extLst>
              <a:ext uri="{FF2B5EF4-FFF2-40B4-BE49-F238E27FC236}">
                <a16:creationId xmlns:a16="http://schemas.microsoft.com/office/drawing/2014/main" id="{B36B5C99-19D7-4FF6-BFAC-D7B0003FC801}"/>
              </a:ext>
            </a:extLst>
          </p:cNvPr>
          <p:cNvSpPr>
            <a:spLocks noGrp="1"/>
          </p:cNvSpPr>
          <p:nvPr/>
        </p:nvSpPr>
        <p:spPr>
          <a:xfrm>
            <a:off x="7562850" y="4572000"/>
            <a:ext cx="3638550" cy="666750"/>
          </a:xfrm>
          <a:prstGeom prst="rect">
            <a:avLst/>
          </a:prstGeom>
          <a:solidFill>
            <a:srgbClr val="F2F7FA"/>
          </a:solidFill>
          <a:ln w="9525">
            <a:solidFill>
              <a:srgbClr val="D7E0E8"/>
            </a:solidFill>
            <a:prstDash val="solid"/>
          </a:ln>
        </p:spPr>
      </p:sp>
      <p:sp>
        <p:nvSpPr>
          <p:cNvPr id="36" name="Rectangle 35">
            <a:extLst>
              <a:ext uri="{FF2B5EF4-FFF2-40B4-BE49-F238E27FC236}">
                <a16:creationId xmlns:a16="http://schemas.microsoft.com/office/drawing/2014/main" id="{529F6DE3-796E-45E2-B70F-03F71036119C}"/>
              </a:ext>
            </a:extLst>
          </p:cNvPr>
          <p:cNvSpPr>
            <a:spLocks noGrp="1"/>
          </p:cNvSpPr>
          <p:nvPr/>
        </p:nvSpPr>
        <p:spPr>
          <a:xfrm>
            <a:off x="7658100" y="4667250"/>
            <a:ext cx="34480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Guardrails, testing and fallback</a:t>
            </a:r>
          </a:p>
        </p:txBody>
      </p:sp>
    </p:spTree>
    <p:extLst>
      <p:ext uri="{BB962C8B-B14F-4D97-AF65-F5344CB8AC3E}">
        <p14:creationId xmlns:p14="http://schemas.microsoft.com/office/powerpoint/2010/main" val="13578690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A491AC8A-C030-46BC-8631-FF6D299D1D15}"/>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2E02AFF4-8696-4C90-A339-3E3AB20A04A6}"/>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23</a:t>
            </a:r>
          </a:p>
        </p:txBody>
      </p:sp>
      <p:sp>
        <p:nvSpPr>
          <p:cNvPr id="3" name="Rectangle 2">
            <a:extLst>
              <a:ext uri="{FF2B5EF4-FFF2-40B4-BE49-F238E27FC236}">
                <a16:creationId xmlns:a16="http://schemas.microsoft.com/office/drawing/2014/main" id="{316F6BEC-7097-4179-8C7C-2CB8AA5CF431}"/>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34CFB3BE-5C96-407F-BADD-9CD5A53A77CA}"/>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4B6812BD-B982-413F-8AC6-8D8BFD45D266}"/>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The mobile application is the strongest MVP option</a:t>
            </a:r>
          </a:p>
        </p:txBody>
      </p:sp>
      <p:sp>
        <p:nvSpPr>
          <p:cNvPr id="6" name="Rectangle 5">
            <a:extLst>
              <a:ext uri="{FF2B5EF4-FFF2-40B4-BE49-F238E27FC236}">
                <a16:creationId xmlns:a16="http://schemas.microsoft.com/office/drawing/2014/main" id="{C72E0AD9-0998-4DFA-94C3-79C619030D1B}"/>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Its camera access and always-available form factor directly fit the problem.</a:t>
            </a:r>
          </a:p>
        </p:txBody>
      </p:sp>
      <p:sp>
        <p:nvSpPr>
          <p:cNvPr id="7" name="Rectangle 6">
            <a:extLst>
              <a:ext uri="{FF2B5EF4-FFF2-40B4-BE49-F238E27FC236}">
                <a16:creationId xmlns:a16="http://schemas.microsoft.com/office/drawing/2014/main" id="{9C953A41-F68A-469D-B60C-32E553015836}"/>
              </a:ext>
            </a:extLst>
          </p:cNvPr>
          <p:cNvSpPr>
            <a:spLocks noGrp="1"/>
          </p:cNvSpPr>
          <p:nvPr/>
        </p:nvSpPr>
        <p:spPr>
          <a:xfrm>
            <a:off x="609600" y="2000250"/>
            <a:ext cx="1714500" cy="666750"/>
          </a:xfrm>
          <a:prstGeom prst="rect">
            <a:avLst/>
          </a:prstGeom>
          <a:solidFill>
            <a:srgbClr val="0F2A43"/>
          </a:solidFill>
          <a:ln w="9525">
            <a:solidFill>
              <a:srgbClr val="D7E0E8"/>
            </a:solidFill>
            <a:prstDash val="solid"/>
          </a:ln>
        </p:spPr>
      </p:sp>
      <p:sp>
        <p:nvSpPr>
          <p:cNvPr id="8" name="Rectangle 7">
            <a:extLst>
              <a:ext uri="{FF2B5EF4-FFF2-40B4-BE49-F238E27FC236}">
                <a16:creationId xmlns:a16="http://schemas.microsoft.com/office/drawing/2014/main" id="{90894955-4A3D-4E0D-86CA-3C9725C824D7}"/>
              </a:ext>
            </a:extLst>
          </p:cNvPr>
          <p:cNvSpPr>
            <a:spLocks noGrp="1"/>
          </p:cNvSpPr>
          <p:nvPr/>
        </p:nvSpPr>
        <p:spPr>
          <a:xfrm>
            <a:off x="704850" y="2095500"/>
            <a:ext cx="1524000" cy="514350"/>
          </a:xfrm>
          <a:prstGeom prst="rect">
            <a:avLst/>
          </a:prstGeom>
          <a:noFill/>
          <a:ln w="0">
            <a:noFill/>
            <a:prstDash val="solid"/>
          </a:ln>
        </p:spPr>
        <p:txBody>
          <a:bodyPr lIns="0" tIns="0" rIns="0" bIns="0" anchor="t">
            <a:normAutofit/>
          </a:bodyPr>
          <a:lstStyle/>
          <a:p>
            <a:pPr algn="l">
              <a:buNone/>
              <a:defRPr sz="1050" b="1">
                <a:solidFill>
                  <a:srgbClr val="FFFFFF"/>
                </a:solidFill>
                <a:latin typeface="Arial"/>
                <a:ea typeface="Arial"/>
                <a:cs typeface="Arial"/>
              </a:defRPr>
            </a:pPr>
            <a:r>
              <a:rPr sz="1050" b="1">
                <a:solidFill>
                  <a:srgbClr val="FFFFFF"/>
                </a:solidFill>
                <a:latin typeface="Arial"/>
                <a:ea typeface="Arial"/>
                <a:cs typeface="Arial"/>
              </a:rPr>
              <a:t>Option</a:t>
            </a:r>
          </a:p>
        </p:txBody>
      </p:sp>
      <p:sp>
        <p:nvSpPr>
          <p:cNvPr id="9" name="Rectangle 8">
            <a:extLst>
              <a:ext uri="{FF2B5EF4-FFF2-40B4-BE49-F238E27FC236}">
                <a16:creationId xmlns:a16="http://schemas.microsoft.com/office/drawing/2014/main" id="{C2F8F69D-EFB6-4962-8935-F9ABF86D3F6B}"/>
              </a:ext>
            </a:extLst>
          </p:cNvPr>
          <p:cNvSpPr>
            <a:spLocks noGrp="1"/>
          </p:cNvSpPr>
          <p:nvPr/>
        </p:nvSpPr>
        <p:spPr>
          <a:xfrm>
            <a:off x="2324100" y="2000250"/>
            <a:ext cx="3143250" cy="666750"/>
          </a:xfrm>
          <a:prstGeom prst="rect">
            <a:avLst/>
          </a:prstGeom>
          <a:solidFill>
            <a:srgbClr val="0F2A43"/>
          </a:solidFill>
          <a:ln w="9525">
            <a:solidFill>
              <a:srgbClr val="D7E0E8"/>
            </a:solidFill>
            <a:prstDash val="solid"/>
          </a:ln>
        </p:spPr>
      </p:sp>
      <p:sp>
        <p:nvSpPr>
          <p:cNvPr id="10" name="Rectangle 9">
            <a:extLst>
              <a:ext uri="{FF2B5EF4-FFF2-40B4-BE49-F238E27FC236}">
                <a16:creationId xmlns:a16="http://schemas.microsoft.com/office/drawing/2014/main" id="{1C0FA69A-03F1-43B8-9EEE-9889E008DBFF}"/>
              </a:ext>
            </a:extLst>
          </p:cNvPr>
          <p:cNvSpPr>
            <a:spLocks noGrp="1"/>
          </p:cNvSpPr>
          <p:nvPr/>
        </p:nvSpPr>
        <p:spPr>
          <a:xfrm>
            <a:off x="2419350" y="2095500"/>
            <a:ext cx="2952750" cy="514350"/>
          </a:xfrm>
          <a:prstGeom prst="rect">
            <a:avLst/>
          </a:prstGeom>
          <a:noFill/>
          <a:ln w="0">
            <a:noFill/>
            <a:prstDash val="solid"/>
          </a:ln>
        </p:spPr>
        <p:txBody>
          <a:bodyPr lIns="0" tIns="0" rIns="0" bIns="0" anchor="t">
            <a:normAutofit/>
          </a:bodyPr>
          <a:lstStyle/>
          <a:p>
            <a:pPr algn="l">
              <a:buNone/>
              <a:defRPr sz="1050" b="1">
                <a:solidFill>
                  <a:srgbClr val="FFFFFF"/>
                </a:solidFill>
                <a:latin typeface="Arial"/>
                <a:ea typeface="Arial"/>
                <a:cs typeface="Arial"/>
              </a:defRPr>
            </a:pPr>
            <a:r>
              <a:rPr sz="1050" b="1">
                <a:solidFill>
                  <a:srgbClr val="FFFFFF"/>
                </a:solidFill>
                <a:latin typeface="Arial"/>
                <a:ea typeface="Arial"/>
                <a:cs typeface="Arial"/>
              </a:rPr>
              <a:t>Strength</a:t>
            </a:r>
          </a:p>
        </p:txBody>
      </p:sp>
      <p:sp>
        <p:nvSpPr>
          <p:cNvPr id="11" name="Rectangle 10">
            <a:extLst>
              <a:ext uri="{FF2B5EF4-FFF2-40B4-BE49-F238E27FC236}">
                <a16:creationId xmlns:a16="http://schemas.microsoft.com/office/drawing/2014/main" id="{9F4AAF54-4438-4555-9E25-CF09EADC3544}"/>
              </a:ext>
            </a:extLst>
          </p:cNvPr>
          <p:cNvSpPr>
            <a:spLocks noGrp="1"/>
          </p:cNvSpPr>
          <p:nvPr/>
        </p:nvSpPr>
        <p:spPr>
          <a:xfrm>
            <a:off x="5467350" y="2000250"/>
            <a:ext cx="3714750" cy="666750"/>
          </a:xfrm>
          <a:prstGeom prst="rect">
            <a:avLst/>
          </a:prstGeom>
          <a:solidFill>
            <a:srgbClr val="0F2A43"/>
          </a:solidFill>
          <a:ln w="9525">
            <a:solidFill>
              <a:srgbClr val="D7E0E8"/>
            </a:solidFill>
            <a:prstDash val="solid"/>
          </a:ln>
        </p:spPr>
      </p:sp>
      <p:sp>
        <p:nvSpPr>
          <p:cNvPr id="12" name="Rectangle 11">
            <a:extLst>
              <a:ext uri="{FF2B5EF4-FFF2-40B4-BE49-F238E27FC236}">
                <a16:creationId xmlns:a16="http://schemas.microsoft.com/office/drawing/2014/main" id="{41CA8C35-9BA3-4CB3-B4A2-2BCD0A388099}"/>
              </a:ext>
            </a:extLst>
          </p:cNvPr>
          <p:cNvSpPr>
            <a:spLocks noGrp="1"/>
          </p:cNvSpPr>
          <p:nvPr/>
        </p:nvSpPr>
        <p:spPr>
          <a:xfrm>
            <a:off x="5562600" y="2095500"/>
            <a:ext cx="3524250" cy="514350"/>
          </a:xfrm>
          <a:prstGeom prst="rect">
            <a:avLst/>
          </a:prstGeom>
          <a:noFill/>
          <a:ln w="0">
            <a:noFill/>
            <a:prstDash val="solid"/>
          </a:ln>
        </p:spPr>
        <p:txBody>
          <a:bodyPr lIns="0" tIns="0" rIns="0" bIns="0" anchor="t">
            <a:normAutofit/>
          </a:bodyPr>
          <a:lstStyle/>
          <a:p>
            <a:pPr algn="l">
              <a:buNone/>
              <a:defRPr sz="1050" b="1">
                <a:solidFill>
                  <a:srgbClr val="FFFFFF"/>
                </a:solidFill>
                <a:latin typeface="Arial"/>
                <a:ea typeface="Arial"/>
                <a:cs typeface="Arial"/>
              </a:defRPr>
            </a:pPr>
            <a:r>
              <a:rPr sz="1050" b="1">
                <a:solidFill>
                  <a:srgbClr val="FFFFFF"/>
                </a:solidFill>
                <a:latin typeface="Arial"/>
                <a:ea typeface="Arial"/>
                <a:cs typeface="Arial"/>
              </a:rPr>
              <a:t>Weakness</a:t>
            </a:r>
          </a:p>
        </p:txBody>
      </p:sp>
      <p:sp>
        <p:nvSpPr>
          <p:cNvPr id="13" name="Rectangle 12">
            <a:extLst>
              <a:ext uri="{FF2B5EF4-FFF2-40B4-BE49-F238E27FC236}">
                <a16:creationId xmlns:a16="http://schemas.microsoft.com/office/drawing/2014/main" id="{71B91B04-CEA0-4256-9BD4-B2C2B28FD0D6}"/>
              </a:ext>
            </a:extLst>
          </p:cNvPr>
          <p:cNvSpPr>
            <a:spLocks noGrp="1"/>
          </p:cNvSpPr>
          <p:nvPr/>
        </p:nvSpPr>
        <p:spPr>
          <a:xfrm>
            <a:off x="9182100" y="2000250"/>
            <a:ext cx="2019300" cy="666750"/>
          </a:xfrm>
          <a:prstGeom prst="rect">
            <a:avLst/>
          </a:prstGeom>
          <a:solidFill>
            <a:srgbClr val="0F2A43"/>
          </a:solidFill>
          <a:ln w="9525">
            <a:solidFill>
              <a:srgbClr val="D7E0E8"/>
            </a:solidFill>
            <a:prstDash val="solid"/>
          </a:ln>
        </p:spPr>
      </p:sp>
      <p:sp>
        <p:nvSpPr>
          <p:cNvPr id="14" name="Rectangle 13">
            <a:extLst>
              <a:ext uri="{FF2B5EF4-FFF2-40B4-BE49-F238E27FC236}">
                <a16:creationId xmlns:a16="http://schemas.microsoft.com/office/drawing/2014/main" id="{8015C8E5-C7F2-4BFD-9C6B-439CCF809230}"/>
              </a:ext>
            </a:extLst>
          </p:cNvPr>
          <p:cNvSpPr>
            <a:spLocks noGrp="1"/>
          </p:cNvSpPr>
          <p:nvPr/>
        </p:nvSpPr>
        <p:spPr>
          <a:xfrm>
            <a:off x="9277350" y="2095500"/>
            <a:ext cx="1828800" cy="514350"/>
          </a:xfrm>
          <a:prstGeom prst="rect">
            <a:avLst/>
          </a:prstGeom>
          <a:noFill/>
          <a:ln w="0">
            <a:noFill/>
            <a:prstDash val="solid"/>
          </a:ln>
        </p:spPr>
        <p:txBody>
          <a:bodyPr lIns="0" tIns="0" rIns="0" bIns="0" anchor="t">
            <a:normAutofit/>
          </a:bodyPr>
          <a:lstStyle/>
          <a:p>
            <a:pPr algn="l">
              <a:buNone/>
              <a:defRPr sz="1050" b="1">
                <a:solidFill>
                  <a:srgbClr val="FFFFFF"/>
                </a:solidFill>
                <a:latin typeface="Arial"/>
                <a:ea typeface="Arial"/>
                <a:cs typeface="Arial"/>
              </a:defRPr>
            </a:pPr>
            <a:r>
              <a:rPr sz="1050" b="1">
                <a:solidFill>
                  <a:srgbClr val="FFFFFF"/>
                </a:solidFill>
                <a:latin typeface="Arial"/>
                <a:ea typeface="Arial"/>
                <a:cs typeface="Arial"/>
              </a:rPr>
              <a:t>Decision</a:t>
            </a:r>
          </a:p>
        </p:txBody>
      </p:sp>
      <p:sp>
        <p:nvSpPr>
          <p:cNvPr id="15" name="Rectangle 14">
            <a:extLst>
              <a:ext uri="{FF2B5EF4-FFF2-40B4-BE49-F238E27FC236}">
                <a16:creationId xmlns:a16="http://schemas.microsoft.com/office/drawing/2014/main" id="{BC8F46E6-6703-4B87-ADA9-C63C7E7CEC7A}"/>
              </a:ext>
            </a:extLst>
          </p:cNvPr>
          <p:cNvSpPr>
            <a:spLocks noGrp="1"/>
          </p:cNvSpPr>
          <p:nvPr/>
        </p:nvSpPr>
        <p:spPr>
          <a:xfrm>
            <a:off x="609600" y="2667000"/>
            <a:ext cx="1714500" cy="666750"/>
          </a:xfrm>
          <a:prstGeom prst="rect">
            <a:avLst/>
          </a:prstGeom>
          <a:solidFill>
            <a:srgbClr val="FFFFFF"/>
          </a:solidFill>
          <a:ln w="9525">
            <a:solidFill>
              <a:srgbClr val="D7E0E8"/>
            </a:solidFill>
            <a:prstDash val="solid"/>
          </a:ln>
        </p:spPr>
      </p:sp>
      <p:sp>
        <p:nvSpPr>
          <p:cNvPr id="16" name="Rectangle 15">
            <a:extLst>
              <a:ext uri="{FF2B5EF4-FFF2-40B4-BE49-F238E27FC236}">
                <a16:creationId xmlns:a16="http://schemas.microsoft.com/office/drawing/2014/main" id="{08516B47-B25C-49AA-ADBC-3A8AA9BCE740}"/>
              </a:ext>
            </a:extLst>
          </p:cNvPr>
          <p:cNvSpPr>
            <a:spLocks noGrp="1"/>
          </p:cNvSpPr>
          <p:nvPr/>
        </p:nvSpPr>
        <p:spPr>
          <a:xfrm>
            <a:off x="704850" y="2762250"/>
            <a:ext cx="1524000" cy="514350"/>
          </a:xfrm>
          <a:prstGeom prst="rect">
            <a:avLst/>
          </a:prstGeom>
          <a:noFill/>
          <a:ln w="0">
            <a:noFill/>
            <a:prstDash val="solid"/>
          </a:ln>
        </p:spPr>
        <p:txBody>
          <a:bodyPr lIns="0" tIns="0" rIns="0" bIns="0" anchor="t">
            <a:normAutofit/>
          </a:bodyPr>
          <a:lstStyle/>
          <a:p>
            <a:pPr algn="l">
              <a:buNone/>
              <a:defRPr sz="1125" b="1">
                <a:solidFill>
                  <a:srgbClr val="0F2A43"/>
                </a:solidFill>
                <a:latin typeface="Arial"/>
                <a:ea typeface="Arial"/>
                <a:cs typeface="Arial"/>
              </a:defRPr>
            </a:pPr>
            <a:r>
              <a:rPr sz="1125" b="1">
                <a:solidFill>
                  <a:srgbClr val="0F2A43"/>
                </a:solidFill>
                <a:latin typeface="Arial"/>
                <a:ea typeface="Arial"/>
                <a:cs typeface="Arial"/>
              </a:rPr>
              <a:t>Desktop</a:t>
            </a:r>
          </a:p>
        </p:txBody>
      </p:sp>
      <p:sp>
        <p:nvSpPr>
          <p:cNvPr id="17" name="Rectangle 16">
            <a:extLst>
              <a:ext uri="{FF2B5EF4-FFF2-40B4-BE49-F238E27FC236}">
                <a16:creationId xmlns:a16="http://schemas.microsoft.com/office/drawing/2014/main" id="{33907AC6-33F3-431F-9DFF-2D11E7196B0D}"/>
              </a:ext>
            </a:extLst>
          </p:cNvPr>
          <p:cNvSpPr>
            <a:spLocks noGrp="1"/>
          </p:cNvSpPr>
          <p:nvPr/>
        </p:nvSpPr>
        <p:spPr>
          <a:xfrm>
            <a:off x="2324100" y="2667000"/>
            <a:ext cx="3143250" cy="666750"/>
          </a:xfrm>
          <a:prstGeom prst="rect">
            <a:avLst/>
          </a:prstGeom>
          <a:solidFill>
            <a:srgbClr val="FFFFFF"/>
          </a:solidFill>
          <a:ln w="9525">
            <a:solidFill>
              <a:srgbClr val="D7E0E8"/>
            </a:solidFill>
            <a:prstDash val="solid"/>
          </a:ln>
        </p:spPr>
      </p:sp>
      <p:sp>
        <p:nvSpPr>
          <p:cNvPr id="18" name="Rectangle 17">
            <a:extLst>
              <a:ext uri="{FF2B5EF4-FFF2-40B4-BE49-F238E27FC236}">
                <a16:creationId xmlns:a16="http://schemas.microsoft.com/office/drawing/2014/main" id="{D7E12697-2A0E-4AE0-8E55-DF0E79C7F031}"/>
              </a:ext>
            </a:extLst>
          </p:cNvPr>
          <p:cNvSpPr>
            <a:spLocks noGrp="1"/>
          </p:cNvSpPr>
          <p:nvPr/>
        </p:nvSpPr>
        <p:spPr>
          <a:xfrm>
            <a:off x="2419350" y="2762250"/>
            <a:ext cx="29527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Large screen and power</a:t>
            </a:r>
          </a:p>
        </p:txBody>
      </p:sp>
      <p:sp>
        <p:nvSpPr>
          <p:cNvPr id="19" name="Rectangle 18">
            <a:extLst>
              <a:ext uri="{FF2B5EF4-FFF2-40B4-BE49-F238E27FC236}">
                <a16:creationId xmlns:a16="http://schemas.microsoft.com/office/drawing/2014/main" id="{DA3BE09B-CC9B-4275-80B0-89E6A4EBE95A}"/>
              </a:ext>
            </a:extLst>
          </p:cNvPr>
          <p:cNvSpPr>
            <a:spLocks noGrp="1"/>
          </p:cNvSpPr>
          <p:nvPr/>
        </p:nvSpPr>
        <p:spPr>
          <a:xfrm>
            <a:off x="5467350" y="2667000"/>
            <a:ext cx="3714750" cy="666750"/>
          </a:xfrm>
          <a:prstGeom prst="rect">
            <a:avLst/>
          </a:prstGeom>
          <a:solidFill>
            <a:srgbClr val="FFFFFF"/>
          </a:solidFill>
          <a:ln w="9525">
            <a:solidFill>
              <a:srgbClr val="D7E0E8"/>
            </a:solidFill>
            <a:prstDash val="solid"/>
          </a:ln>
        </p:spPr>
      </p:sp>
      <p:sp>
        <p:nvSpPr>
          <p:cNvPr id="20" name="Rectangle 19">
            <a:extLst>
              <a:ext uri="{FF2B5EF4-FFF2-40B4-BE49-F238E27FC236}">
                <a16:creationId xmlns:a16="http://schemas.microsoft.com/office/drawing/2014/main" id="{1C384152-A7E9-4920-B074-3C27E398A4F7}"/>
              </a:ext>
            </a:extLst>
          </p:cNvPr>
          <p:cNvSpPr>
            <a:spLocks noGrp="1"/>
          </p:cNvSpPr>
          <p:nvPr/>
        </p:nvSpPr>
        <p:spPr>
          <a:xfrm>
            <a:off x="5562600" y="2762250"/>
            <a:ext cx="35242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Not available at the moment of confusion</a:t>
            </a:r>
          </a:p>
        </p:txBody>
      </p:sp>
      <p:sp>
        <p:nvSpPr>
          <p:cNvPr id="21" name="Rectangle 20">
            <a:extLst>
              <a:ext uri="{FF2B5EF4-FFF2-40B4-BE49-F238E27FC236}">
                <a16:creationId xmlns:a16="http://schemas.microsoft.com/office/drawing/2014/main" id="{7127BCD6-D296-4A56-A4F9-07536B2C57C8}"/>
              </a:ext>
            </a:extLst>
          </p:cNvPr>
          <p:cNvSpPr>
            <a:spLocks noGrp="1"/>
          </p:cNvSpPr>
          <p:nvPr/>
        </p:nvSpPr>
        <p:spPr>
          <a:xfrm>
            <a:off x="9182100" y="2667000"/>
            <a:ext cx="2019300" cy="666750"/>
          </a:xfrm>
          <a:prstGeom prst="rect">
            <a:avLst/>
          </a:prstGeom>
          <a:solidFill>
            <a:srgbClr val="FFFFFF"/>
          </a:solidFill>
          <a:ln w="9525">
            <a:solidFill>
              <a:srgbClr val="D7E0E8"/>
            </a:solidFill>
            <a:prstDash val="solid"/>
          </a:ln>
        </p:spPr>
      </p:sp>
      <p:sp>
        <p:nvSpPr>
          <p:cNvPr id="22" name="Rectangle 21">
            <a:extLst>
              <a:ext uri="{FF2B5EF4-FFF2-40B4-BE49-F238E27FC236}">
                <a16:creationId xmlns:a16="http://schemas.microsoft.com/office/drawing/2014/main" id="{CBDAA9B2-299A-415D-B1FA-5244149BF5F5}"/>
              </a:ext>
            </a:extLst>
          </p:cNvPr>
          <p:cNvSpPr>
            <a:spLocks noGrp="1"/>
          </p:cNvSpPr>
          <p:nvPr/>
        </p:nvSpPr>
        <p:spPr>
          <a:xfrm>
            <a:off x="9277350" y="2762250"/>
            <a:ext cx="182880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Reject for MVP</a:t>
            </a:r>
          </a:p>
        </p:txBody>
      </p:sp>
      <p:sp>
        <p:nvSpPr>
          <p:cNvPr id="23" name="Rectangle 22">
            <a:extLst>
              <a:ext uri="{FF2B5EF4-FFF2-40B4-BE49-F238E27FC236}">
                <a16:creationId xmlns:a16="http://schemas.microsoft.com/office/drawing/2014/main" id="{34847DBB-180A-4839-B9F7-7408E99906D6}"/>
              </a:ext>
            </a:extLst>
          </p:cNvPr>
          <p:cNvSpPr>
            <a:spLocks noGrp="1"/>
          </p:cNvSpPr>
          <p:nvPr/>
        </p:nvSpPr>
        <p:spPr>
          <a:xfrm>
            <a:off x="609600" y="3333750"/>
            <a:ext cx="1714500" cy="666750"/>
          </a:xfrm>
          <a:prstGeom prst="rect">
            <a:avLst/>
          </a:prstGeom>
          <a:solidFill>
            <a:srgbClr val="F2F7FA"/>
          </a:solidFill>
          <a:ln w="9525">
            <a:solidFill>
              <a:srgbClr val="D7E0E8"/>
            </a:solidFill>
            <a:prstDash val="solid"/>
          </a:ln>
        </p:spPr>
      </p:sp>
      <p:sp>
        <p:nvSpPr>
          <p:cNvPr id="24" name="Rectangle 23">
            <a:extLst>
              <a:ext uri="{FF2B5EF4-FFF2-40B4-BE49-F238E27FC236}">
                <a16:creationId xmlns:a16="http://schemas.microsoft.com/office/drawing/2014/main" id="{6C293C7A-D84D-42BF-BDFC-D0B9014F844C}"/>
              </a:ext>
            </a:extLst>
          </p:cNvPr>
          <p:cNvSpPr>
            <a:spLocks noGrp="1"/>
          </p:cNvSpPr>
          <p:nvPr/>
        </p:nvSpPr>
        <p:spPr>
          <a:xfrm>
            <a:off x="704850" y="3429000"/>
            <a:ext cx="1524000" cy="514350"/>
          </a:xfrm>
          <a:prstGeom prst="rect">
            <a:avLst/>
          </a:prstGeom>
          <a:noFill/>
          <a:ln w="0">
            <a:noFill/>
            <a:prstDash val="solid"/>
          </a:ln>
        </p:spPr>
        <p:txBody>
          <a:bodyPr lIns="0" tIns="0" rIns="0" bIns="0" anchor="t">
            <a:normAutofit/>
          </a:bodyPr>
          <a:lstStyle/>
          <a:p>
            <a:pPr algn="l">
              <a:buNone/>
              <a:defRPr sz="1125" b="1">
                <a:solidFill>
                  <a:srgbClr val="0F2A43"/>
                </a:solidFill>
                <a:latin typeface="Arial"/>
                <a:ea typeface="Arial"/>
                <a:cs typeface="Arial"/>
              </a:defRPr>
            </a:pPr>
            <a:r>
              <a:rPr sz="1125" b="1">
                <a:solidFill>
                  <a:srgbClr val="0F2A43"/>
                </a:solidFill>
                <a:latin typeface="Arial"/>
                <a:ea typeface="Arial"/>
                <a:cs typeface="Arial"/>
              </a:rPr>
              <a:t>Web</a:t>
            </a:r>
          </a:p>
        </p:txBody>
      </p:sp>
      <p:sp>
        <p:nvSpPr>
          <p:cNvPr id="25" name="Rectangle 24">
            <a:extLst>
              <a:ext uri="{FF2B5EF4-FFF2-40B4-BE49-F238E27FC236}">
                <a16:creationId xmlns:a16="http://schemas.microsoft.com/office/drawing/2014/main" id="{CC588EBF-F4A5-427C-BD8D-94E6951FE78C}"/>
              </a:ext>
            </a:extLst>
          </p:cNvPr>
          <p:cNvSpPr>
            <a:spLocks noGrp="1"/>
          </p:cNvSpPr>
          <p:nvPr/>
        </p:nvSpPr>
        <p:spPr>
          <a:xfrm>
            <a:off x="2324100" y="3333750"/>
            <a:ext cx="3143250" cy="666750"/>
          </a:xfrm>
          <a:prstGeom prst="rect">
            <a:avLst/>
          </a:prstGeom>
          <a:solidFill>
            <a:srgbClr val="F2F7FA"/>
          </a:solidFill>
          <a:ln w="9525">
            <a:solidFill>
              <a:srgbClr val="D7E0E8"/>
            </a:solidFill>
            <a:prstDash val="solid"/>
          </a:ln>
        </p:spPr>
      </p:sp>
      <p:sp>
        <p:nvSpPr>
          <p:cNvPr id="26" name="Rectangle 25">
            <a:extLst>
              <a:ext uri="{FF2B5EF4-FFF2-40B4-BE49-F238E27FC236}">
                <a16:creationId xmlns:a16="http://schemas.microsoft.com/office/drawing/2014/main" id="{211C3707-4D0D-45DD-A4B0-44102CD18787}"/>
              </a:ext>
            </a:extLst>
          </p:cNvPr>
          <p:cNvSpPr>
            <a:spLocks noGrp="1"/>
          </p:cNvSpPr>
          <p:nvPr/>
        </p:nvSpPr>
        <p:spPr>
          <a:xfrm>
            <a:off x="2419350" y="3429000"/>
            <a:ext cx="29527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Broad reach and easy updates</a:t>
            </a:r>
          </a:p>
        </p:txBody>
      </p:sp>
      <p:sp>
        <p:nvSpPr>
          <p:cNvPr id="27" name="Rectangle 26">
            <a:extLst>
              <a:ext uri="{FF2B5EF4-FFF2-40B4-BE49-F238E27FC236}">
                <a16:creationId xmlns:a16="http://schemas.microsoft.com/office/drawing/2014/main" id="{DD06631D-5224-46EF-9DF7-600CC0017B45}"/>
              </a:ext>
            </a:extLst>
          </p:cNvPr>
          <p:cNvSpPr>
            <a:spLocks noGrp="1"/>
          </p:cNvSpPr>
          <p:nvPr/>
        </p:nvSpPr>
        <p:spPr>
          <a:xfrm>
            <a:off x="5467350" y="3333750"/>
            <a:ext cx="3714750" cy="666750"/>
          </a:xfrm>
          <a:prstGeom prst="rect">
            <a:avLst/>
          </a:prstGeom>
          <a:solidFill>
            <a:srgbClr val="F2F7FA"/>
          </a:solidFill>
          <a:ln w="9525">
            <a:solidFill>
              <a:srgbClr val="D7E0E8"/>
            </a:solidFill>
            <a:prstDash val="solid"/>
          </a:ln>
        </p:spPr>
      </p:sp>
      <p:sp>
        <p:nvSpPr>
          <p:cNvPr id="28" name="Rectangle 27">
            <a:extLst>
              <a:ext uri="{FF2B5EF4-FFF2-40B4-BE49-F238E27FC236}">
                <a16:creationId xmlns:a16="http://schemas.microsoft.com/office/drawing/2014/main" id="{93349D3A-EAC6-4167-8AF1-3ADBAB32CF98}"/>
              </a:ext>
            </a:extLst>
          </p:cNvPr>
          <p:cNvSpPr>
            <a:spLocks noGrp="1"/>
          </p:cNvSpPr>
          <p:nvPr/>
        </p:nvSpPr>
        <p:spPr>
          <a:xfrm>
            <a:off x="5562600" y="3429000"/>
            <a:ext cx="35242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Less controlled camera / offline experience</a:t>
            </a:r>
          </a:p>
        </p:txBody>
      </p:sp>
      <p:sp>
        <p:nvSpPr>
          <p:cNvPr id="29" name="Rectangle 28">
            <a:extLst>
              <a:ext uri="{FF2B5EF4-FFF2-40B4-BE49-F238E27FC236}">
                <a16:creationId xmlns:a16="http://schemas.microsoft.com/office/drawing/2014/main" id="{34996080-D5BB-445B-BA36-0D2335DE6694}"/>
              </a:ext>
            </a:extLst>
          </p:cNvPr>
          <p:cNvSpPr>
            <a:spLocks noGrp="1"/>
          </p:cNvSpPr>
          <p:nvPr/>
        </p:nvSpPr>
        <p:spPr>
          <a:xfrm>
            <a:off x="9182100" y="3333750"/>
            <a:ext cx="2019300" cy="666750"/>
          </a:xfrm>
          <a:prstGeom prst="rect">
            <a:avLst/>
          </a:prstGeom>
          <a:solidFill>
            <a:srgbClr val="F2F7FA"/>
          </a:solidFill>
          <a:ln w="9525">
            <a:solidFill>
              <a:srgbClr val="D7E0E8"/>
            </a:solidFill>
            <a:prstDash val="solid"/>
          </a:ln>
        </p:spPr>
      </p:sp>
      <p:sp>
        <p:nvSpPr>
          <p:cNvPr id="30" name="Rectangle 29">
            <a:extLst>
              <a:ext uri="{FF2B5EF4-FFF2-40B4-BE49-F238E27FC236}">
                <a16:creationId xmlns:a16="http://schemas.microsoft.com/office/drawing/2014/main" id="{0D12F772-7194-4949-AD00-FBF85CA739A4}"/>
              </a:ext>
            </a:extLst>
          </p:cNvPr>
          <p:cNvSpPr>
            <a:spLocks noGrp="1"/>
          </p:cNvSpPr>
          <p:nvPr/>
        </p:nvSpPr>
        <p:spPr>
          <a:xfrm>
            <a:off x="9277350" y="3429000"/>
            <a:ext cx="182880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Future channel</a:t>
            </a:r>
          </a:p>
        </p:txBody>
      </p:sp>
      <p:sp>
        <p:nvSpPr>
          <p:cNvPr id="31" name="Rectangle 30">
            <a:extLst>
              <a:ext uri="{FF2B5EF4-FFF2-40B4-BE49-F238E27FC236}">
                <a16:creationId xmlns:a16="http://schemas.microsoft.com/office/drawing/2014/main" id="{6B619191-3AAA-4346-B12A-4F15216549EF}"/>
              </a:ext>
            </a:extLst>
          </p:cNvPr>
          <p:cNvSpPr>
            <a:spLocks noGrp="1"/>
          </p:cNvSpPr>
          <p:nvPr/>
        </p:nvSpPr>
        <p:spPr>
          <a:xfrm>
            <a:off x="609600" y="4000500"/>
            <a:ext cx="1714500" cy="666750"/>
          </a:xfrm>
          <a:prstGeom prst="rect">
            <a:avLst/>
          </a:prstGeom>
          <a:solidFill>
            <a:srgbClr val="FFFFFF"/>
          </a:solidFill>
          <a:ln w="9525">
            <a:solidFill>
              <a:srgbClr val="D7E0E8"/>
            </a:solidFill>
            <a:prstDash val="solid"/>
          </a:ln>
        </p:spPr>
      </p:sp>
      <p:sp>
        <p:nvSpPr>
          <p:cNvPr id="32" name="Rectangle 31">
            <a:extLst>
              <a:ext uri="{FF2B5EF4-FFF2-40B4-BE49-F238E27FC236}">
                <a16:creationId xmlns:a16="http://schemas.microsoft.com/office/drawing/2014/main" id="{F16B8680-818A-4536-BDFB-82E47727CE32}"/>
              </a:ext>
            </a:extLst>
          </p:cNvPr>
          <p:cNvSpPr>
            <a:spLocks noGrp="1"/>
          </p:cNvSpPr>
          <p:nvPr/>
        </p:nvSpPr>
        <p:spPr>
          <a:xfrm>
            <a:off x="704850" y="4095750"/>
            <a:ext cx="1524000" cy="514350"/>
          </a:xfrm>
          <a:prstGeom prst="rect">
            <a:avLst/>
          </a:prstGeom>
          <a:noFill/>
          <a:ln w="0">
            <a:noFill/>
            <a:prstDash val="solid"/>
          </a:ln>
        </p:spPr>
        <p:txBody>
          <a:bodyPr lIns="0" tIns="0" rIns="0" bIns="0" anchor="t">
            <a:normAutofit/>
          </a:bodyPr>
          <a:lstStyle/>
          <a:p>
            <a:pPr algn="l">
              <a:buNone/>
              <a:defRPr sz="1125" b="1">
                <a:solidFill>
                  <a:srgbClr val="0F2A43"/>
                </a:solidFill>
                <a:latin typeface="Arial"/>
                <a:ea typeface="Arial"/>
                <a:cs typeface="Arial"/>
              </a:defRPr>
            </a:pPr>
            <a:r>
              <a:rPr sz="1125" b="1">
                <a:solidFill>
                  <a:srgbClr val="0F2A43"/>
                </a:solidFill>
                <a:latin typeface="Arial"/>
                <a:ea typeface="Arial"/>
                <a:cs typeface="Arial"/>
              </a:rPr>
              <a:t>Mobile</a:t>
            </a:r>
          </a:p>
        </p:txBody>
      </p:sp>
      <p:sp>
        <p:nvSpPr>
          <p:cNvPr id="33" name="Rectangle 32">
            <a:extLst>
              <a:ext uri="{FF2B5EF4-FFF2-40B4-BE49-F238E27FC236}">
                <a16:creationId xmlns:a16="http://schemas.microsoft.com/office/drawing/2014/main" id="{2CF22B78-54A8-4742-B01B-1C6413EEA075}"/>
              </a:ext>
            </a:extLst>
          </p:cNvPr>
          <p:cNvSpPr>
            <a:spLocks noGrp="1"/>
          </p:cNvSpPr>
          <p:nvPr/>
        </p:nvSpPr>
        <p:spPr>
          <a:xfrm>
            <a:off x="2324100" y="4000500"/>
            <a:ext cx="3143250" cy="666750"/>
          </a:xfrm>
          <a:prstGeom prst="rect">
            <a:avLst/>
          </a:prstGeom>
          <a:solidFill>
            <a:srgbClr val="FFFFFF"/>
          </a:solidFill>
          <a:ln w="9525">
            <a:solidFill>
              <a:srgbClr val="D7E0E8"/>
            </a:solidFill>
            <a:prstDash val="solid"/>
          </a:ln>
        </p:spPr>
      </p:sp>
      <p:sp>
        <p:nvSpPr>
          <p:cNvPr id="34" name="Rectangle 33">
            <a:extLst>
              <a:ext uri="{FF2B5EF4-FFF2-40B4-BE49-F238E27FC236}">
                <a16:creationId xmlns:a16="http://schemas.microsoft.com/office/drawing/2014/main" id="{AFC64E7B-FF6F-48D6-9CA9-36B1CD07A613}"/>
              </a:ext>
            </a:extLst>
          </p:cNvPr>
          <p:cNvSpPr>
            <a:spLocks noGrp="1"/>
          </p:cNvSpPr>
          <p:nvPr/>
        </p:nvSpPr>
        <p:spPr>
          <a:xfrm>
            <a:off x="2419350" y="4095750"/>
            <a:ext cx="29527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Portable, camera-ready, familiar</a:t>
            </a:r>
          </a:p>
        </p:txBody>
      </p:sp>
      <p:sp>
        <p:nvSpPr>
          <p:cNvPr id="35" name="Rectangle 34">
            <a:extLst>
              <a:ext uri="{FF2B5EF4-FFF2-40B4-BE49-F238E27FC236}">
                <a16:creationId xmlns:a16="http://schemas.microsoft.com/office/drawing/2014/main" id="{B5CB5FF3-B361-4767-9F16-12D219F180B7}"/>
              </a:ext>
            </a:extLst>
          </p:cNvPr>
          <p:cNvSpPr>
            <a:spLocks noGrp="1"/>
          </p:cNvSpPr>
          <p:nvPr/>
        </p:nvSpPr>
        <p:spPr>
          <a:xfrm>
            <a:off x="5467350" y="4000500"/>
            <a:ext cx="3714750" cy="666750"/>
          </a:xfrm>
          <a:prstGeom prst="rect">
            <a:avLst/>
          </a:prstGeom>
          <a:solidFill>
            <a:srgbClr val="FFFFFF"/>
          </a:solidFill>
          <a:ln w="9525">
            <a:solidFill>
              <a:srgbClr val="D7E0E8"/>
            </a:solidFill>
            <a:prstDash val="solid"/>
          </a:ln>
        </p:spPr>
      </p:sp>
      <p:sp>
        <p:nvSpPr>
          <p:cNvPr id="36" name="Rectangle 35">
            <a:extLst>
              <a:ext uri="{FF2B5EF4-FFF2-40B4-BE49-F238E27FC236}">
                <a16:creationId xmlns:a16="http://schemas.microsoft.com/office/drawing/2014/main" id="{F69BBBC3-4BA8-429A-A7E1-8C2B7E4604B7}"/>
              </a:ext>
            </a:extLst>
          </p:cNvPr>
          <p:cNvSpPr>
            <a:spLocks noGrp="1"/>
          </p:cNvSpPr>
          <p:nvPr/>
        </p:nvSpPr>
        <p:spPr>
          <a:xfrm>
            <a:off x="5562600" y="4095750"/>
            <a:ext cx="352425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Platform complexity</a:t>
            </a:r>
          </a:p>
        </p:txBody>
      </p:sp>
      <p:sp>
        <p:nvSpPr>
          <p:cNvPr id="37" name="Rectangle 36">
            <a:extLst>
              <a:ext uri="{FF2B5EF4-FFF2-40B4-BE49-F238E27FC236}">
                <a16:creationId xmlns:a16="http://schemas.microsoft.com/office/drawing/2014/main" id="{DB1A6DA6-D12F-46E7-ABDA-F420E923DB4F}"/>
              </a:ext>
            </a:extLst>
          </p:cNvPr>
          <p:cNvSpPr>
            <a:spLocks noGrp="1"/>
          </p:cNvSpPr>
          <p:nvPr/>
        </p:nvSpPr>
        <p:spPr>
          <a:xfrm>
            <a:off x="9182100" y="4000500"/>
            <a:ext cx="2019300" cy="666750"/>
          </a:xfrm>
          <a:prstGeom prst="rect">
            <a:avLst/>
          </a:prstGeom>
          <a:solidFill>
            <a:srgbClr val="FFFFFF"/>
          </a:solidFill>
          <a:ln w="9525">
            <a:solidFill>
              <a:srgbClr val="D7E0E8"/>
            </a:solidFill>
            <a:prstDash val="solid"/>
          </a:ln>
        </p:spPr>
      </p:sp>
      <p:sp>
        <p:nvSpPr>
          <p:cNvPr id="38" name="Rectangle 37">
            <a:extLst>
              <a:ext uri="{FF2B5EF4-FFF2-40B4-BE49-F238E27FC236}">
                <a16:creationId xmlns:a16="http://schemas.microsoft.com/office/drawing/2014/main" id="{9C1CE5B0-07C4-4F40-80F5-14DFBCD7C915}"/>
              </a:ext>
            </a:extLst>
          </p:cNvPr>
          <p:cNvSpPr>
            <a:spLocks noGrp="1"/>
          </p:cNvSpPr>
          <p:nvPr/>
        </p:nvSpPr>
        <p:spPr>
          <a:xfrm>
            <a:off x="9277350" y="4095750"/>
            <a:ext cx="182880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Select for MVP</a:t>
            </a:r>
          </a:p>
        </p:txBody>
      </p:sp>
    </p:spTree>
    <p:extLst>
      <p:ext uri="{BB962C8B-B14F-4D97-AF65-F5344CB8AC3E}">
        <p14:creationId xmlns:p14="http://schemas.microsoft.com/office/powerpoint/2010/main" val="3692223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0AD640B9-7F98-4A59-BCC4-6B136F5AAB7B}"/>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879DF287-1D6B-4FB8-A2E2-11EC826C9F34}"/>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24</a:t>
            </a:r>
          </a:p>
        </p:txBody>
      </p:sp>
      <p:sp>
        <p:nvSpPr>
          <p:cNvPr id="3" name="Rectangle 2">
            <a:extLst>
              <a:ext uri="{FF2B5EF4-FFF2-40B4-BE49-F238E27FC236}">
                <a16:creationId xmlns:a16="http://schemas.microsoft.com/office/drawing/2014/main" id="{1C9EF6C9-5971-4AF8-AA9D-8490C48788E7}"/>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5993E2EC-9733-425B-9160-942E50EE5B22}"/>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DA675AA1-7B46-40B8-9AFD-4D41BBFE97DB}"/>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MVP scope keeps the first release achievable</a:t>
            </a:r>
          </a:p>
        </p:txBody>
      </p:sp>
      <p:sp>
        <p:nvSpPr>
          <p:cNvPr id="6" name="Rectangle 5">
            <a:extLst>
              <a:ext uri="{FF2B5EF4-FFF2-40B4-BE49-F238E27FC236}">
                <a16:creationId xmlns:a16="http://schemas.microsoft.com/office/drawing/2014/main" id="{8EBBF70E-CFE1-43F2-ACEC-AFDBE50B6871}"/>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The first release protects the learning loop and postpones optional polish.</a:t>
            </a:r>
          </a:p>
        </p:txBody>
      </p:sp>
      <p:sp>
        <p:nvSpPr>
          <p:cNvPr id="7" name="Rectangle 6">
            <a:extLst>
              <a:ext uri="{FF2B5EF4-FFF2-40B4-BE49-F238E27FC236}">
                <a16:creationId xmlns:a16="http://schemas.microsoft.com/office/drawing/2014/main" id="{C8F53710-F002-4FAC-9A2B-BD613E0EBB77}"/>
              </a:ext>
            </a:extLst>
          </p:cNvPr>
          <p:cNvSpPr>
            <a:spLocks noGrp="1"/>
          </p:cNvSpPr>
          <p:nvPr/>
        </p:nvSpPr>
        <p:spPr>
          <a:xfrm>
            <a:off x="609600" y="1952625"/>
            <a:ext cx="2095500" cy="666750"/>
          </a:xfrm>
          <a:prstGeom prst="rect">
            <a:avLst/>
          </a:prstGeom>
          <a:solidFill>
            <a:srgbClr val="0F2A43"/>
          </a:solidFill>
          <a:ln w="9525">
            <a:solidFill>
              <a:srgbClr val="D7E0E8"/>
            </a:solidFill>
            <a:prstDash val="solid"/>
          </a:ln>
        </p:spPr>
      </p:sp>
      <p:sp>
        <p:nvSpPr>
          <p:cNvPr id="8" name="Rectangle 7">
            <a:extLst>
              <a:ext uri="{FF2B5EF4-FFF2-40B4-BE49-F238E27FC236}">
                <a16:creationId xmlns:a16="http://schemas.microsoft.com/office/drawing/2014/main" id="{89CF603F-E94B-42BD-8608-D833C3BDEA08}"/>
              </a:ext>
            </a:extLst>
          </p:cNvPr>
          <p:cNvSpPr>
            <a:spLocks noGrp="1"/>
          </p:cNvSpPr>
          <p:nvPr/>
        </p:nvSpPr>
        <p:spPr>
          <a:xfrm>
            <a:off x="704850" y="2047875"/>
            <a:ext cx="1905000" cy="514350"/>
          </a:xfrm>
          <a:prstGeom prst="rect">
            <a:avLst/>
          </a:prstGeom>
          <a:noFill/>
          <a:ln w="0">
            <a:noFill/>
            <a:prstDash val="solid"/>
          </a:ln>
        </p:spPr>
        <p:txBody>
          <a:bodyPr lIns="0" tIns="0" rIns="0" bIns="0" anchor="t">
            <a:normAutofit/>
          </a:bodyPr>
          <a:lstStyle/>
          <a:p>
            <a:pPr algn="l">
              <a:buNone/>
              <a:defRPr sz="1050" b="1">
                <a:solidFill>
                  <a:srgbClr val="FFFFFF"/>
                </a:solidFill>
                <a:latin typeface="Arial"/>
                <a:ea typeface="Arial"/>
                <a:cs typeface="Arial"/>
              </a:defRPr>
            </a:pPr>
            <a:r>
              <a:rPr sz="1050" b="1">
                <a:solidFill>
                  <a:srgbClr val="FFFFFF"/>
                </a:solidFill>
                <a:latin typeface="Arial"/>
                <a:ea typeface="Arial"/>
                <a:cs typeface="Arial"/>
              </a:rPr>
              <a:t>Priority</a:t>
            </a:r>
          </a:p>
        </p:txBody>
      </p:sp>
      <p:sp>
        <p:nvSpPr>
          <p:cNvPr id="9" name="Rectangle 8">
            <a:extLst>
              <a:ext uri="{FF2B5EF4-FFF2-40B4-BE49-F238E27FC236}">
                <a16:creationId xmlns:a16="http://schemas.microsoft.com/office/drawing/2014/main" id="{7DD5A34B-FCB4-4D61-B33A-9D1ECF4FD16D}"/>
              </a:ext>
            </a:extLst>
          </p:cNvPr>
          <p:cNvSpPr>
            <a:spLocks noGrp="1"/>
          </p:cNvSpPr>
          <p:nvPr/>
        </p:nvSpPr>
        <p:spPr>
          <a:xfrm>
            <a:off x="2705100" y="1952625"/>
            <a:ext cx="6667500" cy="666750"/>
          </a:xfrm>
          <a:prstGeom prst="rect">
            <a:avLst/>
          </a:prstGeom>
          <a:solidFill>
            <a:srgbClr val="0F2A43"/>
          </a:solidFill>
          <a:ln w="9525">
            <a:solidFill>
              <a:srgbClr val="D7E0E8"/>
            </a:solidFill>
            <a:prstDash val="solid"/>
          </a:ln>
        </p:spPr>
      </p:sp>
      <p:sp>
        <p:nvSpPr>
          <p:cNvPr id="10" name="Rectangle 9">
            <a:extLst>
              <a:ext uri="{FF2B5EF4-FFF2-40B4-BE49-F238E27FC236}">
                <a16:creationId xmlns:a16="http://schemas.microsoft.com/office/drawing/2014/main" id="{9B3A5076-E148-4AB5-B623-23CD9D598ECA}"/>
              </a:ext>
            </a:extLst>
          </p:cNvPr>
          <p:cNvSpPr>
            <a:spLocks noGrp="1"/>
          </p:cNvSpPr>
          <p:nvPr/>
        </p:nvSpPr>
        <p:spPr>
          <a:xfrm>
            <a:off x="2800350" y="2047875"/>
            <a:ext cx="6477000" cy="514350"/>
          </a:xfrm>
          <a:prstGeom prst="rect">
            <a:avLst/>
          </a:prstGeom>
          <a:noFill/>
          <a:ln w="0">
            <a:noFill/>
            <a:prstDash val="solid"/>
          </a:ln>
        </p:spPr>
        <p:txBody>
          <a:bodyPr lIns="0" tIns="0" rIns="0" bIns="0" anchor="t">
            <a:normAutofit/>
          </a:bodyPr>
          <a:lstStyle/>
          <a:p>
            <a:pPr algn="l">
              <a:buNone/>
              <a:defRPr sz="1050" b="1">
                <a:solidFill>
                  <a:srgbClr val="FFFFFF"/>
                </a:solidFill>
                <a:latin typeface="Arial"/>
                <a:ea typeface="Arial"/>
                <a:cs typeface="Arial"/>
              </a:defRPr>
            </a:pPr>
            <a:r>
              <a:rPr sz="1050" b="1">
                <a:solidFill>
                  <a:srgbClr val="FFFFFF"/>
                </a:solidFill>
                <a:latin typeface="Arial"/>
                <a:ea typeface="Arial"/>
                <a:cs typeface="Arial"/>
              </a:rPr>
              <a:t>Included features</a:t>
            </a:r>
          </a:p>
        </p:txBody>
      </p:sp>
      <p:sp>
        <p:nvSpPr>
          <p:cNvPr id="11" name="Rectangle 10">
            <a:extLst>
              <a:ext uri="{FF2B5EF4-FFF2-40B4-BE49-F238E27FC236}">
                <a16:creationId xmlns:a16="http://schemas.microsoft.com/office/drawing/2014/main" id="{D09F6EBC-26B8-4F45-B1D6-CA2C5AD7A909}"/>
              </a:ext>
            </a:extLst>
          </p:cNvPr>
          <p:cNvSpPr>
            <a:spLocks noGrp="1"/>
          </p:cNvSpPr>
          <p:nvPr/>
        </p:nvSpPr>
        <p:spPr>
          <a:xfrm>
            <a:off x="9372600" y="1952625"/>
            <a:ext cx="2019300" cy="666750"/>
          </a:xfrm>
          <a:prstGeom prst="rect">
            <a:avLst/>
          </a:prstGeom>
          <a:solidFill>
            <a:srgbClr val="0F2A43"/>
          </a:solidFill>
          <a:ln w="9525">
            <a:solidFill>
              <a:srgbClr val="D7E0E8"/>
            </a:solidFill>
            <a:prstDash val="solid"/>
          </a:ln>
        </p:spPr>
      </p:sp>
      <p:sp>
        <p:nvSpPr>
          <p:cNvPr id="12" name="Rectangle 11">
            <a:extLst>
              <a:ext uri="{FF2B5EF4-FFF2-40B4-BE49-F238E27FC236}">
                <a16:creationId xmlns:a16="http://schemas.microsoft.com/office/drawing/2014/main" id="{1DAD16C2-37FB-4F0E-AF26-6BF4E4E2EC8A}"/>
              </a:ext>
            </a:extLst>
          </p:cNvPr>
          <p:cNvSpPr>
            <a:spLocks noGrp="1"/>
          </p:cNvSpPr>
          <p:nvPr/>
        </p:nvSpPr>
        <p:spPr>
          <a:xfrm>
            <a:off x="9467850" y="2047875"/>
            <a:ext cx="1828800" cy="514350"/>
          </a:xfrm>
          <a:prstGeom prst="rect">
            <a:avLst/>
          </a:prstGeom>
          <a:noFill/>
          <a:ln w="0">
            <a:noFill/>
            <a:prstDash val="solid"/>
          </a:ln>
        </p:spPr>
        <p:txBody>
          <a:bodyPr lIns="0" tIns="0" rIns="0" bIns="0" anchor="t">
            <a:normAutofit/>
          </a:bodyPr>
          <a:lstStyle/>
          <a:p>
            <a:pPr algn="l">
              <a:buNone/>
              <a:defRPr sz="1050" b="1">
                <a:solidFill>
                  <a:srgbClr val="FFFFFF"/>
                </a:solidFill>
                <a:latin typeface="Arial"/>
                <a:ea typeface="Arial"/>
                <a:cs typeface="Arial"/>
              </a:defRPr>
            </a:pPr>
            <a:r>
              <a:rPr sz="1050" b="1">
                <a:solidFill>
                  <a:srgbClr val="FFFFFF"/>
                </a:solidFill>
                <a:latin typeface="Arial"/>
                <a:ea typeface="Arial"/>
                <a:cs typeface="Arial"/>
              </a:rPr>
              <a:t>Release</a:t>
            </a:r>
          </a:p>
        </p:txBody>
      </p:sp>
      <p:sp>
        <p:nvSpPr>
          <p:cNvPr id="13" name="Rectangle 12">
            <a:extLst>
              <a:ext uri="{FF2B5EF4-FFF2-40B4-BE49-F238E27FC236}">
                <a16:creationId xmlns:a16="http://schemas.microsoft.com/office/drawing/2014/main" id="{EECB91B6-8E5E-407F-A399-ED52ABFBBA97}"/>
              </a:ext>
            </a:extLst>
          </p:cNvPr>
          <p:cNvSpPr>
            <a:spLocks noGrp="1"/>
          </p:cNvSpPr>
          <p:nvPr/>
        </p:nvSpPr>
        <p:spPr>
          <a:xfrm>
            <a:off x="609600" y="2619375"/>
            <a:ext cx="2095500" cy="666750"/>
          </a:xfrm>
          <a:prstGeom prst="rect">
            <a:avLst/>
          </a:prstGeom>
          <a:solidFill>
            <a:srgbClr val="FFFFFF"/>
          </a:solidFill>
          <a:ln w="9525">
            <a:solidFill>
              <a:srgbClr val="D7E0E8"/>
            </a:solidFill>
            <a:prstDash val="solid"/>
          </a:ln>
        </p:spPr>
      </p:sp>
      <p:sp>
        <p:nvSpPr>
          <p:cNvPr id="14" name="Rectangle 13">
            <a:extLst>
              <a:ext uri="{FF2B5EF4-FFF2-40B4-BE49-F238E27FC236}">
                <a16:creationId xmlns:a16="http://schemas.microsoft.com/office/drawing/2014/main" id="{1186AD20-6E7F-4578-9FF5-870077B07F61}"/>
              </a:ext>
            </a:extLst>
          </p:cNvPr>
          <p:cNvSpPr>
            <a:spLocks noGrp="1"/>
          </p:cNvSpPr>
          <p:nvPr/>
        </p:nvSpPr>
        <p:spPr>
          <a:xfrm>
            <a:off x="704850" y="2714625"/>
            <a:ext cx="1905000" cy="514350"/>
          </a:xfrm>
          <a:prstGeom prst="rect">
            <a:avLst/>
          </a:prstGeom>
          <a:noFill/>
          <a:ln w="0">
            <a:noFill/>
            <a:prstDash val="solid"/>
          </a:ln>
        </p:spPr>
        <p:txBody>
          <a:bodyPr lIns="0" tIns="0" rIns="0" bIns="0" anchor="t">
            <a:normAutofit/>
          </a:bodyPr>
          <a:lstStyle/>
          <a:p>
            <a:pPr algn="l">
              <a:buNone/>
              <a:defRPr sz="1125" b="1">
                <a:solidFill>
                  <a:srgbClr val="0F2A43"/>
                </a:solidFill>
                <a:latin typeface="Arial"/>
                <a:ea typeface="Arial"/>
                <a:cs typeface="Arial"/>
              </a:defRPr>
            </a:pPr>
            <a:r>
              <a:rPr sz="1125" b="1">
                <a:solidFill>
                  <a:srgbClr val="0F2A43"/>
                </a:solidFill>
                <a:latin typeface="Arial"/>
                <a:ea typeface="Arial"/>
                <a:cs typeface="Arial"/>
              </a:rPr>
              <a:t>MUST</a:t>
            </a:r>
          </a:p>
        </p:txBody>
      </p:sp>
      <p:sp>
        <p:nvSpPr>
          <p:cNvPr id="15" name="Rectangle 14">
            <a:extLst>
              <a:ext uri="{FF2B5EF4-FFF2-40B4-BE49-F238E27FC236}">
                <a16:creationId xmlns:a16="http://schemas.microsoft.com/office/drawing/2014/main" id="{51F9D444-0C12-4803-98EA-53D6AB027268}"/>
              </a:ext>
            </a:extLst>
          </p:cNvPr>
          <p:cNvSpPr>
            <a:spLocks noGrp="1"/>
          </p:cNvSpPr>
          <p:nvPr/>
        </p:nvSpPr>
        <p:spPr>
          <a:xfrm>
            <a:off x="2705100" y="2619375"/>
            <a:ext cx="6667500" cy="666750"/>
          </a:xfrm>
          <a:prstGeom prst="rect">
            <a:avLst/>
          </a:prstGeom>
          <a:solidFill>
            <a:srgbClr val="FFFFFF"/>
          </a:solidFill>
          <a:ln w="9525">
            <a:solidFill>
              <a:srgbClr val="D7E0E8"/>
            </a:solidFill>
            <a:prstDash val="solid"/>
          </a:ln>
        </p:spPr>
      </p:sp>
      <p:sp>
        <p:nvSpPr>
          <p:cNvPr id="16" name="Rectangle 15">
            <a:extLst>
              <a:ext uri="{FF2B5EF4-FFF2-40B4-BE49-F238E27FC236}">
                <a16:creationId xmlns:a16="http://schemas.microsoft.com/office/drawing/2014/main" id="{8258123D-AFC4-4BE4-B60C-E3B80FF2DF7D}"/>
              </a:ext>
            </a:extLst>
          </p:cNvPr>
          <p:cNvSpPr>
            <a:spLocks noGrp="1"/>
          </p:cNvSpPr>
          <p:nvPr/>
        </p:nvSpPr>
        <p:spPr>
          <a:xfrm>
            <a:off x="2800350" y="2714625"/>
            <a:ext cx="647700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Auth, text/image question, AI answer, history, basic progress</a:t>
            </a:r>
          </a:p>
        </p:txBody>
      </p:sp>
      <p:sp>
        <p:nvSpPr>
          <p:cNvPr id="17" name="Rectangle 16">
            <a:extLst>
              <a:ext uri="{FF2B5EF4-FFF2-40B4-BE49-F238E27FC236}">
                <a16:creationId xmlns:a16="http://schemas.microsoft.com/office/drawing/2014/main" id="{DA9DBCE9-C829-45D4-8B1E-9B0EF8DE059B}"/>
              </a:ext>
            </a:extLst>
          </p:cNvPr>
          <p:cNvSpPr>
            <a:spLocks noGrp="1"/>
          </p:cNvSpPr>
          <p:nvPr/>
        </p:nvSpPr>
        <p:spPr>
          <a:xfrm>
            <a:off x="9372600" y="2619375"/>
            <a:ext cx="2019300" cy="666750"/>
          </a:xfrm>
          <a:prstGeom prst="rect">
            <a:avLst/>
          </a:prstGeom>
          <a:solidFill>
            <a:srgbClr val="FFFFFF"/>
          </a:solidFill>
          <a:ln w="9525">
            <a:solidFill>
              <a:srgbClr val="D7E0E8"/>
            </a:solidFill>
            <a:prstDash val="solid"/>
          </a:ln>
        </p:spPr>
      </p:sp>
      <p:sp>
        <p:nvSpPr>
          <p:cNvPr id="18" name="Rectangle 17">
            <a:extLst>
              <a:ext uri="{FF2B5EF4-FFF2-40B4-BE49-F238E27FC236}">
                <a16:creationId xmlns:a16="http://schemas.microsoft.com/office/drawing/2014/main" id="{45B9F4AB-4599-43D3-A533-CFD14C058F98}"/>
              </a:ext>
            </a:extLst>
          </p:cNvPr>
          <p:cNvSpPr>
            <a:spLocks noGrp="1"/>
          </p:cNvSpPr>
          <p:nvPr/>
        </p:nvSpPr>
        <p:spPr>
          <a:xfrm>
            <a:off x="9467850" y="2714625"/>
            <a:ext cx="182880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MVP</a:t>
            </a:r>
          </a:p>
        </p:txBody>
      </p:sp>
      <p:sp>
        <p:nvSpPr>
          <p:cNvPr id="19" name="Rectangle 18">
            <a:extLst>
              <a:ext uri="{FF2B5EF4-FFF2-40B4-BE49-F238E27FC236}">
                <a16:creationId xmlns:a16="http://schemas.microsoft.com/office/drawing/2014/main" id="{01D2B073-2F0E-462A-BFEA-D37740D57871}"/>
              </a:ext>
            </a:extLst>
          </p:cNvPr>
          <p:cNvSpPr>
            <a:spLocks noGrp="1"/>
          </p:cNvSpPr>
          <p:nvPr/>
        </p:nvSpPr>
        <p:spPr>
          <a:xfrm>
            <a:off x="609600" y="3286125"/>
            <a:ext cx="2095500" cy="666750"/>
          </a:xfrm>
          <a:prstGeom prst="rect">
            <a:avLst/>
          </a:prstGeom>
          <a:solidFill>
            <a:srgbClr val="F2F7FA"/>
          </a:solidFill>
          <a:ln w="9525">
            <a:solidFill>
              <a:srgbClr val="D7E0E8"/>
            </a:solidFill>
            <a:prstDash val="solid"/>
          </a:ln>
        </p:spPr>
      </p:sp>
      <p:sp>
        <p:nvSpPr>
          <p:cNvPr id="20" name="Rectangle 19">
            <a:extLst>
              <a:ext uri="{FF2B5EF4-FFF2-40B4-BE49-F238E27FC236}">
                <a16:creationId xmlns:a16="http://schemas.microsoft.com/office/drawing/2014/main" id="{73E2ADF7-15CD-4637-B9F9-94AB1312B5B1}"/>
              </a:ext>
            </a:extLst>
          </p:cNvPr>
          <p:cNvSpPr>
            <a:spLocks noGrp="1"/>
          </p:cNvSpPr>
          <p:nvPr/>
        </p:nvSpPr>
        <p:spPr>
          <a:xfrm>
            <a:off x="704850" y="3381375"/>
            <a:ext cx="1905000" cy="514350"/>
          </a:xfrm>
          <a:prstGeom prst="rect">
            <a:avLst/>
          </a:prstGeom>
          <a:noFill/>
          <a:ln w="0">
            <a:noFill/>
            <a:prstDash val="solid"/>
          </a:ln>
        </p:spPr>
        <p:txBody>
          <a:bodyPr lIns="0" tIns="0" rIns="0" bIns="0" anchor="t">
            <a:normAutofit/>
          </a:bodyPr>
          <a:lstStyle/>
          <a:p>
            <a:pPr algn="l">
              <a:buNone/>
              <a:defRPr sz="1125" b="1">
                <a:solidFill>
                  <a:srgbClr val="0F2A43"/>
                </a:solidFill>
                <a:latin typeface="Arial"/>
                <a:ea typeface="Arial"/>
                <a:cs typeface="Arial"/>
              </a:defRPr>
            </a:pPr>
            <a:r>
              <a:rPr sz="1125" b="1">
                <a:solidFill>
                  <a:srgbClr val="0F2A43"/>
                </a:solidFill>
                <a:latin typeface="Arial"/>
                <a:ea typeface="Arial"/>
                <a:cs typeface="Arial"/>
              </a:rPr>
              <a:t>SHOULD</a:t>
            </a:r>
          </a:p>
        </p:txBody>
      </p:sp>
      <p:sp>
        <p:nvSpPr>
          <p:cNvPr id="21" name="Rectangle 20">
            <a:extLst>
              <a:ext uri="{FF2B5EF4-FFF2-40B4-BE49-F238E27FC236}">
                <a16:creationId xmlns:a16="http://schemas.microsoft.com/office/drawing/2014/main" id="{F77AA10D-5949-43F9-A80A-C39387471FFE}"/>
              </a:ext>
            </a:extLst>
          </p:cNvPr>
          <p:cNvSpPr>
            <a:spLocks noGrp="1"/>
          </p:cNvSpPr>
          <p:nvPr/>
        </p:nvSpPr>
        <p:spPr>
          <a:xfrm>
            <a:off x="2705100" y="3286125"/>
            <a:ext cx="6667500" cy="666750"/>
          </a:xfrm>
          <a:prstGeom prst="rect">
            <a:avLst/>
          </a:prstGeom>
          <a:solidFill>
            <a:srgbClr val="F2F7FA"/>
          </a:solidFill>
          <a:ln w="9525">
            <a:solidFill>
              <a:srgbClr val="D7E0E8"/>
            </a:solidFill>
            <a:prstDash val="solid"/>
          </a:ln>
        </p:spPr>
      </p:sp>
      <p:sp>
        <p:nvSpPr>
          <p:cNvPr id="22" name="Rectangle 21">
            <a:extLst>
              <a:ext uri="{FF2B5EF4-FFF2-40B4-BE49-F238E27FC236}">
                <a16:creationId xmlns:a16="http://schemas.microsoft.com/office/drawing/2014/main" id="{FB2B078E-9964-4043-B8CE-CAAC36C93A39}"/>
              </a:ext>
            </a:extLst>
          </p:cNvPr>
          <p:cNvSpPr>
            <a:spLocks noGrp="1"/>
          </p:cNvSpPr>
          <p:nvPr/>
        </p:nvSpPr>
        <p:spPr>
          <a:xfrm>
            <a:off x="2800350" y="3381375"/>
            <a:ext cx="647700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Bookmarks, practice, offline reading, reminders</a:t>
            </a:r>
          </a:p>
        </p:txBody>
      </p:sp>
      <p:sp>
        <p:nvSpPr>
          <p:cNvPr id="23" name="Rectangle 22">
            <a:extLst>
              <a:ext uri="{FF2B5EF4-FFF2-40B4-BE49-F238E27FC236}">
                <a16:creationId xmlns:a16="http://schemas.microsoft.com/office/drawing/2014/main" id="{23151CC0-BABF-443C-B70C-A5C839FA102D}"/>
              </a:ext>
            </a:extLst>
          </p:cNvPr>
          <p:cNvSpPr>
            <a:spLocks noGrp="1"/>
          </p:cNvSpPr>
          <p:nvPr/>
        </p:nvSpPr>
        <p:spPr>
          <a:xfrm>
            <a:off x="9372600" y="3286125"/>
            <a:ext cx="2019300" cy="666750"/>
          </a:xfrm>
          <a:prstGeom prst="rect">
            <a:avLst/>
          </a:prstGeom>
          <a:solidFill>
            <a:srgbClr val="F2F7FA"/>
          </a:solidFill>
          <a:ln w="9525">
            <a:solidFill>
              <a:srgbClr val="D7E0E8"/>
            </a:solidFill>
            <a:prstDash val="solid"/>
          </a:ln>
        </p:spPr>
      </p:sp>
      <p:sp>
        <p:nvSpPr>
          <p:cNvPr id="24" name="Rectangle 23">
            <a:extLst>
              <a:ext uri="{FF2B5EF4-FFF2-40B4-BE49-F238E27FC236}">
                <a16:creationId xmlns:a16="http://schemas.microsoft.com/office/drawing/2014/main" id="{37ED5E9F-492F-461F-B322-57E1857438FE}"/>
              </a:ext>
            </a:extLst>
          </p:cNvPr>
          <p:cNvSpPr>
            <a:spLocks noGrp="1"/>
          </p:cNvSpPr>
          <p:nvPr/>
        </p:nvSpPr>
        <p:spPr>
          <a:xfrm>
            <a:off x="9467850" y="3381375"/>
            <a:ext cx="182880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If stable</a:t>
            </a:r>
          </a:p>
        </p:txBody>
      </p:sp>
      <p:sp>
        <p:nvSpPr>
          <p:cNvPr id="25" name="Rectangle 24">
            <a:extLst>
              <a:ext uri="{FF2B5EF4-FFF2-40B4-BE49-F238E27FC236}">
                <a16:creationId xmlns:a16="http://schemas.microsoft.com/office/drawing/2014/main" id="{E15155ED-C26E-4FBF-BCB5-61FD75CFC80A}"/>
              </a:ext>
            </a:extLst>
          </p:cNvPr>
          <p:cNvSpPr>
            <a:spLocks noGrp="1"/>
          </p:cNvSpPr>
          <p:nvPr/>
        </p:nvSpPr>
        <p:spPr>
          <a:xfrm>
            <a:off x="609600" y="3952875"/>
            <a:ext cx="2095500" cy="666750"/>
          </a:xfrm>
          <a:prstGeom prst="rect">
            <a:avLst/>
          </a:prstGeom>
          <a:solidFill>
            <a:srgbClr val="FFFFFF"/>
          </a:solidFill>
          <a:ln w="9525">
            <a:solidFill>
              <a:srgbClr val="D7E0E8"/>
            </a:solidFill>
            <a:prstDash val="solid"/>
          </a:ln>
        </p:spPr>
      </p:sp>
      <p:sp>
        <p:nvSpPr>
          <p:cNvPr id="26" name="Rectangle 25">
            <a:extLst>
              <a:ext uri="{FF2B5EF4-FFF2-40B4-BE49-F238E27FC236}">
                <a16:creationId xmlns:a16="http://schemas.microsoft.com/office/drawing/2014/main" id="{55EA6F10-0EE5-4462-8AC3-DB491492CA85}"/>
              </a:ext>
            </a:extLst>
          </p:cNvPr>
          <p:cNvSpPr>
            <a:spLocks noGrp="1"/>
          </p:cNvSpPr>
          <p:nvPr/>
        </p:nvSpPr>
        <p:spPr>
          <a:xfrm>
            <a:off x="704850" y="4048125"/>
            <a:ext cx="1905000" cy="514350"/>
          </a:xfrm>
          <a:prstGeom prst="rect">
            <a:avLst/>
          </a:prstGeom>
          <a:noFill/>
          <a:ln w="0">
            <a:noFill/>
            <a:prstDash val="solid"/>
          </a:ln>
        </p:spPr>
        <p:txBody>
          <a:bodyPr lIns="0" tIns="0" rIns="0" bIns="0" anchor="t">
            <a:normAutofit/>
          </a:bodyPr>
          <a:lstStyle/>
          <a:p>
            <a:pPr algn="l">
              <a:buNone/>
              <a:defRPr sz="1125" b="1">
                <a:solidFill>
                  <a:srgbClr val="0F2A43"/>
                </a:solidFill>
                <a:latin typeface="Arial"/>
                <a:ea typeface="Arial"/>
                <a:cs typeface="Arial"/>
              </a:defRPr>
            </a:pPr>
            <a:r>
              <a:rPr sz="1125" b="1">
                <a:solidFill>
                  <a:srgbClr val="0F2A43"/>
                </a:solidFill>
                <a:latin typeface="Arial"/>
                <a:ea typeface="Arial"/>
                <a:cs typeface="Arial"/>
              </a:rPr>
              <a:t>COULD</a:t>
            </a:r>
          </a:p>
        </p:txBody>
      </p:sp>
      <p:sp>
        <p:nvSpPr>
          <p:cNvPr id="27" name="Rectangle 26">
            <a:extLst>
              <a:ext uri="{FF2B5EF4-FFF2-40B4-BE49-F238E27FC236}">
                <a16:creationId xmlns:a16="http://schemas.microsoft.com/office/drawing/2014/main" id="{82D86A42-6CC1-443B-828D-6BB16AF3FBA5}"/>
              </a:ext>
            </a:extLst>
          </p:cNvPr>
          <p:cNvSpPr>
            <a:spLocks noGrp="1"/>
          </p:cNvSpPr>
          <p:nvPr/>
        </p:nvSpPr>
        <p:spPr>
          <a:xfrm>
            <a:off x="2705100" y="3952875"/>
            <a:ext cx="6667500" cy="666750"/>
          </a:xfrm>
          <a:prstGeom prst="rect">
            <a:avLst/>
          </a:prstGeom>
          <a:solidFill>
            <a:srgbClr val="FFFFFF"/>
          </a:solidFill>
          <a:ln w="9525">
            <a:solidFill>
              <a:srgbClr val="D7E0E8"/>
            </a:solidFill>
            <a:prstDash val="solid"/>
          </a:ln>
        </p:spPr>
      </p:sp>
      <p:sp>
        <p:nvSpPr>
          <p:cNvPr id="28" name="Rectangle 27">
            <a:extLst>
              <a:ext uri="{FF2B5EF4-FFF2-40B4-BE49-F238E27FC236}">
                <a16:creationId xmlns:a16="http://schemas.microsoft.com/office/drawing/2014/main" id="{B4FA77C6-ED08-45A5-9B30-E0FFE7C8E7F8}"/>
              </a:ext>
            </a:extLst>
          </p:cNvPr>
          <p:cNvSpPr>
            <a:spLocks noGrp="1"/>
          </p:cNvSpPr>
          <p:nvPr/>
        </p:nvSpPr>
        <p:spPr>
          <a:xfrm>
            <a:off x="2800350" y="4048125"/>
            <a:ext cx="647700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Gamification, avatars, leaderboards, voice input</a:t>
            </a:r>
          </a:p>
        </p:txBody>
      </p:sp>
      <p:sp>
        <p:nvSpPr>
          <p:cNvPr id="29" name="Rectangle 28">
            <a:extLst>
              <a:ext uri="{FF2B5EF4-FFF2-40B4-BE49-F238E27FC236}">
                <a16:creationId xmlns:a16="http://schemas.microsoft.com/office/drawing/2014/main" id="{2C4FAF93-FD7C-4DD7-89B5-634C1DD7DE93}"/>
              </a:ext>
            </a:extLst>
          </p:cNvPr>
          <p:cNvSpPr>
            <a:spLocks noGrp="1"/>
          </p:cNvSpPr>
          <p:nvPr/>
        </p:nvSpPr>
        <p:spPr>
          <a:xfrm>
            <a:off x="9372600" y="3952875"/>
            <a:ext cx="2019300" cy="666750"/>
          </a:xfrm>
          <a:prstGeom prst="rect">
            <a:avLst/>
          </a:prstGeom>
          <a:solidFill>
            <a:srgbClr val="FFFFFF"/>
          </a:solidFill>
          <a:ln w="9525">
            <a:solidFill>
              <a:srgbClr val="D7E0E8"/>
            </a:solidFill>
            <a:prstDash val="solid"/>
          </a:ln>
        </p:spPr>
      </p:sp>
      <p:sp>
        <p:nvSpPr>
          <p:cNvPr id="30" name="Rectangle 29">
            <a:extLst>
              <a:ext uri="{FF2B5EF4-FFF2-40B4-BE49-F238E27FC236}">
                <a16:creationId xmlns:a16="http://schemas.microsoft.com/office/drawing/2014/main" id="{4285DE10-DAE5-4221-8650-15D5D1DCB88D}"/>
              </a:ext>
            </a:extLst>
          </p:cNvPr>
          <p:cNvSpPr>
            <a:spLocks noGrp="1"/>
          </p:cNvSpPr>
          <p:nvPr/>
        </p:nvSpPr>
        <p:spPr>
          <a:xfrm>
            <a:off x="9467850" y="4048125"/>
            <a:ext cx="182880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Phase 2</a:t>
            </a:r>
          </a:p>
        </p:txBody>
      </p:sp>
      <p:sp>
        <p:nvSpPr>
          <p:cNvPr id="31" name="Rectangle 30">
            <a:extLst>
              <a:ext uri="{FF2B5EF4-FFF2-40B4-BE49-F238E27FC236}">
                <a16:creationId xmlns:a16="http://schemas.microsoft.com/office/drawing/2014/main" id="{A79E86FE-4223-4C52-B1E7-BDD7738CA969}"/>
              </a:ext>
            </a:extLst>
          </p:cNvPr>
          <p:cNvSpPr>
            <a:spLocks noGrp="1"/>
          </p:cNvSpPr>
          <p:nvPr/>
        </p:nvSpPr>
        <p:spPr>
          <a:xfrm>
            <a:off x="609600" y="4619625"/>
            <a:ext cx="2095500" cy="666750"/>
          </a:xfrm>
          <a:prstGeom prst="rect">
            <a:avLst/>
          </a:prstGeom>
          <a:solidFill>
            <a:srgbClr val="F2F7FA"/>
          </a:solidFill>
          <a:ln w="9525">
            <a:solidFill>
              <a:srgbClr val="D7E0E8"/>
            </a:solidFill>
            <a:prstDash val="solid"/>
          </a:ln>
        </p:spPr>
      </p:sp>
      <p:sp>
        <p:nvSpPr>
          <p:cNvPr id="32" name="Rectangle 31">
            <a:extLst>
              <a:ext uri="{FF2B5EF4-FFF2-40B4-BE49-F238E27FC236}">
                <a16:creationId xmlns:a16="http://schemas.microsoft.com/office/drawing/2014/main" id="{F6F38007-740F-44F6-8DB4-B09EEEEDF3C1}"/>
              </a:ext>
            </a:extLst>
          </p:cNvPr>
          <p:cNvSpPr>
            <a:spLocks noGrp="1"/>
          </p:cNvSpPr>
          <p:nvPr/>
        </p:nvSpPr>
        <p:spPr>
          <a:xfrm>
            <a:off x="704850" y="4714875"/>
            <a:ext cx="1905000" cy="514350"/>
          </a:xfrm>
          <a:prstGeom prst="rect">
            <a:avLst/>
          </a:prstGeom>
          <a:noFill/>
          <a:ln w="0">
            <a:noFill/>
            <a:prstDash val="solid"/>
          </a:ln>
        </p:spPr>
        <p:txBody>
          <a:bodyPr lIns="0" tIns="0" rIns="0" bIns="0" anchor="t">
            <a:normAutofit/>
          </a:bodyPr>
          <a:lstStyle/>
          <a:p>
            <a:pPr algn="l">
              <a:buNone/>
              <a:defRPr sz="1125" b="1">
                <a:solidFill>
                  <a:srgbClr val="0F2A43"/>
                </a:solidFill>
                <a:latin typeface="Arial"/>
                <a:ea typeface="Arial"/>
                <a:cs typeface="Arial"/>
              </a:defRPr>
            </a:pPr>
            <a:r>
              <a:rPr sz="1125" b="1">
                <a:solidFill>
                  <a:srgbClr val="0F2A43"/>
                </a:solidFill>
                <a:latin typeface="Arial"/>
                <a:ea typeface="Arial"/>
                <a:cs typeface="Arial"/>
              </a:rPr>
              <a:t>WON'T yet</a:t>
            </a:r>
          </a:p>
        </p:txBody>
      </p:sp>
      <p:sp>
        <p:nvSpPr>
          <p:cNvPr id="33" name="Rectangle 32">
            <a:extLst>
              <a:ext uri="{FF2B5EF4-FFF2-40B4-BE49-F238E27FC236}">
                <a16:creationId xmlns:a16="http://schemas.microsoft.com/office/drawing/2014/main" id="{CFAA0615-9B43-47DB-91B8-384DDACF9817}"/>
              </a:ext>
            </a:extLst>
          </p:cNvPr>
          <p:cNvSpPr>
            <a:spLocks noGrp="1"/>
          </p:cNvSpPr>
          <p:nvPr/>
        </p:nvSpPr>
        <p:spPr>
          <a:xfrm>
            <a:off x="2705100" y="4619625"/>
            <a:ext cx="6667500" cy="666750"/>
          </a:xfrm>
          <a:prstGeom prst="rect">
            <a:avLst/>
          </a:prstGeom>
          <a:solidFill>
            <a:srgbClr val="F2F7FA"/>
          </a:solidFill>
          <a:ln w="9525">
            <a:solidFill>
              <a:srgbClr val="D7E0E8"/>
            </a:solidFill>
            <a:prstDash val="solid"/>
          </a:ln>
        </p:spPr>
      </p:sp>
      <p:sp>
        <p:nvSpPr>
          <p:cNvPr id="34" name="Rectangle 33">
            <a:extLst>
              <a:ext uri="{FF2B5EF4-FFF2-40B4-BE49-F238E27FC236}">
                <a16:creationId xmlns:a16="http://schemas.microsoft.com/office/drawing/2014/main" id="{DD7E0891-FC64-4ED4-B166-2B2A43ED8A58}"/>
              </a:ext>
            </a:extLst>
          </p:cNvPr>
          <p:cNvSpPr>
            <a:spLocks noGrp="1"/>
          </p:cNvSpPr>
          <p:nvPr/>
        </p:nvSpPr>
        <p:spPr>
          <a:xfrm>
            <a:off x="2800350" y="4714875"/>
            <a:ext cx="647700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Premium plans, advanced social features, iOS parity</a:t>
            </a:r>
          </a:p>
        </p:txBody>
      </p:sp>
      <p:sp>
        <p:nvSpPr>
          <p:cNvPr id="35" name="Rectangle 34">
            <a:extLst>
              <a:ext uri="{FF2B5EF4-FFF2-40B4-BE49-F238E27FC236}">
                <a16:creationId xmlns:a16="http://schemas.microsoft.com/office/drawing/2014/main" id="{26AD4F08-826F-4CD3-90D7-52552AA4222A}"/>
              </a:ext>
            </a:extLst>
          </p:cNvPr>
          <p:cNvSpPr>
            <a:spLocks noGrp="1"/>
          </p:cNvSpPr>
          <p:nvPr/>
        </p:nvSpPr>
        <p:spPr>
          <a:xfrm>
            <a:off x="9372600" y="4619625"/>
            <a:ext cx="2019300" cy="666750"/>
          </a:xfrm>
          <a:prstGeom prst="rect">
            <a:avLst/>
          </a:prstGeom>
          <a:solidFill>
            <a:srgbClr val="F2F7FA"/>
          </a:solidFill>
          <a:ln w="9525">
            <a:solidFill>
              <a:srgbClr val="D7E0E8"/>
            </a:solidFill>
            <a:prstDash val="solid"/>
          </a:ln>
        </p:spPr>
      </p:sp>
      <p:sp>
        <p:nvSpPr>
          <p:cNvPr id="36" name="Rectangle 35">
            <a:extLst>
              <a:ext uri="{FF2B5EF4-FFF2-40B4-BE49-F238E27FC236}">
                <a16:creationId xmlns:a16="http://schemas.microsoft.com/office/drawing/2014/main" id="{A7832234-D190-419D-916E-38DCAB5DB42F}"/>
              </a:ext>
            </a:extLst>
          </p:cNvPr>
          <p:cNvSpPr>
            <a:spLocks noGrp="1"/>
          </p:cNvSpPr>
          <p:nvPr/>
        </p:nvSpPr>
        <p:spPr>
          <a:xfrm>
            <a:off x="9467850" y="4714875"/>
            <a:ext cx="1828800" cy="5143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Later</a:t>
            </a:r>
          </a:p>
        </p:txBody>
      </p:sp>
    </p:spTree>
    <p:extLst>
      <p:ext uri="{BB962C8B-B14F-4D97-AF65-F5344CB8AC3E}">
        <p14:creationId xmlns:p14="http://schemas.microsoft.com/office/powerpoint/2010/main" val="5107242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13F3E6DE-F355-4EAA-A145-BBEDDB2B1FA7}"/>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154DA886-3428-45C3-8349-90FC10324B49}"/>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25</a:t>
            </a:r>
          </a:p>
        </p:txBody>
      </p:sp>
      <p:sp>
        <p:nvSpPr>
          <p:cNvPr id="3" name="Rectangle 2">
            <a:extLst>
              <a:ext uri="{FF2B5EF4-FFF2-40B4-BE49-F238E27FC236}">
                <a16:creationId xmlns:a16="http://schemas.microsoft.com/office/drawing/2014/main" id="{8FF8F2DB-F830-4404-97A2-15A4BBAA3932}"/>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DB183EB9-787D-459C-9BFA-649D8767F6AF}"/>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56F26B22-8FAB-4E24-8F7D-F6EBE28852F3}"/>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P1 conclusion: requirements describe one coherent product</a:t>
            </a:r>
          </a:p>
        </p:txBody>
      </p:sp>
      <p:sp>
        <p:nvSpPr>
          <p:cNvPr id="6" name="Rectangle 5">
            <a:extLst>
              <a:ext uri="{FF2B5EF4-FFF2-40B4-BE49-F238E27FC236}">
                <a16:creationId xmlns:a16="http://schemas.microsoft.com/office/drawing/2014/main" id="{BE0B529B-BC47-4DF5-8C15-3B9556C1BD9A}"/>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The proposed solution is a focused mobile AI mentor, not a general-purpose education platform.</a:t>
            </a:r>
          </a:p>
        </p:txBody>
      </p:sp>
      <p:sp>
        <p:nvSpPr>
          <p:cNvPr id="7" name="Rectangle 6">
            <a:extLst>
              <a:ext uri="{FF2B5EF4-FFF2-40B4-BE49-F238E27FC236}">
                <a16:creationId xmlns:a16="http://schemas.microsoft.com/office/drawing/2014/main" id="{01198093-85BC-4070-9D3A-88A62FDB4787}"/>
              </a:ext>
            </a:extLst>
          </p:cNvPr>
          <p:cNvSpPr>
            <a:spLocks noGrp="1"/>
          </p:cNvSpPr>
          <p:nvPr/>
        </p:nvSpPr>
        <p:spPr>
          <a:xfrm>
            <a:off x="990600" y="2152650"/>
            <a:ext cx="10210800" cy="2343150"/>
          </a:xfrm>
          <a:prstGeom prst="rect">
            <a:avLst/>
          </a:prstGeom>
          <a:solidFill>
            <a:srgbClr val="EAF5FB"/>
          </a:solidFill>
          <a:ln w="9525">
            <a:solidFill>
              <a:srgbClr val="D7E0E8"/>
            </a:solidFill>
            <a:prstDash val="solid"/>
          </a:ln>
        </p:spPr>
      </p:sp>
      <p:sp>
        <p:nvSpPr>
          <p:cNvPr id="8" name="Rectangle 7">
            <a:extLst>
              <a:ext uri="{FF2B5EF4-FFF2-40B4-BE49-F238E27FC236}">
                <a16:creationId xmlns:a16="http://schemas.microsoft.com/office/drawing/2014/main" id="{231063BC-1C2E-4EA7-B048-16D3908E01A9}"/>
              </a:ext>
            </a:extLst>
          </p:cNvPr>
          <p:cNvSpPr>
            <a:spLocks noGrp="1"/>
          </p:cNvSpPr>
          <p:nvPr/>
        </p:nvSpPr>
        <p:spPr>
          <a:xfrm>
            <a:off x="1714500" y="2724150"/>
            <a:ext cx="1619250" cy="381000"/>
          </a:xfrm>
          <a:prstGeom prst="rect">
            <a:avLst/>
          </a:prstGeom>
          <a:noFill/>
          <a:ln w="0">
            <a:noFill/>
            <a:prstDash val="solid"/>
          </a:ln>
        </p:spPr>
        <p:txBody>
          <a:bodyPr lIns="0" tIns="0" rIns="0" bIns="0" anchor="t">
            <a:normAutofit/>
          </a:bodyPr>
          <a:lstStyle/>
          <a:p>
            <a:pPr algn="ctr">
              <a:buNone/>
              <a:defRPr sz="2250" b="1">
                <a:solidFill>
                  <a:srgbClr val="3D8DFF"/>
                </a:solidFill>
                <a:latin typeface="Arial"/>
                <a:ea typeface="Arial"/>
                <a:cs typeface="Arial"/>
              </a:defRPr>
            </a:pPr>
            <a:r>
              <a:rPr sz="2250" b="1">
                <a:solidFill>
                  <a:srgbClr val="3D8DFF"/>
                </a:solidFill>
                <a:latin typeface="Arial"/>
                <a:ea typeface="Arial"/>
                <a:cs typeface="Arial"/>
              </a:rPr>
              <a:t>Ask</a:t>
            </a:r>
          </a:p>
        </p:txBody>
      </p:sp>
      <p:sp>
        <p:nvSpPr>
          <p:cNvPr id="9" name="Rectangle 8">
            <a:extLst>
              <a:ext uri="{FF2B5EF4-FFF2-40B4-BE49-F238E27FC236}">
                <a16:creationId xmlns:a16="http://schemas.microsoft.com/office/drawing/2014/main" id="{1C12AAF9-5F54-4BC4-A020-BE13CB0CDF57}"/>
              </a:ext>
            </a:extLst>
          </p:cNvPr>
          <p:cNvSpPr>
            <a:spLocks noGrp="1"/>
          </p:cNvSpPr>
          <p:nvPr/>
        </p:nvSpPr>
        <p:spPr>
          <a:xfrm>
            <a:off x="3619500" y="2724150"/>
            <a:ext cx="2095500" cy="381000"/>
          </a:xfrm>
          <a:prstGeom prst="rect">
            <a:avLst/>
          </a:prstGeom>
          <a:noFill/>
          <a:ln w="0">
            <a:noFill/>
            <a:prstDash val="solid"/>
          </a:ln>
        </p:spPr>
        <p:txBody>
          <a:bodyPr lIns="0" tIns="0" rIns="0" bIns="0" anchor="t">
            <a:normAutofit/>
          </a:bodyPr>
          <a:lstStyle/>
          <a:p>
            <a:pPr algn="ctr">
              <a:buNone/>
              <a:defRPr sz="2250" b="1">
                <a:solidFill>
                  <a:srgbClr val="FF9B45"/>
                </a:solidFill>
                <a:latin typeface="Arial"/>
                <a:ea typeface="Arial"/>
                <a:cs typeface="Arial"/>
              </a:defRPr>
            </a:pPr>
            <a:r>
              <a:rPr sz="2250" b="1">
                <a:solidFill>
                  <a:srgbClr val="FF9B45"/>
                </a:solidFill>
                <a:latin typeface="Arial"/>
                <a:ea typeface="Arial"/>
                <a:cs typeface="Arial"/>
              </a:rPr>
              <a:t>Understand</a:t>
            </a:r>
          </a:p>
        </p:txBody>
      </p:sp>
      <p:sp>
        <p:nvSpPr>
          <p:cNvPr id="10" name="Rectangle 9">
            <a:extLst>
              <a:ext uri="{FF2B5EF4-FFF2-40B4-BE49-F238E27FC236}">
                <a16:creationId xmlns:a16="http://schemas.microsoft.com/office/drawing/2014/main" id="{BF33D757-40B1-4DB6-A6E4-5EB3046E3876}"/>
              </a:ext>
            </a:extLst>
          </p:cNvPr>
          <p:cNvSpPr>
            <a:spLocks noGrp="1"/>
          </p:cNvSpPr>
          <p:nvPr/>
        </p:nvSpPr>
        <p:spPr>
          <a:xfrm>
            <a:off x="6191250" y="2724150"/>
            <a:ext cx="1619250" cy="381000"/>
          </a:xfrm>
          <a:prstGeom prst="rect">
            <a:avLst/>
          </a:prstGeom>
          <a:noFill/>
          <a:ln w="0">
            <a:noFill/>
            <a:prstDash val="solid"/>
          </a:ln>
        </p:spPr>
        <p:txBody>
          <a:bodyPr lIns="0" tIns="0" rIns="0" bIns="0" anchor="t">
            <a:normAutofit/>
          </a:bodyPr>
          <a:lstStyle/>
          <a:p>
            <a:pPr algn="ctr">
              <a:buNone/>
              <a:defRPr sz="2250" b="1">
                <a:solidFill>
                  <a:srgbClr val="0DA6A6"/>
                </a:solidFill>
                <a:latin typeface="Arial"/>
                <a:ea typeface="Arial"/>
                <a:cs typeface="Arial"/>
              </a:defRPr>
            </a:pPr>
            <a:r>
              <a:rPr sz="2250" b="1">
                <a:solidFill>
                  <a:srgbClr val="0DA6A6"/>
                </a:solidFill>
                <a:latin typeface="Arial"/>
                <a:ea typeface="Arial"/>
                <a:cs typeface="Arial"/>
              </a:rPr>
              <a:t>Practise</a:t>
            </a:r>
          </a:p>
        </p:txBody>
      </p:sp>
      <p:sp>
        <p:nvSpPr>
          <p:cNvPr id="11" name="Rectangle 10">
            <a:extLst>
              <a:ext uri="{FF2B5EF4-FFF2-40B4-BE49-F238E27FC236}">
                <a16:creationId xmlns:a16="http://schemas.microsoft.com/office/drawing/2014/main" id="{2B5844B6-BFCF-4324-8A5B-B1EE48421FE9}"/>
              </a:ext>
            </a:extLst>
          </p:cNvPr>
          <p:cNvSpPr>
            <a:spLocks noGrp="1"/>
          </p:cNvSpPr>
          <p:nvPr/>
        </p:nvSpPr>
        <p:spPr>
          <a:xfrm>
            <a:off x="8477250" y="2724150"/>
            <a:ext cx="1619250" cy="381000"/>
          </a:xfrm>
          <a:prstGeom prst="rect">
            <a:avLst/>
          </a:prstGeom>
          <a:noFill/>
          <a:ln w="0">
            <a:noFill/>
            <a:prstDash val="solid"/>
          </a:ln>
        </p:spPr>
        <p:txBody>
          <a:bodyPr lIns="0" tIns="0" rIns="0" bIns="0" anchor="t">
            <a:normAutofit/>
          </a:bodyPr>
          <a:lstStyle/>
          <a:p>
            <a:pPr algn="ctr">
              <a:buNone/>
              <a:defRPr sz="2250" b="1">
                <a:solidFill>
                  <a:srgbClr val="E95B61"/>
                </a:solidFill>
                <a:latin typeface="Arial"/>
                <a:ea typeface="Arial"/>
                <a:cs typeface="Arial"/>
              </a:defRPr>
            </a:pPr>
            <a:r>
              <a:rPr sz="2250" b="1">
                <a:solidFill>
                  <a:srgbClr val="E95B61"/>
                </a:solidFill>
                <a:latin typeface="Arial"/>
                <a:ea typeface="Arial"/>
                <a:cs typeface="Arial"/>
              </a:rPr>
              <a:t>Review</a:t>
            </a:r>
          </a:p>
        </p:txBody>
      </p:sp>
      <p:sp>
        <p:nvSpPr>
          <p:cNvPr id="12" name="Rectangle 11">
            <a:extLst>
              <a:ext uri="{FF2B5EF4-FFF2-40B4-BE49-F238E27FC236}">
                <a16:creationId xmlns:a16="http://schemas.microsoft.com/office/drawing/2014/main" id="{22304BE5-C8FD-490E-B0D5-17D3E00CEFE6}"/>
              </a:ext>
            </a:extLst>
          </p:cNvPr>
          <p:cNvSpPr>
            <a:spLocks noGrp="1"/>
          </p:cNvSpPr>
          <p:nvPr/>
        </p:nvSpPr>
        <p:spPr>
          <a:xfrm>
            <a:off x="2505075" y="3981450"/>
            <a:ext cx="2038350" cy="28575"/>
          </a:xfrm>
          <a:prstGeom prst="rect">
            <a:avLst/>
          </a:prstGeom>
          <a:solidFill>
            <a:srgbClr val="D7E0E8"/>
          </a:solidFill>
          <a:ln w="0">
            <a:solidFill>
              <a:srgbClr val="D7E0E8"/>
            </a:solidFill>
            <a:prstDash val="solid"/>
          </a:ln>
        </p:spPr>
      </p:sp>
      <p:sp>
        <p:nvSpPr>
          <p:cNvPr id="13" name="Oval 12">
            <a:extLst>
              <a:ext uri="{FF2B5EF4-FFF2-40B4-BE49-F238E27FC236}">
                <a16:creationId xmlns:a16="http://schemas.microsoft.com/office/drawing/2014/main" id="{B5C84BD2-F4D0-4A73-8E0E-1939D7B35D46}"/>
              </a:ext>
            </a:extLst>
          </p:cNvPr>
          <p:cNvSpPr>
            <a:spLocks noGrp="1"/>
          </p:cNvSpPr>
          <p:nvPr/>
        </p:nvSpPr>
        <p:spPr>
          <a:xfrm>
            <a:off x="1971675" y="3733800"/>
            <a:ext cx="533400" cy="533400"/>
          </a:xfrm>
          <a:prstGeom prst="ellipse">
            <a:avLst/>
          </a:prstGeom>
          <a:solidFill>
            <a:srgbClr val="3D8DFF"/>
          </a:solidFill>
          <a:ln w="0">
            <a:solidFill>
              <a:srgbClr val="3D8DFF"/>
            </a:solidFill>
            <a:prstDash val="solid"/>
          </a:ln>
        </p:spPr>
      </p:sp>
      <p:sp>
        <p:nvSpPr>
          <p:cNvPr id="14" name="Rectangle 13">
            <a:extLst>
              <a:ext uri="{FF2B5EF4-FFF2-40B4-BE49-F238E27FC236}">
                <a16:creationId xmlns:a16="http://schemas.microsoft.com/office/drawing/2014/main" id="{C9883005-88A7-47FB-A554-D65D1CC8D87D}"/>
              </a:ext>
            </a:extLst>
          </p:cNvPr>
          <p:cNvSpPr>
            <a:spLocks noGrp="1"/>
          </p:cNvSpPr>
          <p:nvPr/>
        </p:nvSpPr>
        <p:spPr>
          <a:xfrm>
            <a:off x="1971675" y="3876675"/>
            <a:ext cx="533400" cy="266700"/>
          </a:xfrm>
          <a:prstGeom prst="rect">
            <a:avLst/>
          </a:prstGeom>
          <a:noFill/>
          <a:ln w="0">
            <a:noFill/>
            <a:prstDash val="solid"/>
          </a:ln>
        </p:spPr>
        <p:txBody>
          <a:bodyPr lIns="0" tIns="0" rIns="0" bIns="0" anchor="t">
            <a:normAutofit/>
          </a:bodyPr>
          <a:lstStyle/>
          <a:p>
            <a:pPr algn="ctr">
              <a:buNone/>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15" name="Rectangle 14">
            <a:extLst>
              <a:ext uri="{FF2B5EF4-FFF2-40B4-BE49-F238E27FC236}">
                <a16:creationId xmlns:a16="http://schemas.microsoft.com/office/drawing/2014/main" id="{447D2E8D-CC0F-4719-80DE-4B1028E50FF5}"/>
              </a:ext>
            </a:extLst>
          </p:cNvPr>
          <p:cNvSpPr>
            <a:spLocks noGrp="1"/>
          </p:cNvSpPr>
          <p:nvPr/>
        </p:nvSpPr>
        <p:spPr>
          <a:xfrm>
            <a:off x="1047750" y="4457700"/>
            <a:ext cx="2381250" cy="381000"/>
          </a:xfrm>
          <a:prstGeom prst="rect">
            <a:avLst/>
          </a:prstGeom>
          <a:noFill/>
          <a:ln w="0">
            <a:noFill/>
            <a:prstDash val="solid"/>
          </a:ln>
        </p:spPr>
        <p:txBody>
          <a:bodyPr lIns="0" tIns="0" rIns="0" bIns="0" anchor="t">
            <a:normAutofit/>
          </a:bodyPr>
          <a:lstStyle/>
          <a:p>
            <a:pPr algn="ctr">
              <a:buNone/>
              <a:defRPr sz="1200" b="1">
                <a:solidFill>
                  <a:srgbClr val="0B1220"/>
                </a:solidFill>
                <a:latin typeface="Arial"/>
                <a:ea typeface="Arial"/>
                <a:cs typeface="Arial"/>
              </a:defRPr>
            </a:pPr>
            <a:r>
              <a:rPr sz="1200" b="1">
                <a:solidFill>
                  <a:srgbClr val="0B1220"/>
                </a:solidFill>
                <a:latin typeface="Arial"/>
                <a:ea typeface="Arial"/>
                <a:cs typeface="Arial"/>
              </a:rPr>
              <a:t>Question</a:t>
            </a:r>
          </a:p>
        </p:txBody>
      </p:sp>
      <p:sp>
        <p:nvSpPr>
          <p:cNvPr id="16" name="Rectangle 15">
            <a:extLst>
              <a:ext uri="{FF2B5EF4-FFF2-40B4-BE49-F238E27FC236}">
                <a16:creationId xmlns:a16="http://schemas.microsoft.com/office/drawing/2014/main" id="{A2E0B343-2F1E-4025-B241-FB502411292F}"/>
              </a:ext>
            </a:extLst>
          </p:cNvPr>
          <p:cNvSpPr>
            <a:spLocks noGrp="1"/>
          </p:cNvSpPr>
          <p:nvPr/>
        </p:nvSpPr>
        <p:spPr>
          <a:xfrm>
            <a:off x="5076825" y="3981450"/>
            <a:ext cx="2038350" cy="28575"/>
          </a:xfrm>
          <a:prstGeom prst="rect">
            <a:avLst/>
          </a:prstGeom>
          <a:solidFill>
            <a:srgbClr val="D7E0E8"/>
          </a:solidFill>
          <a:ln w="0">
            <a:solidFill>
              <a:srgbClr val="D7E0E8"/>
            </a:solidFill>
            <a:prstDash val="solid"/>
          </a:ln>
        </p:spPr>
      </p:sp>
      <p:sp>
        <p:nvSpPr>
          <p:cNvPr id="17" name="Oval 16">
            <a:extLst>
              <a:ext uri="{FF2B5EF4-FFF2-40B4-BE49-F238E27FC236}">
                <a16:creationId xmlns:a16="http://schemas.microsoft.com/office/drawing/2014/main" id="{D19C7672-1DC2-4D6E-8C4E-2427C92846B9}"/>
              </a:ext>
            </a:extLst>
          </p:cNvPr>
          <p:cNvSpPr>
            <a:spLocks noGrp="1"/>
          </p:cNvSpPr>
          <p:nvPr/>
        </p:nvSpPr>
        <p:spPr>
          <a:xfrm>
            <a:off x="4543425" y="3733800"/>
            <a:ext cx="533400" cy="533400"/>
          </a:xfrm>
          <a:prstGeom prst="ellipse">
            <a:avLst/>
          </a:prstGeom>
          <a:solidFill>
            <a:srgbClr val="EAF5FB"/>
          </a:solidFill>
          <a:ln w="0">
            <a:solidFill>
              <a:srgbClr val="EAF5FB"/>
            </a:solidFill>
            <a:prstDash val="solid"/>
          </a:ln>
        </p:spPr>
      </p:sp>
      <p:sp>
        <p:nvSpPr>
          <p:cNvPr id="18" name="Rectangle 17">
            <a:extLst>
              <a:ext uri="{FF2B5EF4-FFF2-40B4-BE49-F238E27FC236}">
                <a16:creationId xmlns:a16="http://schemas.microsoft.com/office/drawing/2014/main" id="{D7D69148-EE72-4A78-ACD4-8CAE7A52AE56}"/>
              </a:ext>
            </a:extLst>
          </p:cNvPr>
          <p:cNvSpPr>
            <a:spLocks noGrp="1"/>
          </p:cNvSpPr>
          <p:nvPr/>
        </p:nvSpPr>
        <p:spPr>
          <a:xfrm>
            <a:off x="4543425" y="3876675"/>
            <a:ext cx="533400" cy="266700"/>
          </a:xfrm>
          <a:prstGeom prst="rect">
            <a:avLst/>
          </a:prstGeom>
          <a:noFill/>
          <a:ln w="0">
            <a:noFill/>
            <a:prstDash val="solid"/>
          </a:ln>
        </p:spPr>
        <p:txBody>
          <a:bodyPr lIns="0" tIns="0" rIns="0" bIns="0" anchor="t">
            <a:normAutofit/>
          </a:bodyPr>
          <a:lstStyle/>
          <a:p>
            <a:pPr algn="ctr">
              <a:buNone/>
              <a:defRPr sz="1350" b="1">
                <a:solidFill>
                  <a:srgbClr val="0F2A43"/>
                </a:solidFill>
                <a:latin typeface="Arial"/>
                <a:ea typeface="Arial"/>
                <a:cs typeface="Arial"/>
              </a:defRPr>
            </a:pPr>
            <a:r>
              <a:rPr sz="1350" b="1">
                <a:solidFill>
                  <a:srgbClr val="0F2A43"/>
                </a:solidFill>
                <a:latin typeface="Arial"/>
                <a:ea typeface="Arial"/>
                <a:cs typeface="Arial"/>
              </a:rPr>
              <a:t>2</a:t>
            </a:r>
          </a:p>
        </p:txBody>
      </p:sp>
      <p:sp>
        <p:nvSpPr>
          <p:cNvPr id="19" name="Rectangle 18">
            <a:extLst>
              <a:ext uri="{FF2B5EF4-FFF2-40B4-BE49-F238E27FC236}">
                <a16:creationId xmlns:a16="http://schemas.microsoft.com/office/drawing/2014/main" id="{D9FEE34B-DE90-423F-868A-6B32DBC944B2}"/>
              </a:ext>
            </a:extLst>
          </p:cNvPr>
          <p:cNvSpPr>
            <a:spLocks noGrp="1"/>
          </p:cNvSpPr>
          <p:nvPr/>
        </p:nvSpPr>
        <p:spPr>
          <a:xfrm>
            <a:off x="3619500" y="4457700"/>
            <a:ext cx="2381250" cy="381000"/>
          </a:xfrm>
          <a:prstGeom prst="rect">
            <a:avLst/>
          </a:prstGeom>
          <a:noFill/>
          <a:ln w="0">
            <a:noFill/>
            <a:prstDash val="solid"/>
          </a:ln>
        </p:spPr>
        <p:txBody>
          <a:bodyPr lIns="0" tIns="0" rIns="0" bIns="0" anchor="t">
            <a:normAutofit/>
          </a:bodyPr>
          <a:lstStyle/>
          <a:p>
            <a:pPr algn="ctr">
              <a:buNone/>
              <a:defRPr sz="1200" b="1">
                <a:solidFill>
                  <a:srgbClr val="0B1220"/>
                </a:solidFill>
                <a:latin typeface="Arial"/>
                <a:ea typeface="Arial"/>
                <a:cs typeface="Arial"/>
              </a:defRPr>
            </a:pPr>
            <a:r>
              <a:rPr sz="1200" b="1">
                <a:solidFill>
                  <a:srgbClr val="0B1220"/>
                </a:solidFill>
                <a:latin typeface="Arial"/>
                <a:ea typeface="Arial"/>
                <a:cs typeface="Arial"/>
              </a:rPr>
              <a:t>Explanation</a:t>
            </a:r>
          </a:p>
        </p:txBody>
      </p:sp>
      <p:sp>
        <p:nvSpPr>
          <p:cNvPr id="20" name="Rectangle 19">
            <a:extLst>
              <a:ext uri="{FF2B5EF4-FFF2-40B4-BE49-F238E27FC236}">
                <a16:creationId xmlns:a16="http://schemas.microsoft.com/office/drawing/2014/main" id="{5AD7FBAA-DA57-4840-BBED-78F4EB2C284A}"/>
              </a:ext>
            </a:extLst>
          </p:cNvPr>
          <p:cNvSpPr>
            <a:spLocks noGrp="1"/>
          </p:cNvSpPr>
          <p:nvPr/>
        </p:nvSpPr>
        <p:spPr>
          <a:xfrm>
            <a:off x="7648575" y="3981450"/>
            <a:ext cx="2038350" cy="28575"/>
          </a:xfrm>
          <a:prstGeom prst="rect">
            <a:avLst/>
          </a:prstGeom>
          <a:solidFill>
            <a:srgbClr val="D7E0E8"/>
          </a:solidFill>
          <a:ln w="0">
            <a:solidFill>
              <a:srgbClr val="D7E0E8"/>
            </a:solidFill>
            <a:prstDash val="solid"/>
          </a:ln>
        </p:spPr>
      </p:sp>
      <p:sp>
        <p:nvSpPr>
          <p:cNvPr id="21" name="Oval 20">
            <a:extLst>
              <a:ext uri="{FF2B5EF4-FFF2-40B4-BE49-F238E27FC236}">
                <a16:creationId xmlns:a16="http://schemas.microsoft.com/office/drawing/2014/main" id="{CF9224BB-99A4-4228-BE96-F48160F82A42}"/>
              </a:ext>
            </a:extLst>
          </p:cNvPr>
          <p:cNvSpPr>
            <a:spLocks noGrp="1"/>
          </p:cNvSpPr>
          <p:nvPr/>
        </p:nvSpPr>
        <p:spPr>
          <a:xfrm>
            <a:off x="7115175" y="3733800"/>
            <a:ext cx="533400" cy="533400"/>
          </a:xfrm>
          <a:prstGeom prst="ellipse">
            <a:avLst/>
          </a:prstGeom>
          <a:solidFill>
            <a:srgbClr val="3D8DFF"/>
          </a:solidFill>
          <a:ln w="0">
            <a:solidFill>
              <a:srgbClr val="3D8DFF"/>
            </a:solidFill>
            <a:prstDash val="solid"/>
          </a:ln>
        </p:spPr>
      </p:sp>
      <p:sp>
        <p:nvSpPr>
          <p:cNvPr id="22" name="Rectangle 21">
            <a:extLst>
              <a:ext uri="{FF2B5EF4-FFF2-40B4-BE49-F238E27FC236}">
                <a16:creationId xmlns:a16="http://schemas.microsoft.com/office/drawing/2014/main" id="{41FCCFCE-A94B-4527-825A-2010F56741D4}"/>
              </a:ext>
            </a:extLst>
          </p:cNvPr>
          <p:cNvSpPr>
            <a:spLocks noGrp="1"/>
          </p:cNvSpPr>
          <p:nvPr/>
        </p:nvSpPr>
        <p:spPr>
          <a:xfrm>
            <a:off x="7115175" y="3876675"/>
            <a:ext cx="533400" cy="266700"/>
          </a:xfrm>
          <a:prstGeom prst="rect">
            <a:avLst/>
          </a:prstGeom>
          <a:noFill/>
          <a:ln w="0">
            <a:noFill/>
            <a:prstDash val="solid"/>
          </a:ln>
        </p:spPr>
        <p:txBody>
          <a:bodyPr lIns="0" tIns="0" rIns="0" bIns="0" anchor="t">
            <a:normAutofit/>
          </a:bodyPr>
          <a:lstStyle/>
          <a:p>
            <a:pPr algn="ctr">
              <a:buNone/>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23" name="Rectangle 22">
            <a:extLst>
              <a:ext uri="{FF2B5EF4-FFF2-40B4-BE49-F238E27FC236}">
                <a16:creationId xmlns:a16="http://schemas.microsoft.com/office/drawing/2014/main" id="{9CB334B0-4EAF-4DC1-A979-7C81FA5DE165}"/>
              </a:ext>
            </a:extLst>
          </p:cNvPr>
          <p:cNvSpPr>
            <a:spLocks noGrp="1"/>
          </p:cNvSpPr>
          <p:nvPr/>
        </p:nvSpPr>
        <p:spPr>
          <a:xfrm>
            <a:off x="6191250" y="4457700"/>
            <a:ext cx="2381250" cy="381000"/>
          </a:xfrm>
          <a:prstGeom prst="rect">
            <a:avLst/>
          </a:prstGeom>
          <a:noFill/>
          <a:ln w="0">
            <a:noFill/>
            <a:prstDash val="solid"/>
          </a:ln>
        </p:spPr>
        <p:txBody>
          <a:bodyPr lIns="0" tIns="0" rIns="0" bIns="0" anchor="t">
            <a:normAutofit/>
          </a:bodyPr>
          <a:lstStyle/>
          <a:p>
            <a:pPr algn="ctr">
              <a:buNone/>
              <a:defRPr sz="1200" b="1">
                <a:solidFill>
                  <a:srgbClr val="0B1220"/>
                </a:solidFill>
                <a:latin typeface="Arial"/>
                <a:ea typeface="Arial"/>
                <a:cs typeface="Arial"/>
              </a:defRPr>
            </a:pPr>
            <a:r>
              <a:rPr sz="1200" b="1">
                <a:solidFill>
                  <a:srgbClr val="0B1220"/>
                </a:solidFill>
                <a:latin typeface="Arial"/>
                <a:ea typeface="Arial"/>
                <a:cs typeface="Arial"/>
              </a:rPr>
              <a:t>Practice</a:t>
            </a:r>
          </a:p>
        </p:txBody>
      </p:sp>
      <p:sp>
        <p:nvSpPr>
          <p:cNvPr id="24" name="Oval 23">
            <a:extLst>
              <a:ext uri="{FF2B5EF4-FFF2-40B4-BE49-F238E27FC236}">
                <a16:creationId xmlns:a16="http://schemas.microsoft.com/office/drawing/2014/main" id="{2E8BE5CE-6D5A-4DA6-AF59-D2049E62356C}"/>
              </a:ext>
            </a:extLst>
          </p:cNvPr>
          <p:cNvSpPr>
            <a:spLocks noGrp="1"/>
          </p:cNvSpPr>
          <p:nvPr/>
        </p:nvSpPr>
        <p:spPr>
          <a:xfrm>
            <a:off x="9686925" y="3733800"/>
            <a:ext cx="533400" cy="533400"/>
          </a:xfrm>
          <a:prstGeom prst="ellipse">
            <a:avLst/>
          </a:prstGeom>
          <a:solidFill>
            <a:srgbClr val="EAF5FB"/>
          </a:solidFill>
          <a:ln w="0">
            <a:solidFill>
              <a:srgbClr val="EAF5FB"/>
            </a:solidFill>
            <a:prstDash val="solid"/>
          </a:ln>
        </p:spPr>
      </p:sp>
      <p:sp>
        <p:nvSpPr>
          <p:cNvPr id="25" name="Rectangle 24">
            <a:extLst>
              <a:ext uri="{FF2B5EF4-FFF2-40B4-BE49-F238E27FC236}">
                <a16:creationId xmlns:a16="http://schemas.microsoft.com/office/drawing/2014/main" id="{0E9E2DA6-89F7-4526-97AD-7751C6F4908F}"/>
              </a:ext>
            </a:extLst>
          </p:cNvPr>
          <p:cNvSpPr>
            <a:spLocks noGrp="1"/>
          </p:cNvSpPr>
          <p:nvPr/>
        </p:nvSpPr>
        <p:spPr>
          <a:xfrm>
            <a:off x="9686925" y="3876675"/>
            <a:ext cx="533400" cy="266700"/>
          </a:xfrm>
          <a:prstGeom prst="rect">
            <a:avLst/>
          </a:prstGeom>
          <a:noFill/>
          <a:ln w="0">
            <a:noFill/>
            <a:prstDash val="solid"/>
          </a:ln>
        </p:spPr>
        <p:txBody>
          <a:bodyPr lIns="0" tIns="0" rIns="0" bIns="0" anchor="t">
            <a:normAutofit/>
          </a:bodyPr>
          <a:lstStyle/>
          <a:p>
            <a:pPr algn="ctr">
              <a:buNone/>
              <a:defRPr sz="1350" b="1">
                <a:solidFill>
                  <a:srgbClr val="0F2A43"/>
                </a:solidFill>
                <a:latin typeface="Arial"/>
                <a:ea typeface="Arial"/>
                <a:cs typeface="Arial"/>
              </a:defRPr>
            </a:pPr>
            <a:r>
              <a:rPr sz="1350" b="1">
                <a:solidFill>
                  <a:srgbClr val="0F2A43"/>
                </a:solidFill>
                <a:latin typeface="Arial"/>
                <a:ea typeface="Arial"/>
                <a:cs typeface="Arial"/>
              </a:rPr>
              <a:t>4</a:t>
            </a:r>
          </a:p>
        </p:txBody>
      </p:sp>
      <p:sp>
        <p:nvSpPr>
          <p:cNvPr id="26" name="Rectangle 25">
            <a:extLst>
              <a:ext uri="{FF2B5EF4-FFF2-40B4-BE49-F238E27FC236}">
                <a16:creationId xmlns:a16="http://schemas.microsoft.com/office/drawing/2014/main" id="{51D4A674-94E7-46E9-B5DC-1E0CE82634B2}"/>
              </a:ext>
            </a:extLst>
          </p:cNvPr>
          <p:cNvSpPr>
            <a:spLocks noGrp="1"/>
          </p:cNvSpPr>
          <p:nvPr/>
        </p:nvSpPr>
        <p:spPr>
          <a:xfrm>
            <a:off x="8763000" y="4457700"/>
            <a:ext cx="2381250" cy="381000"/>
          </a:xfrm>
          <a:prstGeom prst="rect">
            <a:avLst/>
          </a:prstGeom>
          <a:noFill/>
          <a:ln w="0">
            <a:noFill/>
            <a:prstDash val="solid"/>
          </a:ln>
        </p:spPr>
        <p:txBody>
          <a:bodyPr lIns="0" tIns="0" rIns="0" bIns="0" anchor="t">
            <a:normAutofit/>
          </a:bodyPr>
          <a:lstStyle/>
          <a:p>
            <a:pPr algn="ctr">
              <a:buNone/>
              <a:defRPr sz="1200" b="1">
                <a:solidFill>
                  <a:srgbClr val="0B1220"/>
                </a:solidFill>
                <a:latin typeface="Arial"/>
                <a:ea typeface="Arial"/>
                <a:cs typeface="Arial"/>
              </a:defRPr>
            </a:pPr>
            <a:r>
              <a:rPr sz="1200" b="1">
                <a:solidFill>
                  <a:srgbClr val="0B1220"/>
                </a:solidFill>
                <a:latin typeface="Arial"/>
                <a:ea typeface="Arial"/>
                <a:cs typeface="Arial"/>
              </a:rPr>
              <a:t>Progress</a:t>
            </a:r>
          </a:p>
        </p:txBody>
      </p:sp>
    </p:spTree>
    <p:extLst>
      <p:ext uri="{BB962C8B-B14F-4D97-AF65-F5344CB8AC3E}">
        <p14:creationId xmlns:p14="http://schemas.microsoft.com/office/powerpoint/2010/main" val="10201222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2A43"/>
        </a:solidFill>
        <a:effectLst/>
      </p:bgPr>
    </p:bg>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4808BEDF-2120-4EFA-8DC8-731E2E9A2946}"/>
              </a:ext>
            </a:extLst>
          </p:cNvPr>
          <p:cNvSpPr>
            <a:spLocks noGrp="1"/>
          </p:cNvSpPr>
          <p:nvPr/>
        </p:nvSpPr>
        <p:spPr>
          <a:xfrm>
            <a:off x="8896350" y="514350"/>
            <a:ext cx="2133600" cy="2133600"/>
          </a:xfrm>
          <a:prstGeom prst="ellipse">
            <a:avLst/>
          </a:prstGeom>
          <a:solidFill>
            <a:srgbClr val="E95B61"/>
          </a:solidFill>
          <a:ln w="0">
            <a:solidFill>
              <a:srgbClr val="E95B61"/>
            </a:solidFill>
            <a:prstDash val="solid"/>
          </a:ln>
        </p:spPr>
      </p:sp>
      <p:sp>
        <p:nvSpPr>
          <p:cNvPr id="2" name="Oval 1">
            <a:extLst>
              <a:ext uri="{FF2B5EF4-FFF2-40B4-BE49-F238E27FC236}">
                <a16:creationId xmlns:a16="http://schemas.microsoft.com/office/drawing/2014/main" id="{95ED4C5C-3204-43B4-844F-C04447716CE3}"/>
              </a:ext>
            </a:extLst>
          </p:cNvPr>
          <p:cNvSpPr>
            <a:spLocks noGrp="1"/>
          </p:cNvSpPr>
          <p:nvPr/>
        </p:nvSpPr>
        <p:spPr>
          <a:xfrm>
            <a:off x="9601200" y="1924050"/>
            <a:ext cx="876300" cy="876300"/>
          </a:xfrm>
          <a:prstGeom prst="ellipse">
            <a:avLst/>
          </a:prstGeom>
          <a:solidFill>
            <a:srgbClr val="FF9B45"/>
          </a:solidFill>
          <a:ln w="0">
            <a:solidFill>
              <a:srgbClr val="FF9B45"/>
            </a:solidFill>
            <a:prstDash val="solid"/>
          </a:ln>
        </p:spPr>
      </p:sp>
      <p:sp>
        <p:nvSpPr>
          <p:cNvPr id="3" name="Oval 2">
            <a:extLst>
              <a:ext uri="{FF2B5EF4-FFF2-40B4-BE49-F238E27FC236}">
                <a16:creationId xmlns:a16="http://schemas.microsoft.com/office/drawing/2014/main" id="{90CFA0F9-2554-48AF-B2D3-6E7301AB78BA}"/>
              </a:ext>
            </a:extLst>
          </p:cNvPr>
          <p:cNvSpPr>
            <a:spLocks noGrp="1"/>
          </p:cNvSpPr>
          <p:nvPr/>
        </p:nvSpPr>
        <p:spPr>
          <a:xfrm>
            <a:off x="10306050" y="3295650"/>
            <a:ext cx="381000" cy="381000"/>
          </a:xfrm>
          <a:prstGeom prst="ellipse">
            <a:avLst/>
          </a:prstGeom>
          <a:solidFill>
            <a:srgbClr val="FFFFFF"/>
          </a:solidFill>
          <a:ln w="0">
            <a:solidFill>
              <a:srgbClr val="FFFFFF"/>
            </a:solidFill>
            <a:prstDash val="solid"/>
          </a:ln>
        </p:spPr>
      </p:sp>
      <p:sp>
        <p:nvSpPr>
          <p:cNvPr id="4" name="Rectangle 3">
            <a:extLst>
              <a:ext uri="{FF2B5EF4-FFF2-40B4-BE49-F238E27FC236}">
                <a16:creationId xmlns:a16="http://schemas.microsoft.com/office/drawing/2014/main" id="{A3D57507-9E86-41D4-A4C5-2D003E923E3C}"/>
              </a:ext>
            </a:extLst>
          </p:cNvPr>
          <p:cNvSpPr>
            <a:spLocks noGrp="1"/>
          </p:cNvSpPr>
          <p:nvPr/>
        </p:nvSpPr>
        <p:spPr>
          <a:xfrm>
            <a:off x="609600" y="552450"/>
            <a:ext cx="762000" cy="304800"/>
          </a:xfrm>
          <a:prstGeom prst="rect">
            <a:avLst/>
          </a:prstGeom>
          <a:noFill/>
          <a:ln w="0">
            <a:noFill/>
            <a:prstDash val="solid"/>
          </a:ln>
        </p:spPr>
        <p:txBody>
          <a:bodyPr lIns="0" tIns="0" rIns="0" bIns="0" anchor="t">
            <a:normAutofit/>
          </a:bodyPr>
          <a:lstStyle/>
          <a:p>
            <a:pPr algn="l">
              <a:buNone/>
              <a:defRPr sz="1425" b="1">
                <a:solidFill>
                  <a:srgbClr val="E95B61"/>
                </a:solidFill>
                <a:latin typeface="Arial"/>
                <a:ea typeface="Arial"/>
                <a:cs typeface="Arial"/>
              </a:defRPr>
            </a:pPr>
            <a:r>
              <a:rPr sz="1425" b="1">
                <a:solidFill>
                  <a:srgbClr val="E95B61"/>
                </a:solidFill>
                <a:latin typeface="Arial"/>
                <a:ea typeface="Arial"/>
                <a:cs typeface="Arial"/>
              </a:rPr>
              <a:t>01</a:t>
            </a:r>
          </a:p>
        </p:txBody>
      </p:sp>
      <p:sp>
        <p:nvSpPr>
          <p:cNvPr id="5" name="Rectangle 4">
            <a:extLst>
              <a:ext uri="{FF2B5EF4-FFF2-40B4-BE49-F238E27FC236}">
                <a16:creationId xmlns:a16="http://schemas.microsoft.com/office/drawing/2014/main" id="{55087EA6-A6C0-4DFE-978A-5C5BA93976ED}"/>
              </a:ext>
            </a:extLst>
          </p:cNvPr>
          <p:cNvSpPr>
            <a:spLocks noGrp="1"/>
          </p:cNvSpPr>
          <p:nvPr/>
        </p:nvSpPr>
        <p:spPr>
          <a:xfrm>
            <a:off x="609600" y="1104900"/>
            <a:ext cx="4762500" cy="266700"/>
          </a:xfrm>
          <a:prstGeom prst="rect">
            <a:avLst/>
          </a:prstGeom>
          <a:noFill/>
          <a:ln w="0">
            <a:noFill/>
            <a:prstDash val="solid"/>
          </a:ln>
        </p:spPr>
        <p:txBody>
          <a:bodyPr lIns="0" tIns="0" rIns="0" bIns="0" anchor="t">
            <a:normAutofit/>
          </a:bodyPr>
          <a:lstStyle/>
          <a:p>
            <a:pPr algn="l">
              <a:buNone/>
              <a:defRPr sz="1200" b="1">
                <a:solidFill>
                  <a:srgbClr val="6DCBF4"/>
                </a:solidFill>
                <a:latin typeface="Arial"/>
                <a:ea typeface="Arial"/>
                <a:cs typeface="Arial"/>
              </a:defRPr>
            </a:pPr>
            <a:r>
              <a:rPr sz="1200" b="1">
                <a:solidFill>
                  <a:srgbClr val="6DCBF4"/>
                </a:solidFill>
                <a:latin typeface="Arial"/>
                <a:ea typeface="Arial"/>
                <a:cs typeface="Arial"/>
              </a:rPr>
              <a:t>PART 1 / ACTIVITY 1 / P2</a:t>
            </a:r>
          </a:p>
        </p:txBody>
      </p:sp>
      <p:sp>
        <p:nvSpPr>
          <p:cNvPr id="6" name="Rectangle 5">
            <a:extLst>
              <a:ext uri="{FF2B5EF4-FFF2-40B4-BE49-F238E27FC236}">
                <a16:creationId xmlns:a16="http://schemas.microsoft.com/office/drawing/2014/main" id="{69339A04-D933-4BE5-964F-A74C216B290A}"/>
              </a:ext>
            </a:extLst>
          </p:cNvPr>
          <p:cNvSpPr>
            <a:spLocks noGrp="1"/>
          </p:cNvSpPr>
          <p:nvPr/>
        </p:nvSpPr>
        <p:spPr>
          <a:xfrm>
            <a:off x="609600" y="1790700"/>
            <a:ext cx="7239000" cy="1714500"/>
          </a:xfrm>
          <a:prstGeom prst="rect">
            <a:avLst/>
          </a:prstGeom>
          <a:noFill/>
          <a:ln w="0">
            <a:noFill/>
            <a:prstDash val="solid"/>
          </a:ln>
        </p:spPr>
        <p:txBody>
          <a:bodyPr lIns="0" tIns="0" rIns="0" bIns="0" anchor="t">
            <a:normAutofit/>
          </a:bodyPr>
          <a:lstStyle/>
          <a:p>
            <a:pPr algn="l">
              <a:buNone/>
              <a:defRPr sz="4050" b="1">
                <a:solidFill>
                  <a:srgbClr val="FFFFFF"/>
                </a:solidFill>
                <a:latin typeface="Arial"/>
                <a:ea typeface="Arial"/>
                <a:cs typeface="Arial"/>
              </a:defRPr>
            </a:pPr>
            <a:r>
              <a:rPr sz="4050" b="1">
                <a:solidFill>
                  <a:srgbClr val="FFFFFF"/>
                </a:solidFill>
                <a:latin typeface="Arial"/>
                <a:ea typeface="Arial"/>
                <a:cs typeface="Arial"/>
              </a:rPr>
              <a:t>Risk is managed before it becomes rework.</a:t>
            </a:r>
          </a:p>
        </p:txBody>
      </p:sp>
      <p:sp>
        <p:nvSpPr>
          <p:cNvPr id="7" name="Rectangle 6">
            <a:extLst>
              <a:ext uri="{FF2B5EF4-FFF2-40B4-BE49-F238E27FC236}">
                <a16:creationId xmlns:a16="http://schemas.microsoft.com/office/drawing/2014/main" id="{6F35562B-7BFF-429E-93B7-79A3B8432999}"/>
              </a:ext>
            </a:extLst>
          </p:cNvPr>
          <p:cNvSpPr>
            <a:spLocks noGrp="1"/>
          </p:cNvSpPr>
          <p:nvPr/>
        </p:nvSpPr>
        <p:spPr>
          <a:xfrm>
            <a:off x="609600" y="4095750"/>
            <a:ext cx="6191250" cy="857250"/>
          </a:xfrm>
          <a:prstGeom prst="rect">
            <a:avLst/>
          </a:prstGeom>
          <a:noFill/>
          <a:ln w="0">
            <a:noFill/>
            <a:prstDash val="solid"/>
          </a:ln>
        </p:spPr>
        <p:txBody>
          <a:bodyPr lIns="0" tIns="0" rIns="0" bIns="0" anchor="t">
            <a:normAutofit/>
          </a:bodyPr>
          <a:lstStyle/>
          <a:p>
            <a:pPr algn="l">
              <a:buNone/>
              <a:defRPr sz="1650" b="0">
                <a:solidFill>
                  <a:srgbClr val="DCEAF5"/>
                </a:solidFill>
                <a:latin typeface="Arial"/>
                <a:ea typeface="Arial"/>
                <a:cs typeface="Arial"/>
              </a:defRPr>
            </a:pPr>
            <a:r>
              <a:rPr sz="1650" b="0">
                <a:solidFill>
                  <a:srgbClr val="DCEAF5"/>
                </a:solidFill>
                <a:latin typeface="Arial"/>
                <a:ea typeface="Arial"/>
                <a:cs typeface="Arial"/>
              </a:rPr>
              <a:t>The risk plan focuses on the constraints named in the brief: skills, AI cost, schedule and student data.</a:t>
            </a:r>
          </a:p>
        </p:txBody>
      </p:sp>
      <p:sp>
        <p:nvSpPr>
          <p:cNvPr id="8" name="Rectangle 7">
            <a:extLst>
              <a:ext uri="{FF2B5EF4-FFF2-40B4-BE49-F238E27FC236}">
                <a16:creationId xmlns:a16="http://schemas.microsoft.com/office/drawing/2014/main" id="{8BF142B5-7810-4FB3-94D0-6AE77BB92DC7}"/>
              </a:ext>
            </a:extLst>
          </p:cNvPr>
          <p:cNvSpPr>
            <a:spLocks noGrp="1"/>
          </p:cNvSpPr>
          <p:nvPr/>
        </p:nvSpPr>
        <p:spPr>
          <a:xfrm>
            <a:off x="609600" y="5562600"/>
            <a:ext cx="2000250" cy="38100"/>
          </a:xfrm>
          <a:prstGeom prst="rect">
            <a:avLst/>
          </a:prstGeom>
          <a:solidFill>
            <a:srgbClr val="E95B61"/>
          </a:solidFill>
          <a:ln w="0">
            <a:solidFill>
              <a:srgbClr val="E95B61"/>
            </a:solidFill>
            <a:prstDash val="solid"/>
          </a:ln>
        </p:spPr>
      </p:sp>
    </p:spTree>
    <p:extLst>
      <p:ext uri="{BB962C8B-B14F-4D97-AF65-F5344CB8AC3E}">
        <p14:creationId xmlns:p14="http://schemas.microsoft.com/office/powerpoint/2010/main" val="16935509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81B51C2-0C6D-4FD3-8148-43B6ACBCD57F}"/>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8717CAAC-62C5-49C8-8767-A698CA51CA82}"/>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27</a:t>
            </a:r>
          </a:p>
        </p:txBody>
      </p:sp>
      <p:sp>
        <p:nvSpPr>
          <p:cNvPr id="3" name="Rectangle 2">
            <a:extLst>
              <a:ext uri="{FF2B5EF4-FFF2-40B4-BE49-F238E27FC236}">
                <a16:creationId xmlns:a16="http://schemas.microsoft.com/office/drawing/2014/main" id="{B6E84314-DC77-46A8-89EF-90012AA4BC27}"/>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CAF0A236-9782-49A1-8106-B592D63B3956}"/>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480AEC0E-A986-4D90-A748-1472E289CD77}"/>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Risk 1: junior skills can slow the first sprint</a:t>
            </a:r>
          </a:p>
        </p:txBody>
      </p:sp>
      <p:sp>
        <p:nvSpPr>
          <p:cNvPr id="6" name="Rectangle 5">
            <a:extLst>
              <a:ext uri="{FF2B5EF4-FFF2-40B4-BE49-F238E27FC236}">
                <a16:creationId xmlns:a16="http://schemas.microsoft.com/office/drawing/2014/main" id="{A77A4F02-CA30-41C5-91E5-F0B21D1F7FE5}"/>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The mitigation is planned learning, not an optimistic assumption.</a:t>
            </a:r>
          </a:p>
        </p:txBody>
      </p:sp>
      <p:sp>
        <p:nvSpPr>
          <p:cNvPr id="7" name="Rectangle 6">
            <a:extLst>
              <a:ext uri="{FF2B5EF4-FFF2-40B4-BE49-F238E27FC236}">
                <a16:creationId xmlns:a16="http://schemas.microsoft.com/office/drawing/2014/main" id="{86BAFE3E-8A8C-459B-8013-A77A830C5404}"/>
              </a:ext>
            </a:extLst>
          </p:cNvPr>
          <p:cNvSpPr>
            <a:spLocks noGrp="1"/>
          </p:cNvSpPr>
          <p:nvPr/>
        </p:nvSpPr>
        <p:spPr>
          <a:xfrm>
            <a:off x="609600" y="1924050"/>
            <a:ext cx="5257800" cy="38100"/>
          </a:xfrm>
          <a:prstGeom prst="rect">
            <a:avLst/>
          </a:prstGeom>
          <a:solidFill>
            <a:srgbClr val="E95B61"/>
          </a:solidFill>
          <a:ln w="0">
            <a:solidFill>
              <a:srgbClr val="E95B61"/>
            </a:solidFill>
            <a:prstDash val="solid"/>
          </a:ln>
        </p:spPr>
      </p:sp>
      <p:sp>
        <p:nvSpPr>
          <p:cNvPr id="8" name="Rectangle 7">
            <a:extLst>
              <a:ext uri="{FF2B5EF4-FFF2-40B4-BE49-F238E27FC236}">
                <a16:creationId xmlns:a16="http://schemas.microsoft.com/office/drawing/2014/main" id="{E2D24F67-5A75-4F0B-BAC6-1059AAE517AA}"/>
              </a:ext>
            </a:extLst>
          </p:cNvPr>
          <p:cNvSpPr>
            <a:spLocks noGrp="1"/>
          </p:cNvSpPr>
          <p:nvPr/>
        </p:nvSpPr>
        <p:spPr>
          <a:xfrm>
            <a:off x="6324600" y="1924050"/>
            <a:ext cx="5257800" cy="38100"/>
          </a:xfrm>
          <a:prstGeom prst="rect">
            <a:avLst/>
          </a:prstGeom>
          <a:solidFill>
            <a:srgbClr val="0DA6A6"/>
          </a:solidFill>
          <a:ln w="0">
            <a:solidFill>
              <a:srgbClr val="0DA6A6"/>
            </a:solidFill>
            <a:prstDash val="solid"/>
          </a:ln>
        </p:spPr>
      </p:sp>
      <p:sp>
        <p:nvSpPr>
          <p:cNvPr id="9" name="Rectangle 8">
            <a:extLst>
              <a:ext uri="{FF2B5EF4-FFF2-40B4-BE49-F238E27FC236}">
                <a16:creationId xmlns:a16="http://schemas.microsoft.com/office/drawing/2014/main" id="{02100C8E-0F9B-4BA9-A008-E9F6DB3C0964}"/>
              </a:ext>
            </a:extLst>
          </p:cNvPr>
          <p:cNvSpPr>
            <a:spLocks noGrp="1"/>
          </p:cNvSpPr>
          <p:nvPr/>
        </p:nvSpPr>
        <p:spPr>
          <a:xfrm>
            <a:off x="609600" y="2095500"/>
            <a:ext cx="5257800" cy="381000"/>
          </a:xfrm>
          <a:prstGeom prst="rect">
            <a:avLst/>
          </a:prstGeom>
          <a:noFill/>
          <a:ln w="0">
            <a:noFill/>
            <a:prstDash val="solid"/>
          </a:ln>
        </p:spPr>
        <p:txBody>
          <a:bodyPr lIns="0" tIns="0" rIns="0" bIns="0" anchor="t">
            <a:normAutofit/>
          </a:bodyPr>
          <a:lstStyle/>
          <a:p>
            <a:pPr algn="l">
              <a:buNone/>
              <a:defRPr sz="1800" b="1">
                <a:solidFill>
                  <a:srgbClr val="E95B61"/>
                </a:solidFill>
                <a:latin typeface="Arial"/>
                <a:ea typeface="Arial"/>
                <a:cs typeface="Arial"/>
              </a:defRPr>
            </a:pPr>
            <a:r>
              <a:rPr sz="1800" b="1">
                <a:solidFill>
                  <a:srgbClr val="E95B61"/>
                </a:solidFill>
                <a:latin typeface="Arial"/>
                <a:ea typeface="Arial"/>
                <a:cs typeface="Arial"/>
              </a:rPr>
              <a:t>Risk</a:t>
            </a:r>
          </a:p>
        </p:txBody>
      </p:sp>
      <p:sp>
        <p:nvSpPr>
          <p:cNvPr id="10" name="Rectangle 9">
            <a:extLst>
              <a:ext uri="{FF2B5EF4-FFF2-40B4-BE49-F238E27FC236}">
                <a16:creationId xmlns:a16="http://schemas.microsoft.com/office/drawing/2014/main" id="{FC2EB59E-DCD9-420B-84AD-E661F4CE01E3}"/>
              </a:ext>
            </a:extLst>
          </p:cNvPr>
          <p:cNvSpPr>
            <a:spLocks noGrp="1"/>
          </p:cNvSpPr>
          <p:nvPr/>
        </p:nvSpPr>
        <p:spPr>
          <a:xfrm>
            <a:off x="609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The team has limited mobile application, AI integration and secure data-handling experience.</a:t>
            </a:r>
          </a:p>
        </p:txBody>
      </p:sp>
      <p:sp>
        <p:nvSpPr>
          <p:cNvPr id="11" name="Rectangle 10">
            <a:extLst>
              <a:ext uri="{FF2B5EF4-FFF2-40B4-BE49-F238E27FC236}">
                <a16:creationId xmlns:a16="http://schemas.microsoft.com/office/drawing/2014/main" id="{61215FC1-6729-4E64-993F-75F35121B523}"/>
              </a:ext>
            </a:extLst>
          </p:cNvPr>
          <p:cNvSpPr>
            <a:spLocks noGrp="1"/>
          </p:cNvSpPr>
          <p:nvPr/>
        </p:nvSpPr>
        <p:spPr>
          <a:xfrm>
            <a:off x="6324600" y="2095500"/>
            <a:ext cx="5257800" cy="381000"/>
          </a:xfrm>
          <a:prstGeom prst="rect">
            <a:avLst/>
          </a:prstGeom>
          <a:noFill/>
          <a:ln w="0">
            <a:noFill/>
            <a:prstDash val="solid"/>
          </a:ln>
        </p:spPr>
        <p:txBody>
          <a:bodyPr lIns="0" tIns="0" rIns="0" bIns="0" anchor="t">
            <a:normAutofit/>
          </a:bodyPr>
          <a:lstStyle/>
          <a:p>
            <a:pPr algn="l">
              <a:buNone/>
              <a:defRPr sz="1800" b="1">
                <a:solidFill>
                  <a:srgbClr val="0DA6A6"/>
                </a:solidFill>
                <a:latin typeface="Arial"/>
                <a:ea typeface="Arial"/>
                <a:cs typeface="Arial"/>
              </a:defRPr>
            </a:pPr>
            <a:r>
              <a:rPr sz="1800" b="1">
                <a:solidFill>
                  <a:srgbClr val="0DA6A6"/>
                </a:solidFill>
                <a:latin typeface="Arial"/>
                <a:ea typeface="Arial"/>
                <a:cs typeface="Arial"/>
              </a:rPr>
              <a:t>Mitigation</a:t>
            </a:r>
          </a:p>
        </p:txBody>
      </p:sp>
      <p:sp>
        <p:nvSpPr>
          <p:cNvPr id="12" name="Rectangle 11">
            <a:extLst>
              <a:ext uri="{FF2B5EF4-FFF2-40B4-BE49-F238E27FC236}">
                <a16:creationId xmlns:a16="http://schemas.microsoft.com/office/drawing/2014/main" id="{66147E6F-7748-48CA-973E-8049C4372616}"/>
              </a:ext>
            </a:extLst>
          </p:cNvPr>
          <p:cNvSpPr>
            <a:spLocks noGrp="1"/>
          </p:cNvSpPr>
          <p:nvPr/>
        </p:nvSpPr>
        <p:spPr>
          <a:xfrm>
            <a:off x="6324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 Include training in week 1</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Pair on the first vertical slice</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Use one focused Android stack</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Review architecture early</a:t>
            </a:r>
          </a:p>
        </p:txBody>
      </p:sp>
    </p:spTree>
    <p:extLst>
      <p:ext uri="{BB962C8B-B14F-4D97-AF65-F5344CB8AC3E}">
        <p14:creationId xmlns:p14="http://schemas.microsoft.com/office/powerpoint/2010/main" val="20708900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9E3D90B-1467-4EDF-A0BC-3F877188DBE7}"/>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D2EC7E29-05C4-4B1A-91F6-7B92D018607A}"/>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28</a:t>
            </a:r>
          </a:p>
        </p:txBody>
      </p:sp>
      <p:sp>
        <p:nvSpPr>
          <p:cNvPr id="3" name="Rectangle 2">
            <a:extLst>
              <a:ext uri="{FF2B5EF4-FFF2-40B4-BE49-F238E27FC236}">
                <a16:creationId xmlns:a16="http://schemas.microsoft.com/office/drawing/2014/main" id="{3C49A4B9-E4B5-4E45-B02C-F9A5CF97796D}"/>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1B53EFF4-DDE3-41B3-B716-D9717C60C013}"/>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75F716DB-FBB5-47FB-8406-55D01ED81C58}"/>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Risk 2: repeated AI calls can break the budget</a:t>
            </a:r>
          </a:p>
        </p:txBody>
      </p:sp>
      <p:sp>
        <p:nvSpPr>
          <p:cNvPr id="6" name="Rectangle 5">
            <a:extLst>
              <a:ext uri="{FF2B5EF4-FFF2-40B4-BE49-F238E27FC236}">
                <a16:creationId xmlns:a16="http://schemas.microsoft.com/office/drawing/2014/main" id="{4CF3C357-15E7-43E4-895A-3A63EAA809F9}"/>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Cost control must sit in the architecture from the beginning.</a:t>
            </a:r>
          </a:p>
        </p:txBody>
      </p:sp>
      <p:sp>
        <p:nvSpPr>
          <p:cNvPr id="7" name="Rectangle 6">
            <a:extLst>
              <a:ext uri="{FF2B5EF4-FFF2-40B4-BE49-F238E27FC236}">
                <a16:creationId xmlns:a16="http://schemas.microsoft.com/office/drawing/2014/main" id="{D74C7347-E61E-4603-9086-E7AB956DA555}"/>
              </a:ext>
            </a:extLst>
          </p:cNvPr>
          <p:cNvSpPr>
            <a:spLocks noGrp="1"/>
          </p:cNvSpPr>
          <p:nvPr/>
        </p:nvSpPr>
        <p:spPr>
          <a:xfrm>
            <a:off x="609600" y="1924050"/>
            <a:ext cx="5257800" cy="38100"/>
          </a:xfrm>
          <a:prstGeom prst="rect">
            <a:avLst/>
          </a:prstGeom>
          <a:solidFill>
            <a:srgbClr val="E95B61"/>
          </a:solidFill>
          <a:ln w="0">
            <a:solidFill>
              <a:srgbClr val="E95B61"/>
            </a:solidFill>
            <a:prstDash val="solid"/>
          </a:ln>
        </p:spPr>
      </p:sp>
      <p:sp>
        <p:nvSpPr>
          <p:cNvPr id="8" name="Rectangle 7">
            <a:extLst>
              <a:ext uri="{FF2B5EF4-FFF2-40B4-BE49-F238E27FC236}">
                <a16:creationId xmlns:a16="http://schemas.microsoft.com/office/drawing/2014/main" id="{7244F567-CCFE-4A8F-8CB8-FF88ECEC0DC6}"/>
              </a:ext>
            </a:extLst>
          </p:cNvPr>
          <p:cNvSpPr>
            <a:spLocks noGrp="1"/>
          </p:cNvSpPr>
          <p:nvPr/>
        </p:nvSpPr>
        <p:spPr>
          <a:xfrm>
            <a:off x="6324600" y="1924050"/>
            <a:ext cx="5257800" cy="38100"/>
          </a:xfrm>
          <a:prstGeom prst="rect">
            <a:avLst/>
          </a:prstGeom>
          <a:solidFill>
            <a:srgbClr val="0DA6A6"/>
          </a:solidFill>
          <a:ln w="0">
            <a:solidFill>
              <a:srgbClr val="0DA6A6"/>
            </a:solidFill>
            <a:prstDash val="solid"/>
          </a:ln>
        </p:spPr>
      </p:sp>
      <p:sp>
        <p:nvSpPr>
          <p:cNvPr id="9" name="Rectangle 8">
            <a:extLst>
              <a:ext uri="{FF2B5EF4-FFF2-40B4-BE49-F238E27FC236}">
                <a16:creationId xmlns:a16="http://schemas.microsoft.com/office/drawing/2014/main" id="{08AB393A-353C-4AEE-B5B9-5DA20B7FB9DB}"/>
              </a:ext>
            </a:extLst>
          </p:cNvPr>
          <p:cNvSpPr>
            <a:spLocks noGrp="1"/>
          </p:cNvSpPr>
          <p:nvPr/>
        </p:nvSpPr>
        <p:spPr>
          <a:xfrm>
            <a:off x="609600" y="2095500"/>
            <a:ext cx="5257800" cy="381000"/>
          </a:xfrm>
          <a:prstGeom prst="rect">
            <a:avLst/>
          </a:prstGeom>
          <a:noFill/>
          <a:ln w="0">
            <a:noFill/>
            <a:prstDash val="solid"/>
          </a:ln>
        </p:spPr>
        <p:txBody>
          <a:bodyPr lIns="0" tIns="0" rIns="0" bIns="0" anchor="t">
            <a:normAutofit/>
          </a:bodyPr>
          <a:lstStyle/>
          <a:p>
            <a:pPr algn="l">
              <a:buNone/>
              <a:defRPr sz="1800" b="1">
                <a:solidFill>
                  <a:srgbClr val="E95B61"/>
                </a:solidFill>
                <a:latin typeface="Arial"/>
                <a:ea typeface="Arial"/>
                <a:cs typeface="Arial"/>
              </a:defRPr>
            </a:pPr>
            <a:r>
              <a:rPr sz="1800" b="1">
                <a:solidFill>
                  <a:srgbClr val="E95B61"/>
                </a:solidFill>
                <a:latin typeface="Arial"/>
                <a:ea typeface="Arial"/>
                <a:cs typeface="Arial"/>
              </a:rPr>
              <a:t>Risk</a:t>
            </a:r>
          </a:p>
        </p:txBody>
      </p:sp>
      <p:sp>
        <p:nvSpPr>
          <p:cNvPr id="10" name="Rectangle 9">
            <a:extLst>
              <a:ext uri="{FF2B5EF4-FFF2-40B4-BE49-F238E27FC236}">
                <a16:creationId xmlns:a16="http://schemas.microsoft.com/office/drawing/2014/main" id="{1D4F2883-6A85-4D16-9F06-51AA08E08E13}"/>
              </a:ext>
            </a:extLst>
          </p:cNvPr>
          <p:cNvSpPr>
            <a:spLocks noGrp="1"/>
          </p:cNvSpPr>
          <p:nvPr/>
        </p:nvSpPr>
        <p:spPr>
          <a:xfrm>
            <a:off x="609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High requests, repeated questions or overly long responses can create an unaffordable API bill.</a:t>
            </a:r>
          </a:p>
        </p:txBody>
      </p:sp>
      <p:sp>
        <p:nvSpPr>
          <p:cNvPr id="11" name="Rectangle 10">
            <a:extLst>
              <a:ext uri="{FF2B5EF4-FFF2-40B4-BE49-F238E27FC236}">
                <a16:creationId xmlns:a16="http://schemas.microsoft.com/office/drawing/2014/main" id="{03A4520B-2F5B-44C9-8854-F8F964B39AB8}"/>
              </a:ext>
            </a:extLst>
          </p:cNvPr>
          <p:cNvSpPr>
            <a:spLocks noGrp="1"/>
          </p:cNvSpPr>
          <p:nvPr/>
        </p:nvSpPr>
        <p:spPr>
          <a:xfrm>
            <a:off x="6324600" y="2095500"/>
            <a:ext cx="5257800" cy="381000"/>
          </a:xfrm>
          <a:prstGeom prst="rect">
            <a:avLst/>
          </a:prstGeom>
          <a:noFill/>
          <a:ln w="0">
            <a:noFill/>
            <a:prstDash val="solid"/>
          </a:ln>
        </p:spPr>
        <p:txBody>
          <a:bodyPr lIns="0" tIns="0" rIns="0" bIns="0" anchor="t">
            <a:normAutofit/>
          </a:bodyPr>
          <a:lstStyle/>
          <a:p>
            <a:pPr algn="l">
              <a:buNone/>
              <a:defRPr sz="1800" b="1">
                <a:solidFill>
                  <a:srgbClr val="0DA6A6"/>
                </a:solidFill>
                <a:latin typeface="Arial"/>
                <a:ea typeface="Arial"/>
                <a:cs typeface="Arial"/>
              </a:defRPr>
            </a:pPr>
            <a:r>
              <a:rPr sz="1800" b="1">
                <a:solidFill>
                  <a:srgbClr val="0DA6A6"/>
                </a:solidFill>
                <a:latin typeface="Arial"/>
                <a:ea typeface="Arial"/>
                <a:cs typeface="Arial"/>
              </a:rPr>
              <a:t>Mitigation</a:t>
            </a:r>
          </a:p>
        </p:txBody>
      </p:sp>
      <p:sp>
        <p:nvSpPr>
          <p:cNvPr id="12" name="Rectangle 11">
            <a:extLst>
              <a:ext uri="{FF2B5EF4-FFF2-40B4-BE49-F238E27FC236}">
                <a16:creationId xmlns:a16="http://schemas.microsoft.com/office/drawing/2014/main" id="{CCDF503E-61BA-4E79-8C7D-D2A1C7E2983E}"/>
              </a:ext>
            </a:extLst>
          </p:cNvPr>
          <p:cNvSpPr>
            <a:spLocks noGrp="1"/>
          </p:cNvSpPr>
          <p:nvPr/>
        </p:nvSpPr>
        <p:spPr>
          <a:xfrm>
            <a:off x="6324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 Semantic or exact-match caching</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Prompt and response limits</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Weekly quotas</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Usage dashboard</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Safe fallback when limit is reached</a:t>
            </a:r>
          </a:p>
        </p:txBody>
      </p:sp>
    </p:spTree>
    <p:extLst>
      <p:ext uri="{BB962C8B-B14F-4D97-AF65-F5344CB8AC3E}">
        <p14:creationId xmlns:p14="http://schemas.microsoft.com/office/powerpoint/2010/main" val="14462724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CF85FA9-6F1E-4682-989B-06D9BFF9ADFB}"/>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E61BCA19-31E6-4783-8BA6-87D7FED8D831}"/>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29</a:t>
            </a:r>
          </a:p>
        </p:txBody>
      </p:sp>
      <p:sp>
        <p:nvSpPr>
          <p:cNvPr id="3" name="Rectangle 2">
            <a:extLst>
              <a:ext uri="{FF2B5EF4-FFF2-40B4-BE49-F238E27FC236}">
                <a16:creationId xmlns:a16="http://schemas.microsoft.com/office/drawing/2014/main" id="{B7F0A0C5-5CF9-4483-8C16-861A3C25337B}"/>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428C3AEE-659E-4F15-BAEA-B3196E974F7A}"/>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35F422D6-914E-4FC5-A17B-4E65DBB01CF9}"/>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Risk 3: schedule pressure can cause scope creep</a:t>
            </a:r>
          </a:p>
        </p:txBody>
      </p:sp>
      <p:sp>
        <p:nvSpPr>
          <p:cNvPr id="6" name="Rectangle 5">
            <a:extLst>
              <a:ext uri="{FF2B5EF4-FFF2-40B4-BE49-F238E27FC236}">
                <a16:creationId xmlns:a16="http://schemas.microsoft.com/office/drawing/2014/main" id="{02891396-E8E0-4F57-B58A-0BBEA1BD1DE2}"/>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The team needs a visible rule for what leaves the MVP.</a:t>
            </a:r>
          </a:p>
        </p:txBody>
      </p:sp>
      <p:sp>
        <p:nvSpPr>
          <p:cNvPr id="7" name="Rectangle 6">
            <a:extLst>
              <a:ext uri="{FF2B5EF4-FFF2-40B4-BE49-F238E27FC236}">
                <a16:creationId xmlns:a16="http://schemas.microsoft.com/office/drawing/2014/main" id="{9A1EFED9-EAD4-4345-98BE-F1932829D1CE}"/>
              </a:ext>
            </a:extLst>
          </p:cNvPr>
          <p:cNvSpPr>
            <a:spLocks noGrp="1"/>
          </p:cNvSpPr>
          <p:nvPr/>
        </p:nvSpPr>
        <p:spPr>
          <a:xfrm>
            <a:off x="609600" y="1924050"/>
            <a:ext cx="5257800" cy="38100"/>
          </a:xfrm>
          <a:prstGeom prst="rect">
            <a:avLst/>
          </a:prstGeom>
          <a:solidFill>
            <a:srgbClr val="E95B61"/>
          </a:solidFill>
          <a:ln w="0">
            <a:solidFill>
              <a:srgbClr val="E95B61"/>
            </a:solidFill>
            <a:prstDash val="solid"/>
          </a:ln>
        </p:spPr>
      </p:sp>
      <p:sp>
        <p:nvSpPr>
          <p:cNvPr id="8" name="Rectangle 7">
            <a:extLst>
              <a:ext uri="{FF2B5EF4-FFF2-40B4-BE49-F238E27FC236}">
                <a16:creationId xmlns:a16="http://schemas.microsoft.com/office/drawing/2014/main" id="{A01628A0-6D4A-47A2-94D3-44549C10D42D}"/>
              </a:ext>
            </a:extLst>
          </p:cNvPr>
          <p:cNvSpPr>
            <a:spLocks noGrp="1"/>
          </p:cNvSpPr>
          <p:nvPr/>
        </p:nvSpPr>
        <p:spPr>
          <a:xfrm>
            <a:off x="6324600" y="1924050"/>
            <a:ext cx="5257800" cy="38100"/>
          </a:xfrm>
          <a:prstGeom prst="rect">
            <a:avLst/>
          </a:prstGeom>
          <a:solidFill>
            <a:srgbClr val="0DA6A6"/>
          </a:solidFill>
          <a:ln w="0">
            <a:solidFill>
              <a:srgbClr val="0DA6A6"/>
            </a:solidFill>
            <a:prstDash val="solid"/>
          </a:ln>
        </p:spPr>
      </p:sp>
      <p:sp>
        <p:nvSpPr>
          <p:cNvPr id="9" name="Rectangle 8">
            <a:extLst>
              <a:ext uri="{FF2B5EF4-FFF2-40B4-BE49-F238E27FC236}">
                <a16:creationId xmlns:a16="http://schemas.microsoft.com/office/drawing/2014/main" id="{A70498D7-8843-4827-8D2E-4DFA64E26A40}"/>
              </a:ext>
            </a:extLst>
          </p:cNvPr>
          <p:cNvSpPr>
            <a:spLocks noGrp="1"/>
          </p:cNvSpPr>
          <p:nvPr/>
        </p:nvSpPr>
        <p:spPr>
          <a:xfrm>
            <a:off x="609600" y="2095500"/>
            <a:ext cx="5257800" cy="381000"/>
          </a:xfrm>
          <a:prstGeom prst="rect">
            <a:avLst/>
          </a:prstGeom>
          <a:noFill/>
          <a:ln w="0">
            <a:noFill/>
            <a:prstDash val="solid"/>
          </a:ln>
        </p:spPr>
        <p:txBody>
          <a:bodyPr lIns="0" tIns="0" rIns="0" bIns="0" anchor="t">
            <a:normAutofit/>
          </a:bodyPr>
          <a:lstStyle/>
          <a:p>
            <a:pPr algn="l">
              <a:buNone/>
              <a:defRPr sz="1800" b="1">
                <a:solidFill>
                  <a:srgbClr val="E95B61"/>
                </a:solidFill>
                <a:latin typeface="Arial"/>
                <a:ea typeface="Arial"/>
                <a:cs typeface="Arial"/>
              </a:defRPr>
            </a:pPr>
            <a:r>
              <a:rPr sz="1800" b="1">
                <a:solidFill>
                  <a:srgbClr val="E95B61"/>
                </a:solidFill>
                <a:latin typeface="Arial"/>
                <a:ea typeface="Arial"/>
                <a:cs typeface="Arial"/>
              </a:rPr>
              <a:t>Risk</a:t>
            </a:r>
          </a:p>
        </p:txBody>
      </p:sp>
      <p:sp>
        <p:nvSpPr>
          <p:cNvPr id="10" name="Rectangle 9">
            <a:extLst>
              <a:ext uri="{FF2B5EF4-FFF2-40B4-BE49-F238E27FC236}">
                <a16:creationId xmlns:a16="http://schemas.microsoft.com/office/drawing/2014/main" id="{293F5CB7-5A73-4E5A-A053-3CE3A4BD5635}"/>
              </a:ext>
            </a:extLst>
          </p:cNvPr>
          <p:cNvSpPr>
            <a:spLocks noGrp="1"/>
          </p:cNvSpPr>
          <p:nvPr/>
        </p:nvSpPr>
        <p:spPr>
          <a:xfrm>
            <a:off x="609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A 14-week deadline can be lost when optional gamification, iOS parity or premium features enter too early.</a:t>
            </a:r>
          </a:p>
        </p:txBody>
      </p:sp>
      <p:sp>
        <p:nvSpPr>
          <p:cNvPr id="11" name="Rectangle 10">
            <a:extLst>
              <a:ext uri="{FF2B5EF4-FFF2-40B4-BE49-F238E27FC236}">
                <a16:creationId xmlns:a16="http://schemas.microsoft.com/office/drawing/2014/main" id="{0FE76DC1-5253-4EE3-A25C-124EB33966A9}"/>
              </a:ext>
            </a:extLst>
          </p:cNvPr>
          <p:cNvSpPr>
            <a:spLocks noGrp="1"/>
          </p:cNvSpPr>
          <p:nvPr/>
        </p:nvSpPr>
        <p:spPr>
          <a:xfrm>
            <a:off x="6324600" y="2095500"/>
            <a:ext cx="5257800" cy="381000"/>
          </a:xfrm>
          <a:prstGeom prst="rect">
            <a:avLst/>
          </a:prstGeom>
          <a:noFill/>
          <a:ln w="0">
            <a:noFill/>
            <a:prstDash val="solid"/>
          </a:ln>
        </p:spPr>
        <p:txBody>
          <a:bodyPr lIns="0" tIns="0" rIns="0" bIns="0" anchor="t">
            <a:normAutofit/>
          </a:bodyPr>
          <a:lstStyle/>
          <a:p>
            <a:pPr algn="l">
              <a:buNone/>
              <a:defRPr sz="1800" b="1">
                <a:solidFill>
                  <a:srgbClr val="0DA6A6"/>
                </a:solidFill>
                <a:latin typeface="Arial"/>
                <a:ea typeface="Arial"/>
                <a:cs typeface="Arial"/>
              </a:defRPr>
            </a:pPr>
            <a:r>
              <a:rPr sz="1800" b="1">
                <a:solidFill>
                  <a:srgbClr val="0DA6A6"/>
                </a:solidFill>
                <a:latin typeface="Arial"/>
                <a:ea typeface="Arial"/>
                <a:cs typeface="Arial"/>
              </a:rPr>
              <a:t>Mitigation</a:t>
            </a:r>
          </a:p>
        </p:txBody>
      </p:sp>
      <p:sp>
        <p:nvSpPr>
          <p:cNvPr id="12" name="Rectangle 11">
            <a:extLst>
              <a:ext uri="{FF2B5EF4-FFF2-40B4-BE49-F238E27FC236}">
                <a16:creationId xmlns:a16="http://schemas.microsoft.com/office/drawing/2014/main" id="{0EF14C6A-A46B-479E-B9C9-799D5C1640C0}"/>
              </a:ext>
            </a:extLst>
          </p:cNvPr>
          <p:cNvSpPr>
            <a:spLocks noGrp="1"/>
          </p:cNvSpPr>
          <p:nvPr/>
        </p:nvSpPr>
        <p:spPr>
          <a:xfrm>
            <a:off x="6324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 Freeze MUST items</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Demo every increment</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Review backlog every sprint</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Move COULD features to Phase 2</a:t>
            </a:r>
          </a:p>
        </p:txBody>
      </p:sp>
    </p:spTree>
    <p:extLst>
      <p:ext uri="{BB962C8B-B14F-4D97-AF65-F5344CB8AC3E}">
        <p14:creationId xmlns:p14="http://schemas.microsoft.com/office/powerpoint/2010/main" val="18080459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12FBCAD-18C6-4408-B499-1B6CC82533C5}"/>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AI STUDY MENTOR</a:t>
            </a:r>
          </a:p>
        </p:txBody>
      </p:sp>
      <p:sp>
        <p:nvSpPr>
          <p:cNvPr id="2" name="Rectangle 1">
            <a:extLst>
              <a:ext uri="{FF2B5EF4-FFF2-40B4-BE49-F238E27FC236}">
                <a16:creationId xmlns:a16="http://schemas.microsoft.com/office/drawing/2014/main" id="{BD35B804-173C-4821-A734-20B6AD72E2D8}"/>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30</a:t>
            </a:r>
          </a:p>
        </p:txBody>
      </p:sp>
      <p:sp>
        <p:nvSpPr>
          <p:cNvPr id="3" name="Rectangle 2">
            <a:extLst>
              <a:ext uri="{FF2B5EF4-FFF2-40B4-BE49-F238E27FC236}">
                <a16:creationId xmlns:a16="http://schemas.microsoft.com/office/drawing/2014/main" id="{E0443B49-DCA0-4A31-BF80-F51526F924E1}"/>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A826DA2A-5686-4A6F-81CB-B35B54F52962}"/>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5A64708A-79AA-403E-B4C8-7BE7C9874FB3}"/>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Risk 4: student data needs stronger-than-average care</a:t>
            </a:r>
          </a:p>
        </p:txBody>
      </p:sp>
      <p:sp>
        <p:nvSpPr>
          <p:cNvPr id="6" name="Rectangle 5">
            <a:extLst>
              <a:ext uri="{FF2B5EF4-FFF2-40B4-BE49-F238E27FC236}">
                <a16:creationId xmlns:a16="http://schemas.microsoft.com/office/drawing/2014/main" id="{C153F89D-E5DC-4FBD-AD6F-7CD5699472B4}"/>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A safe MVP treats privacy, consent and access control as release gates.</a:t>
            </a:r>
          </a:p>
        </p:txBody>
      </p:sp>
      <p:sp>
        <p:nvSpPr>
          <p:cNvPr id="7" name="Rectangle 6">
            <a:extLst>
              <a:ext uri="{FF2B5EF4-FFF2-40B4-BE49-F238E27FC236}">
                <a16:creationId xmlns:a16="http://schemas.microsoft.com/office/drawing/2014/main" id="{5DFD02B9-54DC-4C7A-BC2D-87759F5BE9A4}"/>
              </a:ext>
            </a:extLst>
          </p:cNvPr>
          <p:cNvSpPr>
            <a:spLocks noGrp="1"/>
          </p:cNvSpPr>
          <p:nvPr/>
        </p:nvSpPr>
        <p:spPr>
          <a:xfrm>
            <a:off x="609600" y="1924050"/>
            <a:ext cx="5257800" cy="38100"/>
          </a:xfrm>
          <a:prstGeom prst="rect">
            <a:avLst/>
          </a:prstGeom>
          <a:solidFill>
            <a:srgbClr val="E95B61"/>
          </a:solidFill>
          <a:ln w="0">
            <a:solidFill>
              <a:srgbClr val="E95B61"/>
            </a:solidFill>
            <a:prstDash val="solid"/>
          </a:ln>
        </p:spPr>
      </p:sp>
      <p:sp>
        <p:nvSpPr>
          <p:cNvPr id="8" name="Rectangle 7">
            <a:extLst>
              <a:ext uri="{FF2B5EF4-FFF2-40B4-BE49-F238E27FC236}">
                <a16:creationId xmlns:a16="http://schemas.microsoft.com/office/drawing/2014/main" id="{C41AF1B3-F661-4CA0-9F2F-9C047F961A1E}"/>
              </a:ext>
            </a:extLst>
          </p:cNvPr>
          <p:cNvSpPr>
            <a:spLocks noGrp="1"/>
          </p:cNvSpPr>
          <p:nvPr/>
        </p:nvSpPr>
        <p:spPr>
          <a:xfrm>
            <a:off x="6324600" y="1924050"/>
            <a:ext cx="5257800" cy="38100"/>
          </a:xfrm>
          <a:prstGeom prst="rect">
            <a:avLst/>
          </a:prstGeom>
          <a:solidFill>
            <a:srgbClr val="0DA6A6"/>
          </a:solidFill>
          <a:ln w="0">
            <a:solidFill>
              <a:srgbClr val="0DA6A6"/>
            </a:solidFill>
            <a:prstDash val="solid"/>
          </a:ln>
        </p:spPr>
      </p:sp>
      <p:sp>
        <p:nvSpPr>
          <p:cNvPr id="9" name="Rectangle 8">
            <a:extLst>
              <a:ext uri="{FF2B5EF4-FFF2-40B4-BE49-F238E27FC236}">
                <a16:creationId xmlns:a16="http://schemas.microsoft.com/office/drawing/2014/main" id="{3019C0B4-613A-4EEC-BA44-624222DE9387}"/>
              </a:ext>
            </a:extLst>
          </p:cNvPr>
          <p:cNvSpPr>
            <a:spLocks noGrp="1"/>
          </p:cNvSpPr>
          <p:nvPr/>
        </p:nvSpPr>
        <p:spPr>
          <a:xfrm>
            <a:off x="609600" y="2095500"/>
            <a:ext cx="5257800" cy="381000"/>
          </a:xfrm>
          <a:prstGeom prst="rect">
            <a:avLst/>
          </a:prstGeom>
          <a:noFill/>
          <a:ln w="0">
            <a:noFill/>
            <a:prstDash val="solid"/>
          </a:ln>
        </p:spPr>
        <p:txBody>
          <a:bodyPr lIns="0" tIns="0" rIns="0" bIns="0" anchor="t">
            <a:normAutofit/>
          </a:bodyPr>
          <a:lstStyle/>
          <a:p>
            <a:pPr algn="l">
              <a:buNone/>
              <a:defRPr sz="1800" b="1">
                <a:solidFill>
                  <a:srgbClr val="E95B61"/>
                </a:solidFill>
                <a:latin typeface="Arial"/>
                <a:ea typeface="Arial"/>
                <a:cs typeface="Arial"/>
              </a:defRPr>
            </a:pPr>
            <a:r>
              <a:rPr sz="1800" b="1">
                <a:solidFill>
                  <a:srgbClr val="E95B61"/>
                </a:solidFill>
                <a:latin typeface="Arial"/>
                <a:ea typeface="Arial"/>
                <a:cs typeface="Arial"/>
              </a:rPr>
              <a:t>Risk</a:t>
            </a:r>
          </a:p>
        </p:txBody>
      </p:sp>
      <p:sp>
        <p:nvSpPr>
          <p:cNvPr id="10" name="Rectangle 9">
            <a:extLst>
              <a:ext uri="{FF2B5EF4-FFF2-40B4-BE49-F238E27FC236}">
                <a16:creationId xmlns:a16="http://schemas.microsoft.com/office/drawing/2014/main" id="{F929071A-C009-4265-84BD-D6E501E92D92}"/>
              </a:ext>
            </a:extLst>
          </p:cNvPr>
          <p:cNvSpPr>
            <a:spLocks noGrp="1"/>
          </p:cNvSpPr>
          <p:nvPr/>
        </p:nvSpPr>
        <p:spPr>
          <a:xfrm>
            <a:off x="609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Questions, images and underage-user data could be exposed through weak authentication, storage rules or consent handling.</a:t>
            </a:r>
          </a:p>
        </p:txBody>
      </p:sp>
      <p:sp>
        <p:nvSpPr>
          <p:cNvPr id="11" name="Rectangle 10">
            <a:extLst>
              <a:ext uri="{FF2B5EF4-FFF2-40B4-BE49-F238E27FC236}">
                <a16:creationId xmlns:a16="http://schemas.microsoft.com/office/drawing/2014/main" id="{68AA752E-ACDC-4294-AF4F-5C08A9BF039C}"/>
              </a:ext>
            </a:extLst>
          </p:cNvPr>
          <p:cNvSpPr>
            <a:spLocks noGrp="1"/>
          </p:cNvSpPr>
          <p:nvPr/>
        </p:nvSpPr>
        <p:spPr>
          <a:xfrm>
            <a:off x="6324600" y="2095500"/>
            <a:ext cx="5257800" cy="381000"/>
          </a:xfrm>
          <a:prstGeom prst="rect">
            <a:avLst/>
          </a:prstGeom>
          <a:noFill/>
          <a:ln w="0">
            <a:noFill/>
            <a:prstDash val="solid"/>
          </a:ln>
        </p:spPr>
        <p:txBody>
          <a:bodyPr lIns="0" tIns="0" rIns="0" bIns="0" anchor="t">
            <a:normAutofit/>
          </a:bodyPr>
          <a:lstStyle/>
          <a:p>
            <a:pPr algn="l">
              <a:buNone/>
              <a:defRPr sz="1800" b="1">
                <a:solidFill>
                  <a:srgbClr val="0DA6A6"/>
                </a:solidFill>
                <a:latin typeface="Arial"/>
                <a:ea typeface="Arial"/>
                <a:cs typeface="Arial"/>
              </a:defRPr>
            </a:pPr>
            <a:r>
              <a:rPr sz="1800" b="1">
                <a:solidFill>
                  <a:srgbClr val="0DA6A6"/>
                </a:solidFill>
                <a:latin typeface="Arial"/>
                <a:ea typeface="Arial"/>
                <a:cs typeface="Arial"/>
              </a:rPr>
              <a:t>Mitigation</a:t>
            </a:r>
          </a:p>
        </p:txBody>
      </p:sp>
      <p:sp>
        <p:nvSpPr>
          <p:cNvPr id="12" name="Rectangle 11">
            <a:extLst>
              <a:ext uri="{FF2B5EF4-FFF2-40B4-BE49-F238E27FC236}">
                <a16:creationId xmlns:a16="http://schemas.microsoft.com/office/drawing/2014/main" id="{67DC4C64-41F0-45FE-ADA9-3A19ED46A53E}"/>
              </a:ext>
            </a:extLst>
          </p:cNvPr>
          <p:cNvSpPr>
            <a:spLocks noGrp="1"/>
          </p:cNvSpPr>
          <p:nvPr/>
        </p:nvSpPr>
        <p:spPr>
          <a:xfrm>
            <a:off x="6324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 Encrypt stored content</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Apply least-privilege access</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Add 2FA option</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Test consent and deletion</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Run security review before demo</a:t>
            </a:r>
          </a:p>
        </p:txBody>
      </p:sp>
    </p:spTree>
    <p:extLst>
      <p:ext uri="{BB962C8B-B14F-4D97-AF65-F5344CB8AC3E}">
        <p14:creationId xmlns:p14="http://schemas.microsoft.com/office/powerpoint/2010/main" val="2933305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2A43"/>
        </a:solidFill>
        <a:effectLst/>
      </p:bgPr>
    </p:bg>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D99ED140-A7B6-4A1F-AA07-3142E4E2F80F}"/>
              </a:ext>
            </a:extLst>
          </p:cNvPr>
          <p:cNvSpPr>
            <a:spLocks noGrp="1"/>
          </p:cNvSpPr>
          <p:nvPr/>
        </p:nvSpPr>
        <p:spPr>
          <a:xfrm>
            <a:off x="8896350" y="514350"/>
            <a:ext cx="2133600" cy="2133600"/>
          </a:xfrm>
          <a:prstGeom prst="ellipse">
            <a:avLst/>
          </a:prstGeom>
          <a:solidFill>
            <a:srgbClr val="6DCBF4"/>
          </a:solidFill>
          <a:ln w="0">
            <a:solidFill>
              <a:srgbClr val="6DCBF4"/>
            </a:solidFill>
            <a:prstDash val="solid"/>
          </a:ln>
        </p:spPr>
      </p:sp>
      <p:sp>
        <p:nvSpPr>
          <p:cNvPr id="2" name="Oval 1">
            <a:extLst>
              <a:ext uri="{FF2B5EF4-FFF2-40B4-BE49-F238E27FC236}">
                <a16:creationId xmlns:a16="http://schemas.microsoft.com/office/drawing/2014/main" id="{064DB02B-66E1-49FD-AADE-2B430D15A626}"/>
              </a:ext>
            </a:extLst>
          </p:cNvPr>
          <p:cNvSpPr>
            <a:spLocks noGrp="1"/>
          </p:cNvSpPr>
          <p:nvPr/>
        </p:nvSpPr>
        <p:spPr>
          <a:xfrm>
            <a:off x="9601200" y="1924050"/>
            <a:ext cx="876300" cy="876300"/>
          </a:xfrm>
          <a:prstGeom prst="ellipse">
            <a:avLst/>
          </a:prstGeom>
          <a:solidFill>
            <a:srgbClr val="FF9B45"/>
          </a:solidFill>
          <a:ln w="0">
            <a:solidFill>
              <a:srgbClr val="FF9B45"/>
            </a:solidFill>
            <a:prstDash val="solid"/>
          </a:ln>
        </p:spPr>
      </p:sp>
      <p:sp>
        <p:nvSpPr>
          <p:cNvPr id="3" name="Oval 2">
            <a:extLst>
              <a:ext uri="{FF2B5EF4-FFF2-40B4-BE49-F238E27FC236}">
                <a16:creationId xmlns:a16="http://schemas.microsoft.com/office/drawing/2014/main" id="{BBC88DFB-9A09-4CFF-9354-C2D6A77B38ED}"/>
              </a:ext>
            </a:extLst>
          </p:cNvPr>
          <p:cNvSpPr>
            <a:spLocks noGrp="1"/>
          </p:cNvSpPr>
          <p:nvPr/>
        </p:nvSpPr>
        <p:spPr>
          <a:xfrm>
            <a:off x="10306050" y="3295650"/>
            <a:ext cx="381000" cy="381000"/>
          </a:xfrm>
          <a:prstGeom prst="ellipse">
            <a:avLst/>
          </a:prstGeom>
          <a:solidFill>
            <a:srgbClr val="FFFFFF"/>
          </a:solidFill>
          <a:ln w="0">
            <a:solidFill>
              <a:srgbClr val="FFFFFF"/>
            </a:solidFill>
            <a:prstDash val="solid"/>
          </a:ln>
        </p:spPr>
      </p:sp>
      <p:sp>
        <p:nvSpPr>
          <p:cNvPr id="4" name="Rectangle 3">
            <a:extLst>
              <a:ext uri="{FF2B5EF4-FFF2-40B4-BE49-F238E27FC236}">
                <a16:creationId xmlns:a16="http://schemas.microsoft.com/office/drawing/2014/main" id="{A6273243-A071-4A85-988F-4CFBBDEBF7E0}"/>
              </a:ext>
            </a:extLst>
          </p:cNvPr>
          <p:cNvSpPr>
            <a:spLocks noGrp="1"/>
          </p:cNvSpPr>
          <p:nvPr/>
        </p:nvSpPr>
        <p:spPr>
          <a:xfrm>
            <a:off x="609600" y="552450"/>
            <a:ext cx="762000" cy="304800"/>
          </a:xfrm>
          <a:prstGeom prst="rect">
            <a:avLst/>
          </a:prstGeom>
          <a:noFill/>
          <a:ln w="0">
            <a:noFill/>
            <a:prstDash val="solid"/>
          </a:ln>
        </p:spPr>
        <p:txBody>
          <a:bodyPr lIns="0" tIns="0" rIns="0" bIns="0" anchor="t">
            <a:normAutofit/>
          </a:bodyPr>
          <a:lstStyle/>
          <a:p>
            <a:pPr algn="l">
              <a:buNone/>
              <a:defRPr sz="1425" b="1">
                <a:solidFill>
                  <a:srgbClr val="6DCBF4"/>
                </a:solidFill>
                <a:latin typeface="Arial"/>
                <a:ea typeface="Arial"/>
                <a:cs typeface="Arial"/>
              </a:defRPr>
            </a:pPr>
            <a:r>
              <a:rPr sz="1425" b="1">
                <a:solidFill>
                  <a:srgbClr val="6DCBF4"/>
                </a:solidFill>
                <a:latin typeface="Arial"/>
                <a:ea typeface="Arial"/>
                <a:cs typeface="Arial"/>
              </a:rPr>
              <a:t>02</a:t>
            </a:r>
          </a:p>
        </p:txBody>
      </p:sp>
      <p:sp>
        <p:nvSpPr>
          <p:cNvPr id="5" name="Rectangle 4">
            <a:extLst>
              <a:ext uri="{FF2B5EF4-FFF2-40B4-BE49-F238E27FC236}">
                <a16:creationId xmlns:a16="http://schemas.microsoft.com/office/drawing/2014/main" id="{F9B8A257-3100-46BA-8BD1-AA3F452D954D}"/>
              </a:ext>
            </a:extLst>
          </p:cNvPr>
          <p:cNvSpPr>
            <a:spLocks noGrp="1"/>
          </p:cNvSpPr>
          <p:nvPr/>
        </p:nvSpPr>
        <p:spPr>
          <a:xfrm>
            <a:off x="609600" y="1104900"/>
            <a:ext cx="4762500" cy="266700"/>
          </a:xfrm>
          <a:prstGeom prst="rect">
            <a:avLst/>
          </a:prstGeom>
          <a:noFill/>
          <a:ln w="0">
            <a:noFill/>
            <a:prstDash val="solid"/>
          </a:ln>
        </p:spPr>
        <p:txBody>
          <a:bodyPr lIns="0" tIns="0" rIns="0" bIns="0" anchor="t">
            <a:normAutofit/>
          </a:bodyPr>
          <a:lstStyle/>
          <a:p>
            <a:pPr algn="l">
              <a:buNone/>
              <a:defRPr sz="1200" b="1">
                <a:solidFill>
                  <a:srgbClr val="6DCBF4"/>
                </a:solidFill>
                <a:latin typeface="Arial"/>
                <a:ea typeface="Arial"/>
                <a:cs typeface="Arial"/>
              </a:defRPr>
            </a:pPr>
            <a:r>
              <a:rPr sz="1200" b="1">
                <a:solidFill>
                  <a:srgbClr val="6DCBF4"/>
                </a:solidFill>
                <a:latin typeface="Arial"/>
                <a:ea typeface="Arial"/>
                <a:cs typeface="Arial"/>
              </a:rPr>
              <a:t>PART 2 / ACTIVITY 2 / DEMO</a:t>
            </a:r>
          </a:p>
        </p:txBody>
      </p:sp>
      <p:sp>
        <p:nvSpPr>
          <p:cNvPr id="6" name="Rectangle 5">
            <a:extLst>
              <a:ext uri="{FF2B5EF4-FFF2-40B4-BE49-F238E27FC236}">
                <a16:creationId xmlns:a16="http://schemas.microsoft.com/office/drawing/2014/main" id="{700A278A-1AAC-45D5-A189-D48195E094E1}"/>
              </a:ext>
            </a:extLst>
          </p:cNvPr>
          <p:cNvSpPr>
            <a:spLocks noGrp="1"/>
          </p:cNvSpPr>
          <p:nvPr/>
        </p:nvSpPr>
        <p:spPr>
          <a:xfrm>
            <a:off x="609600" y="1790700"/>
            <a:ext cx="7239000" cy="1714500"/>
          </a:xfrm>
          <a:prstGeom prst="rect">
            <a:avLst/>
          </a:prstGeom>
          <a:noFill/>
          <a:ln w="0">
            <a:noFill/>
            <a:prstDash val="solid"/>
          </a:ln>
        </p:spPr>
        <p:txBody>
          <a:bodyPr lIns="0" tIns="0" rIns="0" bIns="0" anchor="t">
            <a:normAutofit/>
          </a:bodyPr>
          <a:lstStyle/>
          <a:p>
            <a:pPr algn="l">
              <a:buNone/>
              <a:defRPr sz="4050" b="1">
                <a:solidFill>
                  <a:srgbClr val="FFFFFF"/>
                </a:solidFill>
                <a:latin typeface="Arial"/>
                <a:ea typeface="Arial"/>
                <a:cs typeface="Arial"/>
              </a:defRPr>
            </a:pPr>
            <a:r>
              <a:rPr sz="4050" b="1">
                <a:solidFill>
                  <a:srgbClr val="FFFFFF"/>
                </a:solidFill>
                <a:latin typeface="Arial"/>
                <a:ea typeface="Arial"/>
                <a:cs typeface="Arial"/>
              </a:rPr>
              <a:t>Demo-slide: show the product learning loop.</a:t>
            </a:r>
          </a:p>
        </p:txBody>
      </p:sp>
      <p:sp>
        <p:nvSpPr>
          <p:cNvPr id="7" name="Rectangle 6">
            <a:extLst>
              <a:ext uri="{FF2B5EF4-FFF2-40B4-BE49-F238E27FC236}">
                <a16:creationId xmlns:a16="http://schemas.microsoft.com/office/drawing/2014/main" id="{3A76E720-85F3-4B6E-A8F9-354AA1187791}"/>
              </a:ext>
            </a:extLst>
          </p:cNvPr>
          <p:cNvSpPr>
            <a:spLocks noGrp="1"/>
          </p:cNvSpPr>
          <p:nvPr/>
        </p:nvSpPr>
        <p:spPr>
          <a:xfrm>
            <a:off x="609600" y="4095750"/>
            <a:ext cx="6191250" cy="857250"/>
          </a:xfrm>
          <a:prstGeom prst="rect">
            <a:avLst/>
          </a:prstGeom>
          <a:noFill/>
          <a:ln w="0">
            <a:noFill/>
            <a:prstDash val="solid"/>
          </a:ln>
        </p:spPr>
        <p:txBody>
          <a:bodyPr lIns="0" tIns="0" rIns="0" bIns="0" anchor="t">
            <a:normAutofit/>
          </a:bodyPr>
          <a:lstStyle/>
          <a:p>
            <a:pPr algn="l">
              <a:buNone/>
              <a:defRPr sz="1650" b="0">
                <a:solidFill>
                  <a:srgbClr val="DCEAF5"/>
                </a:solidFill>
                <a:latin typeface="Arial"/>
                <a:ea typeface="Arial"/>
                <a:cs typeface="Arial"/>
              </a:defRPr>
            </a:pPr>
            <a:r>
              <a:rPr sz="1650" b="0">
                <a:solidFill>
                  <a:srgbClr val="DCEAF5"/>
                </a:solidFill>
                <a:latin typeface="Arial"/>
                <a:ea typeface="Arial"/>
                <a:cs typeface="Arial"/>
              </a:rPr>
              <a:t>The demo section introduces the developed application and walks through the student journey.</a:t>
            </a:r>
          </a:p>
        </p:txBody>
      </p:sp>
      <p:sp>
        <p:nvSpPr>
          <p:cNvPr id="8" name="Rectangle 7">
            <a:extLst>
              <a:ext uri="{FF2B5EF4-FFF2-40B4-BE49-F238E27FC236}">
                <a16:creationId xmlns:a16="http://schemas.microsoft.com/office/drawing/2014/main" id="{170E846E-C793-4B39-9214-0FB4253A3A8B}"/>
              </a:ext>
            </a:extLst>
          </p:cNvPr>
          <p:cNvSpPr>
            <a:spLocks noGrp="1"/>
          </p:cNvSpPr>
          <p:nvPr/>
        </p:nvSpPr>
        <p:spPr>
          <a:xfrm>
            <a:off x="609600" y="5562600"/>
            <a:ext cx="2000250" cy="38100"/>
          </a:xfrm>
          <a:prstGeom prst="rect">
            <a:avLst/>
          </a:prstGeom>
          <a:solidFill>
            <a:srgbClr val="6DCBF4"/>
          </a:solidFill>
          <a:ln w="0">
            <a:solidFill>
              <a:srgbClr val="6DCBF4"/>
            </a:solidFill>
            <a:prstDash val="solid"/>
          </a:ln>
        </p:spPr>
      </p:sp>
    </p:spTree>
    <p:extLst>
      <p:ext uri="{BB962C8B-B14F-4D97-AF65-F5344CB8AC3E}">
        <p14:creationId xmlns:p14="http://schemas.microsoft.com/office/powerpoint/2010/main" val="657072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EAA09F14-2F36-4050-8A18-C21FD3602CF2}"/>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DEMO / 01 - START</a:t>
            </a:r>
          </a:p>
        </p:txBody>
      </p:sp>
      <p:sp>
        <p:nvSpPr>
          <p:cNvPr id="2" name="Rectangle 1">
            <a:extLst>
              <a:ext uri="{FF2B5EF4-FFF2-40B4-BE49-F238E27FC236}">
                <a16:creationId xmlns:a16="http://schemas.microsoft.com/office/drawing/2014/main" id="{AFAF9A3F-2A5D-4BBA-9960-FFAE6F9F879F}"/>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32</a:t>
            </a:r>
          </a:p>
        </p:txBody>
      </p:sp>
      <p:sp>
        <p:nvSpPr>
          <p:cNvPr id="3" name="Rectangle 2">
            <a:extLst>
              <a:ext uri="{FF2B5EF4-FFF2-40B4-BE49-F238E27FC236}">
                <a16:creationId xmlns:a16="http://schemas.microsoft.com/office/drawing/2014/main" id="{397582E7-9DE2-42D1-AEC2-0789EA08193A}"/>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DDCEA962-C735-421C-9338-7EB6AD2D7397}"/>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D2DBC665-3887-4963-9F07-B83B4A80B3E7}"/>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Demo 1: open the app and choose a learning profile</a:t>
            </a:r>
          </a:p>
        </p:txBody>
      </p:sp>
      <p:sp>
        <p:nvSpPr>
          <p:cNvPr id="6" name="Rectangle 5">
            <a:extLst>
              <a:ext uri="{FF2B5EF4-FFF2-40B4-BE49-F238E27FC236}">
                <a16:creationId xmlns:a16="http://schemas.microsoft.com/office/drawing/2014/main" id="{8B384F0E-4735-42DC-8F74-1B8CAD53D5D1}"/>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Show the real login/onboarding screen here during the individual demo.</a:t>
            </a:r>
          </a:p>
        </p:txBody>
      </p:sp>
      <p:sp>
        <p:nvSpPr>
          <p:cNvPr id="7" name="Rectangle: Rounded Corners 6">
            <a:extLst>
              <a:ext uri="{FF2B5EF4-FFF2-40B4-BE49-F238E27FC236}">
                <a16:creationId xmlns:a16="http://schemas.microsoft.com/office/drawing/2014/main" id="{DC64D408-0C0F-4E33-AB1E-4B03D92D1773}"/>
              </a:ext>
            </a:extLst>
          </p:cNvPr>
          <p:cNvSpPr>
            <a:spLocks noGrp="1"/>
          </p:cNvSpPr>
          <p:nvPr/>
        </p:nvSpPr>
        <p:spPr>
          <a:xfrm>
            <a:off x="1714500" y="1695450"/>
            <a:ext cx="2400300" cy="4324350"/>
          </a:xfrm>
          <a:prstGeom prst="roundRect">
            <a:avLst>
              <a:gd name="adj" fmla="val 3175"/>
            </a:avLst>
          </a:prstGeom>
          <a:solidFill>
            <a:srgbClr val="0F2A43"/>
          </a:solidFill>
          <a:ln w="0">
            <a:solidFill>
              <a:srgbClr val="0F2A43"/>
            </a:solidFill>
            <a:prstDash val="solid"/>
          </a:ln>
        </p:spPr>
      </p:sp>
      <p:sp>
        <p:nvSpPr>
          <p:cNvPr id="8" name="Rectangle: Rounded Corners 7">
            <a:extLst>
              <a:ext uri="{FF2B5EF4-FFF2-40B4-BE49-F238E27FC236}">
                <a16:creationId xmlns:a16="http://schemas.microsoft.com/office/drawing/2014/main" id="{F70C5682-73E2-41C3-A46D-ABF4842FB808}"/>
              </a:ext>
            </a:extLst>
          </p:cNvPr>
          <p:cNvSpPr>
            <a:spLocks noGrp="1"/>
          </p:cNvSpPr>
          <p:nvPr/>
        </p:nvSpPr>
        <p:spPr>
          <a:xfrm>
            <a:off x="1809750" y="1809750"/>
            <a:ext cx="2209800" cy="4095750"/>
          </a:xfrm>
          <a:prstGeom prst="roundRect">
            <a:avLst>
              <a:gd name="adj" fmla="val 3448"/>
            </a:avLst>
          </a:prstGeom>
          <a:solidFill>
            <a:srgbClr val="FFFFFF"/>
          </a:solidFill>
          <a:ln w="0">
            <a:solidFill>
              <a:srgbClr val="FFFFFF"/>
            </a:solidFill>
            <a:prstDash val="solid"/>
          </a:ln>
        </p:spPr>
      </p:sp>
      <p:sp>
        <p:nvSpPr>
          <p:cNvPr id="9" name="Rectangle: Rounded Corners 8">
            <a:extLst>
              <a:ext uri="{FF2B5EF4-FFF2-40B4-BE49-F238E27FC236}">
                <a16:creationId xmlns:a16="http://schemas.microsoft.com/office/drawing/2014/main" id="{05D1BE56-5CC0-45A1-9CD0-85D09C68C5CB}"/>
              </a:ext>
            </a:extLst>
          </p:cNvPr>
          <p:cNvSpPr>
            <a:spLocks noGrp="1"/>
          </p:cNvSpPr>
          <p:nvPr/>
        </p:nvSpPr>
        <p:spPr>
          <a:xfrm>
            <a:off x="2590800" y="1743075"/>
            <a:ext cx="647700" cy="95250"/>
          </a:xfrm>
          <a:prstGeom prst="roundRect">
            <a:avLst>
              <a:gd name="adj" fmla="val 50000"/>
            </a:avLst>
          </a:prstGeom>
          <a:solidFill>
            <a:srgbClr val="0B1220"/>
          </a:solidFill>
          <a:ln w="0">
            <a:solidFill>
              <a:srgbClr val="0B1220"/>
            </a:solidFill>
            <a:prstDash val="solid"/>
          </a:ln>
        </p:spPr>
      </p:sp>
      <p:sp>
        <p:nvSpPr>
          <p:cNvPr id="10" name="Rectangle 9">
            <a:extLst>
              <a:ext uri="{FF2B5EF4-FFF2-40B4-BE49-F238E27FC236}">
                <a16:creationId xmlns:a16="http://schemas.microsoft.com/office/drawing/2014/main" id="{18CAF38E-91A0-4BE0-AC4D-0058A38D7098}"/>
              </a:ext>
            </a:extLst>
          </p:cNvPr>
          <p:cNvSpPr>
            <a:spLocks noGrp="1"/>
          </p:cNvSpPr>
          <p:nvPr/>
        </p:nvSpPr>
        <p:spPr>
          <a:xfrm>
            <a:off x="1943100" y="2057400"/>
            <a:ext cx="1943100" cy="247650"/>
          </a:xfrm>
          <a:prstGeom prst="rect">
            <a:avLst/>
          </a:prstGeom>
          <a:noFill/>
          <a:ln w="0">
            <a:noFill/>
            <a:prstDash val="solid"/>
          </a:ln>
        </p:spPr>
        <p:txBody>
          <a:bodyPr lIns="0" tIns="0" rIns="0" bIns="0" anchor="t">
            <a:normAutofit/>
          </a:bodyPr>
          <a:lstStyle/>
          <a:p>
            <a:pPr algn="l">
              <a:buNone/>
              <a:defRPr sz="1200" b="1">
                <a:solidFill>
                  <a:srgbClr val="0F2A43"/>
                </a:solidFill>
                <a:latin typeface="Arial"/>
                <a:ea typeface="Arial"/>
                <a:cs typeface="Arial"/>
              </a:defRPr>
            </a:pPr>
            <a:r>
              <a:rPr sz="1200" b="1">
                <a:solidFill>
                  <a:srgbClr val="0F2A43"/>
                </a:solidFill>
                <a:latin typeface="Arial"/>
                <a:ea typeface="Arial"/>
                <a:cs typeface="Arial"/>
              </a:rPr>
              <a:t>Welcome</a:t>
            </a:r>
          </a:p>
        </p:txBody>
      </p:sp>
      <p:sp>
        <p:nvSpPr>
          <p:cNvPr id="11" name="Rectangle: Rounded Corners 10">
            <a:extLst>
              <a:ext uri="{FF2B5EF4-FFF2-40B4-BE49-F238E27FC236}">
                <a16:creationId xmlns:a16="http://schemas.microsoft.com/office/drawing/2014/main" id="{0BD89F94-91D7-4986-A4BB-5EEC6D873D3B}"/>
              </a:ext>
            </a:extLst>
          </p:cNvPr>
          <p:cNvSpPr>
            <a:spLocks noGrp="1"/>
          </p:cNvSpPr>
          <p:nvPr/>
        </p:nvSpPr>
        <p:spPr>
          <a:xfrm>
            <a:off x="1905000" y="2476500"/>
            <a:ext cx="2019300" cy="514350"/>
          </a:xfrm>
          <a:prstGeom prst="roundRect">
            <a:avLst>
              <a:gd name="adj" fmla="val 14815"/>
            </a:avLst>
          </a:prstGeom>
          <a:solidFill>
            <a:srgbClr val="F2F7FA"/>
          </a:solidFill>
          <a:ln w="9525">
            <a:solidFill>
              <a:srgbClr val="D7E0E8"/>
            </a:solidFill>
            <a:prstDash val="solid"/>
          </a:ln>
        </p:spPr>
      </p:sp>
      <p:sp>
        <p:nvSpPr>
          <p:cNvPr id="12" name="Rectangle 11">
            <a:extLst>
              <a:ext uri="{FF2B5EF4-FFF2-40B4-BE49-F238E27FC236}">
                <a16:creationId xmlns:a16="http://schemas.microsoft.com/office/drawing/2014/main" id="{2489D5DB-5CF4-4C6E-8F48-09685397B0CA}"/>
              </a:ext>
            </a:extLst>
          </p:cNvPr>
          <p:cNvSpPr>
            <a:spLocks noGrp="1"/>
          </p:cNvSpPr>
          <p:nvPr/>
        </p:nvSpPr>
        <p:spPr>
          <a:xfrm>
            <a:off x="2000250" y="2590800"/>
            <a:ext cx="1828800" cy="304800"/>
          </a:xfrm>
          <a:prstGeom prst="rect">
            <a:avLst/>
          </a:prstGeom>
          <a:noFill/>
          <a:ln w="0">
            <a:noFill/>
            <a:prstDash val="solid"/>
          </a:ln>
        </p:spPr>
        <p:txBody>
          <a:bodyPr lIns="0" tIns="0" rIns="0" bIns="0" anchor="t">
            <a:normAutofit/>
          </a:bodyPr>
          <a:lstStyle/>
          <a:p>
            <a:pPr algn="l">
              <a:buNone/>
              <a:defRPr sz="1050" b="0">
                <a:solidFill>
                  <a:srgbClr val="0B1220"/>
                </a:solidFill>
                <a:latin typeface="Arial"/>
                <a:ea typeface="Arial"/>
                <a:cs typeface="Arial"/>
              </a:defRPr>
            </a:pPr>
            <a:r>
              <a:rPr sz="1050" b="0">
                <a:solidFill>
                  <a:srgbClr val="0B1220"/>
                </a:solidFill>
                <a:latin typeface="Arial"/>
                <a:ea typeface="Arial"/>
                <a:cs typeface="Arial"/>
              </a:rPr>
              <a:t>Email + password</a:t>
            </a:r>
          </a:p>
        </p:txBody>
      </p:sp>
      <p:sp>
        <p:nvSpPr>
          <p:cNvPr id="13" name="Rectangle: Rounded Corners 12">
            <a:extLst>
              <a:ext uri="{FF2B5EF4-FFF2-40B4-BE49-F238E27FC236}">
                <a16:creationId xmlns:a16="http://schemas.microsoft.com/office/drawing/2014/main" id="{AA030CC4-5208-400C-B3E0-D9A70B44DD44}"/>
              </a:ext>
            </a:extLst>
          </p:cNvPr>
          <p:cNvSpPr>
            <a:spLocks noGrp="1"/>
          </p:cNvSpPr>
          <p:nvPr/>
        </p:nvSpPr>
        <p:spPr>
          <a:xfrm>
            <a:off x="1905000" y="3143250"/>
            <a:ext cx="2019300" cy="514350"/>
          </a:xfrm>
          <a:prstGeom prst="roundRect">
            <a:avLst>
              <a:gd name="adj" fmla="val 14815"/>
            </a:avLst>
          </a:prstGeom>
          <a:solidFill>
            <a:srgbClr val="F2F7FA"/>
          </a:solidFill>
          <a:ln w="9525">
            <a:solidFill>
              <a:srgbClr val="D7E0E8"/>
            </a:solidFill>
            <a:prstDash val="solid"/>
          </a:ln>
        </p:spPr>
      </p:sp>
      <p:sp>
        <p:nvSpPr>
          <p:cNvPr id="14" name="Rectangle 13">
            <a:extLst>
              <a:ext uri="{FF2B5EF4-FFF2-40B4-BE49-F238E27FC236}">
                <a16:creationId xmlns:a16="http://schemas.microsoft.com/office/drawing/2014/main" id="{11EB06FF-F828-4066-AC09-EA98D46CECF3}"/>
              </a:ext>
            </a:extLst>
          </p:cNvPr>
          <p:cNvSpPr>
            <a:spLocks noGrp="1"/>
          </p:cNvSpPr>
          <p:nvPr/>
        </p:nvSpPr>
        <p:spPr>
          <a:xfrm>
            <a:off x="2000250" y="3257550"/>
            <a:ext cx="1828800" cy="304800"/>
          </a:xfrm>
          <a:prstGeom prst="rect">
            <a:avLst/>
          </a:prstGeom>
          <a:noFill/>
          <a:ln w="0">
            <a:noFill/>
            <a:prstDash val="solid"/>
          </a:ln>
        </p:spPr>
        <p:txBody>
          <a:bodyPr lIns="0" tIns="0" rIns="0" bIns="0" anchor="t">
            <a:normAutofit/>
          </a:bodyPr>
          <a:lstStyle/>
          <a:p>
            <a:pPr algn="l">
              <a:buNone/>
              <a:defRPr sz="1050" b="0">
                <a:solidFill>
                  <a:srgbClr val="0B1220"/>
                </a:solidFill>
                <a:latin typeface="Arial"/>
                <a:ea typeface="Arial"/>
                <a:cs typeface="Arial"/>
              </a:defRPr>
            </a:pPr>
            <a:r>
              <a:rPr sz="1050" b="0">
                <a:solidFill>
                  <a:srgbClr val="0B1220"/>
                </a:solidFill>
                <a:latin typeface="Arial"/>
                <a:ea typeface="Arial"/>
                <a:cs typeface="Arial"/>
              </a:rPr>
              <a:t>Choose education level</a:t>
            </a:r>
          </a:p>
        </p:txBody>
      </p:sp>
      <p:sp>
        <p:nvSpPr>
          <p:cNvPr id="15" name="Rectangle: Rounded Corners 14">
            <a:extLst>
              <a:ext uri="{FF2B5EF4-FFF2-40B4-BE49-F238E27FC236}">
                <a16:creationId xmlns:a16="http://schemas.microsoft.com/office/drawing/2014/main" id="{FB3C0143-F834-4704-AB97-1CAD42842CF2}"/>
              </a:ext>
            </a:extLst>
          </p:cNvPr>
          <p:cNvSpPr>
            <a:spLocks noGrp="1"/>
          </p:cNvSpPr>
          <p:nvPr/>
        </p:nvSpPr>
        <p:spPr>
          <a:xfrm>
            <a:off x="1905000" y="3810000"/>
            <a:ext cx="2019300" cy="514350"/>
          </a:xfrm>
          <a:prstGeom prst="roundRect">
            <a:avLst>
              <a:gd name="adj" fmla="val 14815"/>
            </a:avLst>
          </a:prstGeom>
          <a:solidFill>
            <a:srgbClr val="F2F7FA"/>
          </a:solidFill>
          <a:ln w="9525">
            <a:solidFill>
              <a:srgbClr val="D7E0E8"/>
            </a:solidFill>
            <a:prstDash val="solid"/>
          </a:ln>
        </p:spPr>
      </p:sp>
      <p:sp>
        <p:nvSpPr>
          <p:cNvPr id="16" name="Rectangle 15">
            <a:extLst>
              <a:ext uri="{FF2B5EF4-FFF2-40B4-BE49-F238E27FC236}">
                <a16:creationId xmlns:a16="http://schemas.microsoft.com/office/drawing/2014/main" id="{0013C3DA-6636-42D7-A807-0C72117E20AD}"/>
              </a:ext>
            </a:extLst>
          </p:cNvPr>
          <p:cNvSpPr>
            <a:spLocks noGrp="1"/>
          </p:cNvSpPr>
          <p:nvPr/>
        </p:nvSpPr>
        <p:spPr>
          <a:xfrm>
            <a:off x="2000250" y="3924300"/>
            <a:ext cx="1828800" cy="304800"/>
          </a:xfrm>
          <a:prstGeom prst="rect">
            <a:avLst/>
          </a:prstGeom>
          <a:noFill/>
          <a:ln w="0">
            <a:noFill/>
            <a:prstDash val="solid"/>
          </a:ln>
        </p:spPr>
        <p:txBody>
          <a:bodyPr lIns="0" tIns="0" rIns="0" bIns="0" anchor="t">
            <a:normAutofit/>
          </a:bodyPr>
          <a:lstStyle/>
          <a:p>
            <a:pPr algn="l">
              <a:buNone/>
              <a:defRPr sz="1050" b="0">
                <a:solidFill>
                  <a:srgbClr val="0B1220"/>
                </a:solidFill>
                <a:latin typeface="Arial"/>
                <a:ea typeface="Arial"/>
                <a:cs typeface="Arial"/>
              </a:defRPr>
            </a:pPr>
            <a:r>
              <a:rPr sz="1050" b="0">
                <a:solidFill>
                  <a:srgbClr val="0B1220"/>
                </a:solidFill>
                <a:latin typeface="Arial"/>
                <a:ea typeface="Arial"/>
                <a:cs typeface="Arial"/>
              </a:rPr>
              <a:t>Choose subjects</a:t>
            </a:r>
          </a:p>
        </p:txBody>
      </p:sp>
      <p:sp>
        <p:nvSpPr>
          <p:cNvPr id="17" name="Rectangle: Rounded Corners 16">
            <a:extLst>
              <a:ext uri="{FF2B5EF4-FFF2-40B4-BE49-F238E27FC236}">
                <a16:creationId xmlns:a16="http://schemas.microsoft.com/office/drawing/2014/main" id="{923960BE-B974-4235-B5B5-F923D3976D70}"/>
              </a:ext>
            </a:extLst>
          </p:cNvPr>
          <p:cNvSpPr>
            <a:spLocks noGrp="1"/>
          </p:cNvSpPr>
          <p:nvPr/>
        </p:nvSpPr>
        <p:spPr>
          <a:xfrm>
            <a:off x="1905000" y="4476750"/>
            <a:ext cx="2019300" cy="514350"/>
          </a:xfrm>
          <a:prstGeom prst="roundRect">
            <a:avLst>
              <a:gd name="adj" fmla="val 14815"/>
            </a:avLst>
          </a:prstGeom>
          <a:solidFill>
            <a:srgbClr val="FFF3E8"/>
          </a:solidFill>
          <a:ln w="9525">
            <a:solidFill>
              <a:srgbClr val="D7E0E8"/>
            </a:solidFill>
            <a:prstDash val="solid"/>
          </a:ln>
        </p:spPr>
      </p:sp>
      <p:sp>
        <p:nvSpPr>
          <p:cNvPr id="18" name="Rectangle 17">
            <a:extLst>
              <a:ext uri="{FF2B5EF4-FFF2-40B4-BE49-F238E27FC236}">
                <a16:creationId xmlns:a16="http://schemas.microsoft.com/office/drawing/2014/main" id="{AA150B53-72C6-4DEE-8D2C-C98BEDBE3B53}"/>
              </a:ext>
            </a:extLst>
          </p:cNvPr>
          <p:cNvSpPr>
            <a:spLocks noGrp="1"/>
          </p:cNvSpPr>
          <p:nvPr/>
        </p:nvSpPr>
        <p:spPr>
          <a:xfrm>
            <a:off x="2000250" y="4591050"/>
            <a:ext cx="1828800" cy="304800"/>
          </a:xfrm>
          <a:prstGeom prst="rect">
            <a:avLst/>
          </a:prstGeom>
          <a:noFill/>
          <a:ln w="0">
            <a:noFill/>
            <a:prstDash val="solid"/>
          </a:ln>
        </p:spPr>
        <p:txBody>
          <a:bodyPr lIns="0" tIns="0" rIns="0" bIns="0" anchor="t">
            <a:normAutofit/>
          </a:bodyPr>
          <a:lstStyle/>
          <a:p>
            <a:pPr algn="l">
              <a:buNone/>
              <a:defRPr sz="1050" b="0">
                <a:solidFill>
                  <a:srgbClr val="FF9B45"/>
                </a:solidFill>
                <a:latin typeface="Arial"/>
                <a:ea typeface="Arial"/>
                <a:cs typeface="Arial"/>
              </a:defRPr>
            </a:pPr>
            <a:r>
              <a:rPr sz="1050" b="0">
                <a:solidFill>
                  <a:srgbClr val="FF9B45"/>
                </a:solidFill>
                <a:latin typeface="Arial"/>
                <a:ea typeface="Arial"/>
                <a:cs typeface="Arial"/>
              </a:rPr>
              <a:t>Set explanation style</a:t>
            </a:r>
          </a:p>
        </p:txBody>
      </p:sp>
      <p:sp>
        <p:nvSpPr>
          <p:cNvPr id="19" name="Oval 18">
            <a:extLst>
              <a:ext uri="{FF2B5EF4-FFF2-40B4-BE49-F238E27FC236}">
                <a16:creationId xmlns:a16="http://schemas.microsoft.com/office/drawing/2014/main" id="{65A878EA-2B97-4B80-9F33-0423360B6567}"/>
              </a:ext>
            </a:extLst>
          </p:cNvPr>
          <p:cNvSpPr>
            <a:spLocks noGrp="1"/>
          </p:cNvSpPr>
          <p:nvPr/>
        </p:nvSpPr>
        <p:spPr>
          <a:xfrm>
            <a:off x="2876550" y="5791200"/>
            <a:ext cx="76200" cy="76200"/>
          </a:xfrm>
          <a:prstGeom prst="ellipse">
            <a:avLst/>
          </a:prstGeom>
          <a:solidFill>
            <a:srgbClr val="3D8DFF"/>
          </a:solidFill>
          <a:ln w="0">
            <a:solidFill>
              <a:srgbClr val="3D8DFF"/>
            </a:solidFill>
            <a:prstDash val="solid"/>
          </a:ln>
        </p:spPr>
      </p:sp>
      <p:sp>
        <p:nvSpPr>
          <p:cNvPr id="20" name="Rectangle 19">
            <a:extLst>
              <a:ext uri="{FF2B5EF4-FFF2-40B4-BE49-F238E27FC236}">
                <a16:creationId xmlns:a16="http://schemas.microsoft.com/office/drawing/2014/main" id="{32EEDAAB-686A-401D-8350-47DDB9CE9370}"/>
              </a:ext>
            </a:extLst>
          </p:cNvPr>
          <p:cNvSpPr>
            <a:spLocks noGrp="1"/>
          </p:cNvSpPr>
          <p:nvPr/>
        </p:nvSpPr>
        <p:spPr>
          <a:xfrm>
            <a:off x="1485900" y="6134100"/>
            <a:ext cx="2857500" cy="304800"/>
          </a:xfrm>
          <a:prstGeom prst="rect">
            <a:avLst/>
          </a:prstGeom>
          <a:noFill/>
          <a:ln w="0">
            <a:noFill/>
            <a:prstDash val="solid"/>
          </a:ln>
        </p:spPr>
        <p:txBody>
          <a:bodyPr lIns="0" tIns="0" rIns="0" bIns="0" anchor="t">
            <a:normAutofit/>
          </a:bodyPr>
          <a:lstStyle/>
          <a:p>
            <a:pPr algn="ctr">
              <a:buNone/>
              <a:defRPr sz="1050" b="0">
                <a:solidFill>
                  <a:srgbClr val="586879"/>
                </a:solidFill>
                <a:latin typeface="Arial"/>
                <a:ea typeface="Arial"/>
                <a:cs typeface="Arial"/>
              </a:defRPr>
            </a:pPr>
            <a:r>
              <a:rPr sz="1050" b="0">
                <a:solidFill>
                  <a:srgbClr val="586879"/>
                </a:solidFill>
                <a:latin typeface="Arial"/>
                <a:ea typeface="Arial"/>
                <a:cs typeface="Arial"/>
              </a:rPr>
              <a:t>Replace with actual app screenshot</a:t>
            </a:r>
          </a:p>
        </p:txBody>
      </p:sp>
      <p:sp>
        <p:nvSpPr>
          <p:cNvPr id="21" name="Rectangle 20">
            <a:extLst>
              <a:ext uri="{FF2B5EF4-FFF2-40B4-BE49-F238E27FC236}">
                <a16:creationId xmlns:a16="http://schemas.microsoft.com/office/drawing/2014/main" id="{67664DF8-3B87-4EEF-9757-F03D772602E9}"/>
              </a:ext>
            </a:extLst>
          </p:cNvPr>
          <p:cNvSpPr>
            <a:spLocks noGrp="1"/>
          </p:cNvSpPr>
          <p:nvPr/>
        </p:nvSpPr>
        <p:spPr>
          <a:xfrm>
            <a:off x="609600" y="1924050"/>
            <a:ext cx="5257800" cy="38100"/>
          </a:xfrm>
          <a:prstGeom prst="rect">
            <a:avLst/>
          </a:prstGeom>
          <a:solidFill>
            <a:srgbClr val="3D8DFF"/>
          </a:solidFill>
          <a:ln w="0">
            <a:solidFill>
              <a:srgbClr val="3D8DFF"/>
            </a:solidFill>
            <a:prstDash val="solid"/>
          </a:ln>
        </p:spPr>
      </p:sp>
      <p:sp>
        <p:nvSpPr>
          <p:cNvPr id="22" name="Rectangle 21">
            <a:extLst>
              <a:ext uri="{FF2B5EF4-FFF2-40B4-BE49-F238E27FC236}">
                <a16:creationId xmlns:a16="http://schemas.microsoft.com/office/drawing/2014/main" id="{21BF57ED-B646-4F85-92AA-7B5B808C2BBF}"/>
              </a:ext>
            </a:extLst>
          </p:cNvPr>
          <p:cNvSpPr>
            <a:spLocks noGrp="1"/>
          </p:cNvSpPr>
          <p:nvPr/>
        </p:nvSpPr>
        <p:spPr>
          <a:xfrm>
            <a:off x="6324600" y="1924050"/>
            <a:ext cx="5257800" cy="38100"/>
          </a:xfrm>
          <a:prstGeom prst="rect">
            <a:avLst/>
          </a:prstGeom>
          <a:solidFill>
            <a:srgbClr val="FF9B45"/>
          </a:solidFill>
          <a:ln w="0">
            <a:solidFill>
              <a:srgbClr val="FF9B45"/>
            </a:solidFill>
            <a:prstDash val="solid"/>
          </a:ln>
        </p:spPr>
      </p:sp>
      <p:sp>
        <p:nvSpPr>
          <p:cNvPr id="23" name="Rectangle 22">
            <a:extLst>
              <a:ext uri="{FF2B5EF4-FFF2-40B4-BE49-F238E27FC236}">
                <a16:creationId xmlns:a16="http://schemas.microsoft.com/office/drawing/2014/main" id="{549DD181-B7B6-4F4E-84E3-80ACCBFDD13E}"/>
              </a:ext>
            </a:extLst>
          </p:cNvPr>
          <p:cNvSpPr>
            <a:spLocks noGrp="1"/>
          </p:cNvSpPr>
          <p:nvPr/>
        </p:nvSpPr>
        <p:spPr>
          <a:xfrm>
            <a:off x="609600" y="2095500"/>
            <a:ext cx="5257800" cy="381000"/>
          </a:xfrm>
          <a:prstGeom prst="rect">
            <a:avLst/>
          </a:prstGeom>
          <a:noFill/>
          <a:ln w="0">
            <a:noFill/>
            <a:prstDash val="solid"/>
          </a:ln>
        </p:spPr>
        <p:txBody>
          <a:bodyPr lIns="0" tIns="0" rIns="0" bIns="0" anchor="t">
            <a:normAutofit/>
          </a:bodyPr>
          <a:lstStyle/>
          <a:p>
            <a:pPr algn="l">
              <a:buNone/>
              <a:defRPr sz="1800" b="1">
                <a:solidFill>
                  <a:srgbClr val="3D8DFF"/>
                </a:solidFill>
                <a:latin typeface="Arial"/>
                <a:ea typeface="Arial"/>
                <a:cs typeface="Arial"/>
              </a:defRPr>
            </a:pPr>
            <a:r>
              <a:rPr sz="1800" b="1">
                <a:solidFill>
                  <a:srgbClr val="3D8DFF"/>
                </a:solidFill>
                <a:latin typeface="Arial"/>
                <a:ea typeface="Arial"/>
                <a:cs typeface="Arial"/>
              </a:rPr>
              <a:t>Presenter focus</a:t>
            </a:r>
          </a:p>
        </p:txBody>
      </p:sp>
      <p:sp>
        <p:nvSpPr>
          <p:cNvPr id="24" name="Rectangle 23">
            <a:extLst>
              <a:ext uri="{FF2B5EF4-FFF2-40B4-BE49-F238E27FC236}">
                <a16:creationId xmlns:a16="http://schemas.microsoft.com/office/drawing/2014/main" id="{A0081E2B-2A7F-4073-B8D4-DEEBB00B7F98}"/>
              </a:ext>
            </a:extLst>
          </p:cNvPr>
          <p:cNvSpPr>
            <a:spLocks noGrp="1"/>
          </p:cNvSpPr>
          <p:nvPr/>
        </p:nvSpPr>
        <p:spPr>
          <a:xfrm>
            <a:off x="609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 How a new user registers</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How preferences are selected</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What is required vs optional</a:t>
            </a:r>
          </a:p>
        </p:txBody>
      </p:sp>
      <p:sp>
        <p:nvSpPr>
          <p:cNvPr id="25" name="Rectangle 24">
            <a:extLst>
              <a:ext uri="{FF2B5EF4-FFF2-40B4-BE49-F238E27FC236}">
                <a16:creationId xmlns:a16="http://schemas.microsoft.com/office/drawing/2014/main" id="{B9F6BAA8-C648-43A5-A4AD-8C40EC8F6129}"/>
              </a:ext>
            </a:extLst>
          </p:cNvPr>
          <p:cNvSpPr>
            <a:spLocks noGrp="1"/>
          </p:cNvSpPr>
          <p:nvPr/>
        </p:nvSpPr>
        <p:spPr>
          <a:xfrm>
            <a:off x="6324600" y="2095500"/>
            <a:ext cx="5257800" cy="381000"/>
          </a:xfrm>
          <a:prstGeom prst="rect">
            <a:avLst/>
          </a:prstGeom>
          <a:noFill/>
          <a:ln w="0">
            <a:noFill/>
            <a:prstDash val="solid"/>
          </a:ln>
        </p:spPr>
        <p:txBody>
          <a:bodyPr lIns="0" tIns="0" rIns="0" bIns="0" anchor="t">
            <a:normAutofit/>
          </a:bodyPr>
          <a:lstStyle/>
          <a:p>
            <a:pPr algn="l">
              <a:buNone/>
              <a:defRPr sz="1800" b="1">
                <a:solidFill>
                  <a:srgbClr val="FF9B45"/>
                </a:solidFill>
                <a:latin typeface="Arial"/>
                <a:ea typeface="Arial"/>
                <a:cs typeface="Arial"/>
              </a:defRPr>
            </a:pPr>
            <a:r>
              <a:rPr sz="1800" b="1">
                <a:solidFill>
                  <a:srgbClr val="FF9B45"/>
                </a:solidFill>
                <a:latin typeface="Arial"/>
                <a:ea typeface="Arial"/>
                <a:cs typeface="Arial"/>
              </a:rPr>
              <a:t>Requirement demonstrated</a:t>
            </a:r>
          </a:p>
        </p:txBody>
      </p:sp>
      <p:sp>
        <p:nvSpPr>
          <p:cNvPr id="26" name="Rectangle 25">
            <a:extLst>
              <a:ext uri="{FF2B5EF4-FFF2-40B4-BE49-F238E27FC236}">
                <a16:creationId xmlns:a16="http://schemas.microsoft.com/office/drawing/2014/main" id="{D56D6CE5-DD4F-438C-A19B-6702CEA8643C}"/>
              </a:ext>
            </a:extLst>
          </p:cNvPr>
          <p:cNvSpPr>
            <a:spLocks noGrp="1"/>
          </p:cNvSpPr>
          <p:nvPr/>
        </p:nvSpPr>
        <p:spPr>
          <a:xfrm>
            <a:off x="6324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User registration, secure login and first-use profile choices.</a:t>
            </a:r>
          </a:p>
        </p:txBody>
      </p:sp>
    </p:spTree>
    <p:extLst>
      <p:ext uri="{BB962C8B-B14F-4D97-AF65-F5344CB8AC3E}">
        <p14:creationId xmlns:p14="http://schemas.microsoft.com/office/powerpoint/2010/main" val="10124171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D0AAADD7-EAA0-4454-AF32-503556A21502}"/>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DEMO / 02 - ASK</a:t>
            </a:r>
          </a:p>
        </p:txBody>
      </p:sp>
      <p:sp>
        <p:nvSpPr>
          <p:cNvPr id="2" name="Rectangle 1">
            <a:extLst>
              <a:ext uri="{FF2B5EF4-FFF2-40B4-BE49-F238E27FC236}">
                <a16:creationId xmlns:a16="http://schemas.microsoft.com/office/drawing/2014/main" id="{8FD5689A-AFA6-433B-8DFA-19FA1E8AE600}"/>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33</a:t>
            </a:r>
          </a:p>
        </p:txBody>
      </p:sp>
      <p:sp>
        <p:nvSpPr>
          <p:cNvPr id="3" name="Rectangle 2">
            <a:extLst>
              <a:ext uri="{FF2B5EF4-FFF2-40B4-BE49-F238E27FC236}">
                <a16:creationId xmlns:a16="http://schemas.microsoft.com/office/drawing/2014/main" id="{B191AC62-D065-42DE-A208-F5BF8639B8FA}"/>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9D7859EE-9C3B-4BDA-BD21-425F28320E9B}"/>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1EF4EB0F-AFF1-451D-9BBA-E3A895014473}"/>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Demo 2: submit a text or image question</a:t>
            </a:r>
          </a:p>
        </p:txBody>
      </p:sp>
      <p:sp>
        <p:nvSpPr>
          <p:cNvPr id="6" name="Rectangle 5">
            <a:extLst>
              <a:ext uri="{FF2B5EF4-FFF2-40B4-BE49-F238E27FC236}">
                <a16:creationId xmlns:a16="http://schemas.microsoft.com/office/drawing/2014/main" id="{26349579-F2F3-4D9E-8E8C-6E49411017E4}"/>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The strongest demo moment is the shortest path from confusion to a submitted question.</a:t>
            </a:r>
          </a:p>
        </p:txBody>
      </p:sp>
      <p:sp>
        <p:nvSpPr>
          <p:cNvPr id="7" name="Rectangle: Rounded Corners 6">
            <a:extLst>
              <a:ext uri="{FF2B5EF4-FFF2-40B4-BE49-F238E27FC236}">
                <a16:creationId xmlns:a16="http://schemas.microsoft.com/office/drawing/2014/main" id="{298597BF-3A77-4AB4-8A9C-B123F04214F5}"/>
              </a:ext>
            </a:extLst>
          </p:cNvPr>
          <p:cNvSpPr>
            <a:spLocks noGrp="1"/>
          </p:cNvSpPr>
          <p:nvPr/>
        </p:nvSpPr>
        <p:spPr>
          <a:xfrm>
            <a:off x="1714500" y="1695450"/>
            <a:ext cx="2400300" cy="4324350"/>
          </a:xfrm>
          <a:prstGeom prst="roundRect">
            <a:avLst>
              <a:gd name="adj" fmla="val 3175"/>
            </a:avLst>
          </a:prstGeom>
          <a:solidFill>
            <a:srgbClr val="0F2A43"/>
          </a:solidFill>
          <a:ln w="0">
            <a:solidFill>
              <a:srgbClr val="0F2A43"/>
            </a:solidFill>
            <a:prstDash val="solid"/>
          </a:ln>
        </p:spPr>
      </p:sp>
      <p:sp>
        <p:nvSpPr>
          <p:cNvPr id="8" name="Rectangle: Rounded Corners 7">
            <a:extLst>
              <a:ext uri="{FF2B5EF4-FFF2-40B4-BE49-F238E27FC236}">
                <a16:creationId xmlns:a16="http://schemas.microsoft.com/office/drawing/2014/main" id="{F9588AEA-AA32-46C9-BFCB-8706675A8AA9}"/>
              </a:ext>
            </a:extLst>
          </p:cNvPr>
          <p:cNvSpPr>
            <a:spLocks noGrp="1"/>
          </p:cNvSpPr>
          <p:nvPr/>
        </p:nvSpPr>
        <p:spPr>
          <a:xfrm>
            <a:off x="1809750" y="1809750"/>
            <a:ext cx="2209800" cy="4095750"/>
          </a:xfrm>
          <a:prstGeom prst="roundRect">
            <a:avLst>
              <a:gd name="adj" fmla="val 3448"/>
            </a:avLst>
          </a:prstGeom>
          <a:solidFill>
            <a:srgbClr val="FFFFFF"/>
          </a:solidFill>
          <a:ln w="0">
            <a:solidFill>
              <a:srgbClr val="FFFFFF"/>
            </a:solidFill>
            <a:prstDash val="solid"/>
          </a:ln>
        </p:spPr>
      </p:sp>
      <p:sp>
        <p:nvSpPr>
          <p:cNvPr id="9" name="Rectangle: Rounded Corners 8">
            <a:extLst>
              <a:ext uri="{FF2B5EF4-FFF2-40B4-BE49-F238E27FC236}">
                <a16:creationId xmlns:a16="http://schemas.microsoft.com/office/drawing/2014/main" id="{A75DAB6B-4614-4844-B3EF-30180573ED53}"/>
              </a:ext>
            </a:extLst>
          </p:cNvPr>
          <p:cNvSpPr>
            <a:spLocks noGrp="1"/>
          </p:cNvSpPr>
          <p:nvPr/>
        </p:nvSpPr>
        <p:spPr>
          <a:xfrm>
            <a:off x="2590800" y="1743075"/>
            <a:ext cx="647700" cy="95250"/>
          </a:xfrm>
          <a:prstGeom prst="roundRect">
            <a:avLst>
              <a:gd name="adj" fmla="val 50000"/>
            </a:avLst>
          </a:prstGeom>
          <a:solidFill>
            <a:srgbClr val="0B1220"/>
          </a:solidFill>
          <a:ln w="0">
            <a:solidFill>
              <a:srgbClr val="0B1220"/>
            </a:solidFill>
            <a:prstDash val="solid"/>
          </a:ln>
        </p:spPr>
      </p:sp>
      <p:sp>
        <p:nvSpPr>
          <p:cNvPr id="10" name="Rectangle 9">
            <a:extLst>
              <a:ext uri="{FF2B5EF4-FFF2-40B4-BE49-F238E27FC236}">
                <a16:creationId xmlns:a16="http://schemas.microsoft.com/office/drawing/2014/main" id="{3ADD6762-9722-4306-8B6F-9D415B90EA1A}"/>
              </a:ext>
            </a:extLst>
          </p:cNvPr>
          <p:cNvSpPr>
            <a:spLocks noGrp="1"/>
          </p:cNvSpPr>
          <p:nvPr/>
        </p:nvSpPr>
        <p:spPr>
          <a:xfrm>
            <a:off x="1943100" y="2057400"/>
            <a:ext cx="1943100" cy="247650"/>
          </a:xfrm>
          <a:prstGeom prst="rect">
            <a:avLst/>
          </a:prstGeom>
          <a:noFill/>
          <a:ln w="0">
            <a:noFill/>
            <a:prstDash val="solid"/>
          </a:ln>
        </p:spPr>
        <p:txBody>
          <a:bodyPr lIns="0" tIns="0" rIns="0" bIns="0" anchor="t">
            <a:normAutofit/>
          </a:bodyPr>
          <a:lstStyle/>
          <a:p>
            <a:pPr algn="l">
              <a:buNone/>
              <a:defRPr sz="1200" b="1">
                <a:solidFill>
                  <a:srgbClr val="0F2A43"/>
                </a:solidFill>
                <a:latin typeface="Arial"/>
                <a:ea typeface="Arial"/>
                <a:cs typeface="Arial"/>
              </a:defRPr>
            </a:pPr>
            <a:r>
              <a:rPr sz="1200" b="1">
                <a:solidFill>
                  <a:srgbClr val="0F2A43"/>
                </a:solidFill>
                <a:latin typeface="Arial"/>
                <a:ea typeface="Arial"/>
                <a:cs typeface="Arial"/>
              </a:rPr>
              <a:t>New question</a:t>
            </a:r>
          </a:p>
        </p:txBody>
      </p:sp>
      <p:sp>
        <p:nvSpPr>
          <p:cNvPr id="11" name="Rectangle: Rounded Corners 10">
            <a:extLst>
              <a:ext uri="{FF2B5EF4-FFF2-40B4-BE49-F238E27FC236}">
                <a16:creationId xmlns:a16="http://schemas.microsoft.com/office/drawing/2014/main" id="{A942379A-D251-48A9-B5D3-F86115A43A92}"/>
              </a:ext>
            </a:extLst>
          </p:cNvPr>
          <p:cNvSpPr>
            <a:spLocks noGrp="1"/>
          </p:cNvSpPr>
          <p:nvPr/>
        </p:nvSpPr>
        <p:spPr>
          <a:xfrm>
            <a:off x="1905000" y="2476500"/>
            <a:ext cx="2019300" cy="514350"/>
          </a:xfrm>
          <a:prstGeom prst="roundRect">
            <a:avLst>
              <a:gd name="adj" fmla="val 14815"/>
            </a:avLst>
          </a:prstGeom>
          <a:solidFill>
            <a:srgbClr val="F2F7FA"/>
          </a:solidFill>
          <a:ln w="9525">
            <a:solidFill>
              <a:srgbClr val="D7E0E8"/>
            </a:solidFill>
            <a:prstDash val="solid"/>
          </a:ln>
        </p:spPr>
      </p:sp>
      <p:sp>
        <p:nvSpPr>
          <p:cNvPr id="12" name="Rectangle 11">
            <a:extLst>
              <a:ext uri="{FF2B5EF4-FFF2-40B4-BE49-F238E27FC236}">
                <a16:creationId xmlns:a16="http://schemas.microsoft.com/office/drawing/2014/main" id="{E643A980-52E9-424F-BB4B-95913BC7A034}"/>
              </a:ext>
            </a:extLst>
          </p:cNvPr>
          <p:cNvSpPr>
            <a:spLocks noGrp="1"/>
          </p:cNvSpPr>
          <p:nvPr/>
        </p:nvSpPr>
        <p:spPr>
          <a:xfrm>
            <a:off x="2000250" y="2590800"/>
            <a:ext cx="1828800" cy="304800"/>
          </a:xfrm>
          <a:prstGeom prst="rect">
            <a:avLst/>
          </a:prstGeom>
          <a:noFill/>
          <a:ln w="0">
            <a:noFill/>
            <a:prstDash val="solid"/>
          </a:ln>
        </p:spPr>
        <p:txBody>
          <a:bodyPr lIns="0" tIns="0" rIns="0" bIns="0" anchor="t">
            <a:normAutofit/>
          </a:bodyPr>
          <a:lstStyle/>
          <a:p>
            <a:pPr algn="l">
              <a:buNone/>
              <a:defRPr sz="1050" b="0">
                <a:solidFill>
                  <a:srgbClr val="0B1220"/>
                </a:solidFill>
                <a:latin typeface="Arial"/>
                <a:ea typeface="Arial"/>
                <a:cs typeface="Arial"/>
              </a:defRPr>
            </a:pPr>
            <a:r>
              <a:rPr sz="1050" b="0">
                <a:solidFill>
                  <a:srgbClr val="0B1220"/>
                </a:solidFill>
                <a:latin typeface="Arial"/>
                <a:ea typeface="Arial"/>
                <a:cs typeface="Arial"/>
              </a:rPr>
              <a:t>Type a question</a:t>
            </a:r>
          </a:p>
        </p:txBody>
      </p:sp>
      <p:sp>
        <p:nvSpPr>
          <p:cNvPr id="13" name="Rectangle: Rounded Corners 12">
            <a:extLst>
              <a:ext uri="{FF2B5EF4-FFF2-40B4-BE49-F238E27FC236}">
                <a16:creationId xmlns:a16="http://schemas.microsoft.com/office/drawing/2014/main" id="{166C9546-888D-4147-A234-D0EBF5FF0ECA}"/>
              </a:ext>
            </a:extLst>
          </p:cNvPr>
          <p:cNvSpPr>
            <a:spLocks noGrp="1"/>
          </p:cNvSpPr>
          <p:nvPr/>
        </p:nvSpPr>
        <p:spPr>
          <a:xfrm>
            <a:off x="1905000" y="3143250"/>
            <a:ext cx="2019300" cy="514350"/>
          </a:xfrm>
          <a:prstGeom prst="roundRect">
            <a:avLst>
              <a:gd name="adj" fmla="val 14815"/>
            </a:avLst>
          </a:prstGeom>
          <a:solidFill>
            <a:srgbClr val="F2F7FA"/>
          </a:solidFill>
          <a:ln w="9525">
            <a:solidFill>
              <a:srgbClr val="D7E0E8"/>
            </a:solidFill>
            <a:prstDash val="solid"/>
          </a:ln>
        </p:spPr>
      </p:sp>
      <p:sp>
        <p:nvSpPr>
          <p:cNvPr id="14" name="Rectangle 13">
            <a:extLst>
              <a:ext uri="{FF2B5EF4-FFF2-40B4-BE49-F238E27FC236}">
                <a16:creationId xmlns:a16="http://schemas.microsoft.com/office/drawing/2014/main" id="{AC77018B-CF2D-4FE4-B5DE-946DFE3FE336}"/>
              </a:ext>
            </a:extLst>
          </p:cNvPr>
          <p:cNvSpPr>
            <a:spLocks noGrp="1"/>
          </p:cNvSpPr>
          <p:nvPr/>
        </p:nvSpPr>
        <p:spPr>
          <a:xfrm>
            <a:off x="2000250" y="3257550"/>
            <a:ext cx="1828800" cy="304800"/>
          </a:xfrm>
          <a:prstGeom prst="rect">
            <a:avLst/>
          </a:prstGeom>
          <a:noFill/>
          <a:ln w="0">
            <a:noFill/>
            <a:prstDash val="solid"/>
          </a:ln>
        </p:spPr>
        <p:txBody>
          <a:bodyPr lIns="0" tIns="0" rIns="0" bIns="0" anchor="t">
            <a:normAutofit/>
          </a:bodyPr>
          <a:lstStyle/>
          <a:p>
            <a:pPr algn="l">
              <a:buNone/>
              <a:defRPr sz="1050" b="0">
                <a:solidFill>
                  <a:srgbClr val="0B1220"/>
                </a:solidFill>
                <a:latin typeface="Arial"/>
                <a:ea typeface="Arial"/>
                <a:cs typeface="Arial"/>
              </a:defRPr>
            </a:pPr>
            <a:r>
              <a:rPr sz="1050" b="0">
                <a:solidFill>
                  <a:srgbClr val="0B1220"/>
                </a:solidFill>
                <a:latin typeface="Arial"/>
                <a:ea typeface="Arial"/>
                <a:cs typeface="Arial"/>
              </a:rPr>
              <a:t>Take a homework photo</a:t>
            </a:r>
          </a:p>
        </p:txBody>
      </p:sp>
      <p:sp>
        <p:nvSpPr>
          <p:cNvPr id="15" name="Rectangle: Rounded Corners 14">
            <a:extLst>
              <a:ext uri="{FF2B5EF4-FFF2-40B4-BE49-F238E27FC236}">
                <a16:creationId xmlns:a16="http://schemas.microsoft.com/office/drawing/2014/main" id="{0EE51C12-8AFA-4928-BBFD-6C88D8931AD8}"/>
              </a:ext>
            </a:extLst>
          </p:cNvPr>
          <p:cNvSpPr>
            <a:spLocks noGrp="1"/>
          </p:cNvSpPr>
          <p:nvPr/>
        </p:nvSpPr>
        <p:spPr>
          <a:xfrm>
            <a:off x="1905000" y="3810000"/>
            <a:ext cx="2019300" cy="514350"/>
          </a:xfrm>
          <a:prstGeom prst="roundRect">
            <a:avLst>
              <a:gd name="adj" fmla="val 14815"/>
            </a:avLst>
          </a:prstGeom>
          <a:solidFill>
            <a:srgbClr val="F2F7FA"/>
          </a:solidFill>
          <a:ln w="9525">
            <a:solidFill>
              <a:srgbClr val="D7E0E8"/>
            </a:solidFill>
            <a:prstDash val="solid"/>
          </a:ln>
        </p:spPr>
      </p:sp>
      <p:sp>
        <p:nvSpPr>
          <p:cNvPr id="16" name="Rectangle 15">
            <a:extLst>
              <a:ext uri="{FF2B5EF4-FFF2-40B4-BE49-F238E27FC236}">
                <a16:creationId xmlns:a16="http://schemas.microsoft.com/office/drawing/2014/main" id="{DCCDC451-21E7-4502-A46D-5BFDDE355496}"/>
              </a:ext>
            </a:extLst>
          </p:cNvPr>
          <p:cNvSpPr>
            <a:spLocks noGrp="1"/>
          </p:cNvSpPr>
          <p:nvPr/>
        </p:nvSpPr>
        <p:spPr>
          <a:xfrm>
            <a:off x="2000250" y="3924300"/>
            <a:ext cx="1828800" cy="304800"/>
          </a:xfrm>
          <a:prstGeom prst="rect">
            <a:avLst/>
          </a:prstGeom>
          <a:noFill/>
          <a:ln w="0">
            <a:noFill/>
            <a:prstDash val="solid"/>
          </a:ln>
        </p:spPr>
        <p:txBody>
          <a:bodyPr lIns="0" tIns="0" rIns="0" bIns="0" anchor="t">
            <a:normAutofit/>
          </a:bodyPr>
          <a:lstStyle/>
          <a:p>
            <a:pPr algn="l">
              <a:buNone/>
              <a:defRPr sz="1050" b="0">
                <a:solidFill>
                  <a:srgbClr val="0B1220"/>
                </a:solidFill>
                <a:latin typeface="Arial"/>
                <a:ea typeface="Arial"/>
                <a:cs typeface="Arial"/>
              </a:defRPr>
            </a:pPr>
            <a:r>
              <a:rPr sz="1050" b="0">
                <a:solidFill>
                  <a:srgbClr val="0B1220"/>
                </a:solidFill>
                <a:latin typeface="Arial"/>
                <a:ea typeface="Arial"/>
                <a:cs typeface="Arial"/>
              </a:rPr>
              <a:t>Select subject</a:t>
            </a:r>
          </a:p>
        </p:txBody>
      </p:sp>
      <p:sp>
        <p:nvSpPr>
          <p:cNvPr id="17" name="Rectangle: Rounded Corners 16">
            <a:extLst>
              <a:ext uri="{FF2B5EF4-FFF2-40B4-BE49-F238E27FC236}">
                <a16:creationId xmlns:a16="http://schemas.microsoft.com/office/drawing/2014/main" id="{42BEB4FD-0228-46DF-8018-C3719D786E4D}"/>
              </a:ext>
            </a:extLst>
          </p:cNvPr>
          <p:cNvSpPr>
            <a:spLocks noGrp="1"/>
          </p:cNvSpPr>
          <p:nvPr/>
        </p:nvSpPr>
        <p:spPr>
          <a:xfrm>
            <a:off x="1905000" y="4476750"/>
            <a:ext cx="2019300" cy="514350"/>
          </a:xfrm>
          <a:prstGeom prst="roundRect">
            <a:avLst>
              <a:gd name="adj" fmla="val 14815"/>
            </a:avLst>
          </a:prstGeom>
          <a:solidFill>
            <a:srgbClr val="FFF3E8"/>
          </a:solidFill>
          <a:ln w="9525">
            <a:solidFill>
              <a:srgbClr val="D7E0E8"/>
            </a:solidFill>
            <a:prstDash val="solid"/>
          </a:ln>
        </p:spPr>
      </p:sp>
      <p:sp>
        <p:nvSpPr>
          <p:cNvPr id="18" name="Rectangle 17">
            <a:extLst>
              <a:ext uri="{FF2B5EF4-FFF2-40B4-BE49-F238E27FC236}">
                <a16:creationId xmlns:a16="http://schemas.microsoft.com/office/drawing/2014/main" id="{CCCE65D6-1C62-45A5-A952-53099B887ED7}"/>
              </a:ext>
            </a:extLst>
          </p:cNvPr>
          <p:cNvSpPr>
            <a:spLocks noGrp="1"/>
          </p:cNvSpPr>
          <p:nvPr/>
        </p:nvSpPr>
        <p:spPr>
          <a:xfrm>
            <a:off x="2000250" y="4591050"/>
            <a:ext cx="1828800" cy="304800"/>
          </a:xfrm>
          <a:prstGeom prst="rect">
            <a:avLst/>
          </a:prstGeom>
          <a:noFill/>
          <a:ln w="0">
            <a:noFill/>
            <a:prstDash val="solid"/>
          </a:ln>
        </p:spPr>
        <p:txBody>
          <a:bodyPr lIns="0" tIns="0" rIns="0" bIns="0" anchor="t">
            <a:normAutofit/>
          </a:bodyPr>
          <a:lstStyle/>
          <a:p>
            <a:pPr algn="l">
              <a:buNone/>
              <a:defRPr sz="1050" b="0">
                <a:solidFill>
                  <a:srgbClr val="FF9B45"/>
                </a:solidFill>
                <a:latin typeface="Arial"/>
                <a:ea typeface="Arial"/>
                <a:cs typeface="Arial"/>
              </a:defRPr>
            </a:pPr>
            <a:r>
              <a:rPr sz="1050" b="0">
                <a:solidFill>
                  <a:srgbClr val="FF9B45"/>
                </a:solidFill>
                <a:latin typeface="Arial"/>
                <a:ea typeface="Arial"/>
                <a:cs typeface="Arial"/>
              </a:rPr>
              <a:t>Send to Mentor</a:t>
            </a:r>
          </a:p>
        </p:txBody>
      </p:sp>
      <p:sp>
        <p:nvSpPr>
          <p:cNvPr id="19" name="Oval 18">
            <a:extLst>
              <a:ext uri="{FF2B5EF4-FFF2-40B4-BE49-F238E27FC236}">
                <a16:creationId xmlns:a16="http://schemas.microsoft.com/office/drawing/2014/main" id="{F6350846-74FB-4B5E-A3DC-D1A0AB42D82B}"/>
              </a:ext>
            </a:extLst>
          </p:cNvPr>
          <p:cNvSpPr>
            <a:spLocks noGrp="1"/>
          </p:cNvSpPr>
          <p:nvPr/>
        </p:nvSpPr>
        <p:spPr>
          <a:xfrm>
            <a:off x="2876550" y="5791200"/>
            <a:ext cx="76200" cy="76200"/>
          </a:xfrm>
          <a:prstGeom prst="ellipse">
            <a:avLst/>
          </a:prstGeom>
          <a:solidFill>
            <a:srgbClr val="FF9B45"/>
          </a:solidFill>
          <a:ln w="0">
            <a:solidFill>
              <a:srgbClr val="FF9B45"/>
            </a:solidFill>
            <a:prstDash val="solid"/>
          </a:ln>
        </p:spPr>
      </p:sp>
      <p:sp>
        <p:nvSpPr>
          <p:cNvPr id="20" name="Rectangle 19">
            <a:extLst>
              <a:ext uri="{FF2B5EF4-FFF2-40B4-BE49-F238E27FC236}">
                <a16:creationId xmlns:a16="http://schemas.microsoft.com/office/drawing/2014/main" id="{EBB758EC-DCA1-4E95-A801-49DFCF138C4D}"/>
              </a:ext>
            </a:extLst>
          </p:cNvPr>
          <p:cNvSpPr>
            <a:spLocks noGrp="1"/>
          </p:cNvSpPr>
          <p:nvPr/>
        </p:nvSpPr>
        <p:spPr>
          <a:xfrm>
            <a:off x="1485900" y="6134100"/>
            <a:ext cx="2857500" cy="304800"/>
          </a:xfrm>
          <a:prstGeom prst="rect">
            <a:avLst/>
          </a:prstGeom>
          <a:noFill/>
          <a:ln w="0">
            <a:noFill/>
            <a:prstDash val="solid"/>
          </a:ln>
        </p:spPr>
        <p:txBody>
          <a:bodyPr lIns="0" tIns="0" rIns="0" bIns="0" anchor="t">
            <a:normAutofit/>
          </a:bodyPr>
          <a:lstStyle/>
          <a:p>
            <a:pPr algn="ctr">
              <a:buNone/>
              <a:defRPr sz="1050" b="0">
                <a:solidFill>
                  <a:srgbClr val="586879"/>
                </a:solidFill>
                <a:latin typeface="Arial"/>
                <a:ea typeface="Arial"/>
                <a:cs typeface="Arial"/>
              </a:defRPr>
            </a:pPr>
            <a:r>
              <a:rPr sz="1050" b="0">
                <a:solidFill>
                  <a:srgbClr val="586879"/>
                </a:solidFill>
                <a:latin typeface="Arial"/>
                <a:ea typeface="Arial"/>
                <a:cs typeface="Arial"/>
              </a:rPr>
              <a:t>Replace with actual app screenshot</a:t>
            </a:r>
          </a:p>
        </p:txBody>
      </p:sp>
      <p:sp>
        <p:nvSpPr>
          <p:cNvPr id="21" name="Rectangle 20">
            <a:extLst>
              <a:ext uri="{FF2B5EF4-FFF2-40B4-BE49-F238E27FC236}">
                <a16:creationId xmlns:a16="http://schemas.microsoft.com/office/drawing/2014/main" id="{F4DB7C13-47CA-4AD4-A03C-17D6CD8E3C8D}"/>
              </a:ext>
            </a:extLst>
          </p:cNvPr>
          <p:cNvSpPr>
            <a:spLocks noGrp="1"/>
          </p:cNvSpPr>
          <p:nvPr/>
        </p:nvSpPr>
        <p:spPr>
          <a:xfrm>
            <a:off x="609600" y="1924050"/>
            <a:ext cx="5257800" cy="38100"/>
          </a:xfrm>
          <a:prstGeom prst="rect">
            <a:avLst/>
          </a:prstGeom>
          <a:solidFill>
            <a:srgbClr val="FF9B45"/>
          </a:solidFill>
          <a:ln w="0">
            <a:solidFill>
              <a:srgbClr val="FF9B45"/>
            </a:solidFill>
            <a:prstDash val="solid"/>
          </a:ln>
        </p:spPr>
      </p:sp>
      <p:sp>
        <p:nvSpPr>
          <p:cNvPr id="22" name="Rectangle 21">
            <a:extLst>
              <a:ext uri="{FF2B5EF4-FFF2-40B4-BE49-F238E27FC236}">
                <a16:creationId xmlns:a16="http://schemas.microsoft.com/office/drawing/2014/main" id="{E4F83223-FD91-40B7-86EF-2C8811F5562B}"/>
              </a:ext>
            </a:extLst>
          </p:cNvPr>
          <p:cNvSpPr>
            <a:spLocks noGrp="1"/>
          </p:cNvSpPr>
          <p:nvPr/>
        </p:nvSpPr>
        <p:spPr>
          <a:xfrm>
            <a:off x="6324600" y="1924050"/>
            <a:ext cx="5257800" cy="38100"/>
          </a:xfrm>
          <a:prstGeom prst="rect">
            <a:avLst/>
          </a:prstGeom>
          <a:solidFill>
            <a:srgbClr val="3D8DFF"/>
          </a:solidFill>
          <a:ln w="0">
            <a:solidFill>
              <a:srgbClr val="3D8DFF"/>
            </a:solidFill>
            <a:prstDash val="solid"/>
          </a:ln>
        </p:spPr>
      </p:sp>
      <p:sp>
        <p:nvSpPr>
          <p:cNvPr id="23" name="Rectangle 22">
            <a:extLst>
              <a:ext uri="{FF2B5EF4-FFF2-40B4-BE49-F238E27FC236}">
                <a16:creationId xmlns:a16="http://schemas.microsoft.com/office/drawing/2014/main" id="{F8FE7B20-4AF1-41F8-A530-E81ECAC20B7A}"/>
              </a:ext>
            </a:extLst>
          </p:cNvPr>
          <p:cNvSpPr>
            <a:spLocks noGrp="1"/>
          </p:cNvSpPr>
          <p:nvPr/>
        </p:nvSpPr>
        <p:spPr>
          <a:xfrm>
            <a:off x="609600" y="2095500"/>
            <a:ext cx="5257800" cy="381000"/>
          </a:xfrm>
          <a:prstGeom prst="rect">
            <a:avLst/>
          </a:prstGeom>
          <a:noFill/>
          <a:ln w="0">
            <a:noFill/>
            <a:prstDash val="solid"/>
          </a:ln>
        </p:spPr>
        <p:txBody>
          <a:bodyPr lIns="0" tIns="0" rIns="0" bIns="0" anchor="t">
            <a:normAutofit/>
          </a:bodyPr>
          <a:lstStyle/>
          <a:p>
            <a:pPr algn="l">
              <a:buNone/>
              <a:defRPr sz="1800" b="1">
                <a:solidFill>
                  <a:srgbClr val="FF9B45"/>
                </a:solidFill>
                <a:latin typeface="Arial"/>
                <a:ea typeface="Arial"/>
                <a:cs typeface="Arial"/>
              </a:defRPr>
            </a:pPr>
            <a:r>
              <a:rPr sz="1800" b="1">
                <a:solidFill>
                  <a:srgbClr val="FF9B45"/>
                </a:solidFill>
                <a:latin typeface="Arial"/>
                <a:ea typeface="Arial"/>
                <a:cs typeface="Arial"/>
              </a:rPr>
              <a:t>Presenter focus</a:t>
            </a:r>
          </a:p>
        </p:txBody>
      </p:sp>
      <p:sp>
        <p:nvSpPr>
          <p:cNvPr id="24" name="Rectangle 23">
            <a:extLst>
              <a:ext uri="{FF2B5EF4-FFF2-40B4-BE49-F238E27FC236}">
                <a16:creationId xmlns:a16="http://schemas.microsoft.com/office/drawing/2014/main" id="{74DDA44E-9B06-4D25-AE6A-7BEAD6B12DF0}"/>
              </a:ext>
            </a:extLst>
          </p:cNvPr>
          <p:cNvSpPr>
            <a:spLocks noGrp="1"/>
          </p:cNvSpPr>
          <p:nvPr/>
        </p:nvSpPr>
        <p:spPr>
          <a:xfrm>
            <a:off x="609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 Show text input</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Show camera / image selection</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Show loading and error state</a:t>
            </a:r>
          </a:p>
        </p:txBody>
      </p:sp>
      <p:sp>
        <p:nvSpPr>
          <p:cNvPr id="25" name="Rectangle 24">
            <a:extLst>
              <a:ext uri="{FF2B5EF4-FFF2-40B4-BE49-F238E27FC236}">
                <a16:creationId xmlns:a16="http://schemas.microsoft.com/office/drawing/2014/main" id="{EF069316-6F41-4AEA-BE1F-12F68824A7DB}"/>
              </a:ext>
            </a:extLst>
          </p:cNvPr>
          <p:cNvSpPr>
            <a:spLocks noGrp="1"/>
          </p:cNvSpPr>
          <p:nvPr/>
        </p:nvSpPr>
        <p:spPr>
          <a:xfrm>
            <a:off x="6324600" y="2095500"/>
            <a:ext cx="5257800" cy="381000"/>
          </a:xfrm>
          <a:prstGeom prst="rect">
            <a:avLst/>
          </a:prstGeom>
          <a:noFill/>
          <a:ln w="0">
            <a:noFill/>
            <a:prstDash val="solid"/>
          </a:ln>
        </p:spPr>
        <p:txBody>
          <a:bodyPr lIns="0" tIns="0" rIns="0" bIns="0" anchor="t">
            <a:normAutofit/>
          </a:bodyPr>
          <a:lstStyle/>
          <a:p>
            <a:pPr algn="l">
              <a:buNone/>
              <a:defRPr sz="1800" b="1">
                <a:solidFill>
                  <a:srgbClr val="3D8DFF"/>
                </a:solidFill>
                <a:latin typeface="Arial"/>
                <a:ea typeface="Arial"/>
                <a:cs typeface="Arial"/>
              </a:defRPr>
            </a:pPr>
            <a:r>
              <a:rPr sz="1800" b="1">
                <a:solidFill>
                  <a:srgbClr val="3D8DFF"/>
                </a:solidFill>
                <a:latin typeface="Arial"/>
                <a:ea typeface="Arial"/>
                <a:cs typeface="Arial"/>
              </a:rPr>
              <a:t>Requirement demonstrated</a:t>
            </a:r>
          </a:p>
        </p:txBody>
      </p:sp>
      <p:sp>
        <p:nvSpPr>
          <p:cNvPr id="26" name="Rectangle 25">
            <a:extLst>
              <a:ext uri="{FF2B5EF4-FFF2-40B4-BE49-F238E27FC236}">
                <a16:creationId xmlns:a16="http://schemas.microsoft.com/office/drawing/2014/main" id="{A6F53F68-3F2B-4D46-85B9-16740E19AD2F}"/>
              </a:ext>
            </a:extLst>
          </p:cNvPr>
          <p:cNvSpPr>
            <a:spLocks noGrp="1"/>
          </p:cNvSpPr>
          <p:nvPr/>
        </p:nvSpPr>
        <p:spPr>
          <a:xfrm>
            <a:off x="6324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AI question submission using text and image formats across multiple subjects.</a:t>
            </a:r>
          </a:p>
        </p:txBody>
      </p:sp>
    </p:spTree>
    <p:extLst>
      <p:ext uri="{BB962C8B-B14F-4D97-AF65-F5344CB8AC3E}">
        <p14:creationId xmlns:p14="http://schemas.microsoft.com/office/powerpoint/2010/main" val="18566898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91BABC5-DCE6-4A5E-87A8-4FE584645BE9}"/>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DEMO / 03 - ANSWER</a:t>
            </a:r>
          </a:p>
        </p:txBody>
      </p:sp>
      <p:sp>
        <p:nvSpPr>
          <p:cNvPr id="2" name="Rectangle 1">
            <a:extLst>
              <a:ext uri="{FF2B5EF4-FFF2-40B4-BE49-F238E27FC236}">
                <a16:creationId xmlns:a16="http://schemas.microsoft.com/office/drawing/2014/main" id="{FBF5A7B1-C6C8-4FB4-BCD1-C803A729C6CA}"/>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34</a:t>
            </a:r>
          </a:p>
        </p:txBody>
      </p:sp>
      <p:sp>
        <p:nvSpPr>
          <p:cNvPr id="3" name="Rectangle 2">
            <a:extLst>
              <a:ext uri="{FF2B5EF4-FFF2-40B4-BE49-F238E27FC236}">
                <a16:creationId xmlns:a16="http://schemas.microsoft.com/office/drawing/2014/main" id="{1D41DDC9-F796-4B77-88F1-D1F4B17E7855}"/>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A131FC0D-E51D-442D-A115-EA3D8BB35115}"/>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A0ABC8D4-7BE8-43A0-8DAB-19811EFB336E}"/>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Demo 3: read a structured AI explanation</a:t>
            </a:r>
          </a:p>
        </p:txBody>
      </p:sp>
      <p:sp>
        <p:nvSpPr>
          <p:cNvPr id="6" name="Rectangle 5">
            <a:extLst>
              <a:ext uri="{FF2B5EF4-FFF2-40B4-BE49-F238E27FC236}">
                <a16:creationId xmlns:a16="http://schemas.microsoft.com/office/drawing/2014/main" id="{DB9AC3A1-C4C1-46B1-870B-C9C904F46A63}"/>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The answer should visibly teach the reasoning and state the final answer clearly.</a:t>
            </a:r>
          </a:p>
        </p:txBody>
      </p:sp>
      <p:sp>
        <p:nvSpPr>
          <p:cNvPr id="7" name="Rectangle: Rounded Corners 6">
            <a:extLst>
              <a:ext uri="{FF2B5EF4-FFF2-40B4-BE49-F238E27FC236}">
                <a16:creationId xmlns:a16="http://schemas.microsoft.com/office/drawing/2014/main" id="{EAE675B3-ED68-4A2D-AE9F-80BE3E1ABB2A}"/>
              </a:ext>
            </a:extLst>
          </p:cNvPr>
          <p:cNvSpPr>
            <a:spLocks noGrp="1"/>
          </p:cNvSpPr>
          <p:nvPr/>
        </p:nvSpPr>
        <p:spPr>
          <a:xfrm>
            <a:off x="1714500" y="1695450"/>
            <a:ext cx="2400300" cy="4324350"/>
          </a:xfrm>
          <a:prstGeom prst="roundRect">
            <a:avLst>
              <a:gd name="adj" fmla="val 3175"/>
            </a:avLst>
          </a:prstGeom>
          <a:solidFill>
            <a:srgbClr val="0F2A43"/>
          </a:solidFill>
          <a:ln w="0">
            <a:solidFill>
              <a:srgbClr val="0F2A43"/>
            </a:solidFill>
            <a:prstDash val="solid"/>
          </a:ln>
        </p:spPr>
      </p:sp>
      <p:sp>
        <p:nvSpPr>
          <p:cNvPr id="8" name="Rectangle: Rounded Corners 7">
            <a:extLst>
              <a:ext uri="{FF2B5EF4-FFF2-40B4-BE49-F238E27FC236}">
                <a16:creationId xmlns:a16="http://schemas.microsoft.com/office/drawing/2014/main" id="{7864CEED-434D-402C-BEB3-6795F47DCC0E}"/>
              </a:ext>
            </a:extLst>
          </p:cNvPr>
          <p:cNvSpPr>
            <a:spLocks noGrp="1"/>
          </p:cNvSpPr>
          <p:nvPr/>
        </p:nvSpPr>
        <p:spPr>
          <a:xfrm>
            <a:off x="1809750" y="1809750"/>
            <a:ext cx="2209800" cy="4095750"/>
          </a:xfrm>
          <a:prstGeom prst="roundRect">
            <a:avLst>
              <a:gd name="adj" fmla="val 3448"/>
            </a:avLst>
          </a:prstGeom>
          <a:solidFill>
            <a:srgbClr val="FFFFFF"/>
          </a:solidFill>
          <a:ln w="0">
            <a:solidFill>
              <a:srgbClr val="FFFFFF"/>
            </a:solidFill>
            <a:prstDash val="solid"/>
          </a:ln>
        </p:spPr>
      </p:sp>
      <p:sp>
        <p:nvSpPr>
          <p:cNvPr id="9" name="Rectangle: Rounded Corners 8">
            <a:extLst>
              <a:ext uri="{FF2B5EF4-FFF2-40B4-BE49-F238E27FC236}">
                <a16:creationId xmlns:a16="http://schemas.microsoft.com/office/drawing/2014/main" id="{D8F972AE-96B3-4273-99EF-283A94F1C733}"/>
              </a:ext>
            </a:extLst>
          </p:cNvPr>
          <p:cNvSpPr>
            <a:spLocks noGrp="1"/>
          </p:cNvSpPr>
          <p:nvPr/>
        </p:nvSpPr>
        <p:spPr>
          <a:xfrm>
            <a:off x="2590800" y="1743075"/>
            <a:ext cx="647700" cy="95250"/>
          </a:xfrm>
          <a:prstGeom prst="roundRect">
            <a:avLst>
              <a:gd name="adj" fmla="val 50000"/>
            </a:avLst>
          </a:prstGeom>
          <a:solidFill>
            <a:srgbClr val="0B1220"/>
          </a:solidFill>
          <a:ln w="0">
            <a:solidFill>
              <a:srgbClr val="0B1220"/>
            </a:solidFill>
            <a:prstDash val="solid"/>
          </a:ln>
        </p:spPr>
      </p:sp>
      <p:sp>
        <p:nvSpPr>
          <p:cNvPr id="10" name="Rectangle 9">
            <a:extLst>
              <a:ext uri="{FF2B5EF4-FFF2-40B4-BE49-F238E27FC236}">
                <a16:creationId xmlns:a16="http://schemas.microsoft.com/office/drawing/2014/main" id="{F4D6E648-A265-4518-9123-F6491953EE94}"/>
              </a:ext>
            </a:extLst>
          </p:cNvPr>
          <p:cNvSpPr>
            <a:spLocks noGrp="1"/>
          </p:cNvSpPr>
          <p:nvPr/>
        </p:nvSpPr>
        <p:spPr>
          <a:xfrm>
            <a:off x="1943100" y="2057400"/>
            <a:ext cx="1943100" cy="247650"/>
          </a:xfrm>
          <a:prstGeom prst="rect">
            <a:avLst/>
          </a:prstGeom>
          <a:noFill/>
          <a:ln w="0">
            <a:noFill/>
            <a:prstDash val="solid"/>
          </a:ln>
        </p:spPr>
        <p:txBody>
          <a:bodyPr lIns="0" tIns="0" rIns="0" bIns="0" anchor="t">
            <a:normAutofit/>
          </a:bodyPr>
          <a:lstStyle/>
          <a:p>
            <a:pPr algn="l">
              <a:buNone/>
              <a:defRPr sz="1200" b="1">
                <a:solidFill>
                  <a:srgbClr val="0F2A43"/>
                </a:solidFill>
                <a:latin typeface="Arial"/>
                <a:ea typeface="Arial"/>
                <a:cs typeface="Arial"/>
              </a:defRPr>
            </a:pPr>
            <a:r>
              <a:rPr sz="1200" b="1">
                <a:solidFill>
                  <a:srgbClr val="0F2A43"/>
                </a:solidFill>
                <a:latin typeface="Arial"/>
                <a:ea typeface="Arial"/>
                <a:cs typeface="Arial"/>
              </a:rPr>
              <a:t>AI answer</a:t>
            </a:r>
          </a:p>
        </p:txBody>
      </p:sp>
      <p:sp>
        <p:nvSpPr>
          <p:cNvPr id="11" name="Rectangle: Rounded Corners 10">
            <a:extLst>
              <a:ext uri="{FF2B5EF4-FFF2-40B4-BE49-F238E27FC236}">
                <a16:creationId xmlns:a16="http://schemas.microsoft.com/office/drawing/2014/main" id="{5B36D074-AAD9-43A0-8AF5-FD44DC7A7049}"/>
              </a:ext>
            </a:extLst>
          </p:cNvPr>
          <p:cNvSpPr>
            <a:spLocks noGrp="1"/>
          </p:cNvSpPr>
          <p:nvPr/>
        </p:nvSpPr>
        <p:spPr>
          <a:xfrm>
            <a:off x="1905000" y="2476500"/>
            <a:ext cx="2019300" cy="514350"/>
          </a:xfrm>
          <a:prstGeom prst="roundRect">
            <a:avLst>
              <a:gd name="adj" fmla="val 14815"/>
            </a:avLst>
          </a:prstGeom>
          <a:solidFill>
            <a:srgbClr val="F2F7FA"/>
          </a:solidFill>
          <a:ln w="9525">
            <a:solidFill>
              <a:srgbClr val="D7E0E8"/>
            </a:solidFill>
            <a:prstDash val="solid"/>
          </a:ln>
        </p:spPr>
      </p:sp>
      <p:sp>
        <p:nvSpPr>
          <p:cNvPr id="12" name="Rectangle 11">
            <a:extLst>
              <a:ext uri="{FF2B5EF4-FFF2-40B4-BE49-F238E27FC236}">
                <a16:creationId xmlns:a16="http://schemas.microsoft.com/office/drawing/2014/main" id="{B5AC3C21-9133-40BF-81C6-DE3CA24FA72D}"/>
              </a:ext>
            </a:extLst>
          </p:cNvPr>
          <p:cNvSpPr>
            <a:spLocks noGrp="1"/>
          </p:cNvSpPr>
          <p:nvPr/>
        </p:nvSpPr>
        <p:spPr>
          <a:xfrm>
            <a:off x="2000250" y="2590800"/>
            <a:ext cx="1828800" cy="304800"/>
          </a:xfrm>
          <a:prstGeom prst="rect">
            <a:avLst/>
          </a:prstGeom>
          <a:noFill/>
          <a:ln w="0">
            <a:noFill/>
            <a:prstDash val="solid"/>
          </a:ln>
        </p:spPr>
        <p:txBody>
          <a:bodyPr lIns="0" tIns="0" rIns="0" bIns="0" anchor="t">
            <a:normAutofit/>
          </a:bodyPr>
          <a:lstStyle/>
          <a:p>
            <a:pPr algn="l">
              <a:buNone/>
              <a:defRPr sz="1050" b="0">
                <a:solidFill>
                  <a:srgbClr val="0B1220"/>
                </a:solidFill>
                <a:latin typeface="Arial"/>
                <a:ea typeface="Arial"/>
                <a:cs typeface="Arial"/>
              </a:defRPr>
            </a:pPr>
            <a:r>
              <a:rPr sz="1050" b="0">
                <a:solidFill>
                  <a:srgbClr val="0B1220"/>
                </a:solidFill>
                <a:latin typeface="Arial"/>
                <a:ea typeface="Arial"/>
                <a:cs typeface="Arial"/>
              </a:rPr>
              <a:t>Topic identified</a:t>
            </a:r>
          </a:p>
        </p:txBody>
      </p:sp>
      <p:sp>
        <p:nvSpPr>
          <p:cNvPr id="13" name="Rectangle: Rounded Corners 12">
            <a:extLst>
              <a:ext uri="{FF2B5EF4-FFF2-40B4-BE49-F238E27FC236}">
                <a16:creationId xmlns:a16="http://schemas.microsoft.com/office/drawing/2014/main" id="{A7FD92A8-193F-4B14-934E-FB2D77AE1836}"/>
              </a:ext>
            </a:extLst>
          </p:cNvPr>
          <p:cNvSpPr>
            <a:spLocks noGrp="1"/>
          </p:cNvSpPr>
          <p:nvPr/>
        </p:nvSpPr>
        <p:spPr>
          <a:xfrm>
            <a:off x="1905000" y="3143250"/>
            <a:ext cx="2019300" cy="514350"/>
          </a:xfrm>
          <a:prstGeom prst="roundRect">
            <a:avLst>
              <a:gd name="adj" fmla="val 14815"/>
            </a:avLst>
          </a:prstGeom>
          <a:solidFill>
            <a:srgbClr val="F2F7FA"/>
          </a:solidFill>
          <a:ln w="9525">
            <a:solidFill>
              <a:srgbClr val="D7E0E8"/>
            </a:solidFill>
            <a:prstDash val="solid"/>
          </a:ln>
        </p:spPr>
      </p:sp>
      <p:sp>
        <p:nvSpPr>
          <p:cNvPr id="14" name="Rectangle 13">
            <a:extLst>
              <a:ext uri="{FF2B5EF4-FFF2-40B4-BE49-F238E27FC236}">
                <a16:creationId xmlns:a16="http://schemas.microsoft.com/office/drawing/2014/main" id="{A17E69ED-2053-478E-B6C2-81B1011096C1}"/>
              </a:ext>
            </a:extLst>
          </p:cNvPr>
          <p:cNvSpPr>
            <a:spLocks noGrp="1"/>
          </p:cNvSpPr>
          <p:nvPr/>
        </p:nvSpPr>
        <p:spPr>
          <a:xfrm>
            <a:off x="2000250" y="3257550"/>
            <a:ext cx="1828800" cy="304800"/>
          </a:xfrm>
          <a:prstGeom prst="rect">
            <a:avLst/>
          </a:prstGeom>
          <a:noFill/>
          <a:ln w="0">
            <a:noFill/>
            <a:prstDash val="solid"/>
          </a:ln>
        </p:spPr>
        <p:txBody>
          <a:bodyPr lIns="0" tIns="0" rIns="0" bIns="0" anchor="t">
            <a:normAutofit/>
          </a:bodyPr>
          <a:lstStyle/>
          <a:p>
            <a:pPr algn="l">
              <a:buNone/>
              <a:defRPr sz="1050" b="0">
                <a:solidFill>
                  <a:srgbClr val="0B1220"/>
                </a:solidFill>
                <a:latin typeface="Arial"/>
                <a:ea typeface="Arial"/>
                <a:cs typeface="Arial"/>
              </a:defRPr>
            </a:pPr>
            <a:r>
              <a:rPr sz="1050" b="0">
                <a:solidFill>
                  <a:srgbClr val="0B1220"/>
                </a:solidFill>
                <a:latin typeface="Arial"/>
                <a:ea typeface="Arial"/>
                <a:cs typeface="Arial"/>
              </a:rPr>
              <a:t>Step 1: concept</a:t>
            </a:r>
          </a:p>
        </p:txBody>
      </p:sp>
      <p:sp>
        <p:nvSpPr>
          <p:cNvPr id="15" name="Rectangle: Rounded Corners 14">
            <a:extLst>
              <a:ext uri="{FF2B5EF4-FFF2-40B4-BE49-F238E27FC236}">
                <a16:creationId xmlns:a16="http://schemas.microsoft.com/office/drawing/2014/main" id="{C635658A-C593-40F0-84AB-2DF44030B63C}"/>
              </a:ext>
            </a:extLst>
          </p:cNvPr>
          <p:cNvSpPr>
            <a:spLocks noGrp="1"/>
          </p:cNvSpPr>
          <p:nvPr/>
        </p:nvSpPr>
        <p:spPr>
          <a:xfrm>
            <a:off x="1905000" y="3810000"/>
            <a:ext cx="2019300" cy="514350"/>
          </a:xfrm>
          <a:prstGeom prst="roundRect">
            <a:avLst>
              <a:gd name="adj" fmla="val 14815"/>
            </a:avLst>
          </a:prstGeom>
          <a:solidFill>
            <a:srgbClr val="F2F7FA"/>
          </a:solidFill>
          <a:ln w="9525">
            <a:solidFill>
              <a:srgbClr val="D7E0E8"/>
            </a:solidFill>
            <a:prstDash val="solid"/>
          </a:ln>
        </p:spPr>
      </p:sp>
      <p:sp>
        <p:nvSpPr>
          <p:cNvPr id="16" name="Rectangle 15">
            <a:extLst>
              <a:ext uri="{FF2B5EF4-FFF2-40B4-BE49-F238E27FC236}">
                <a16:creationId xmlns:a16="http://schemas.microsoft.com/office/drawing/2014/main" id="{0ED6DDDF-0C6C-4EB0-B2A3-4609F0C30D7D}"/>
              </a:ext>
            </a:extLst>
          </p:cNvPr>
          <p:cNvSpPr>
            <a:spLocks noGrp="1"/>
          </p:cNvSpPr>
          <p:nvPr/>
        </p:nvSpPr>
        <p:spPr>
          <a:xfrm>
            <a:off x="2000250" y="3924300"/>
            <a:ext cx="1828800" cy="304800"/>
          </a:xfrm>
          <a:prstGeom prst="rect">
            <a:avLst/>
          </a:prstGeom>
          <a:noFill/>
          <a:ln w="0">
            <a:noFill/>
            <a:prstDash val="solid"/>
          </a:ln>
        </p:spPr>
        <p:txBody>
          <a:bodyPr lIns="0" tIns="0" rIns="0" bIns="0" anchor="t">
            <a:normAutofit/>
          </a:bodyPr>
          <a:lstStyle/>
          <a:p>
            <a:pPr algn="l">
              <a:buNone/>
              <a:defRPr sz="1050" b="0">
                <a:solidFill>
                  <a:srgbClr val="0B1220"/>
                </a:solidFill>
                <a:latin typeface="Arial"/>
                <a:ea typeface="Arial"/>
                <a:cs typeface="Arial"/>
              </a:defRPr>
            </a:pPr>
            <a:r>
              <a:rPr sz="1050" b="0">
                <a:solidFill>
                  <a:srgbClr val="0B1220"/>
                </a:solidFill>
                <a:latin typeface="Arial"/>
                <a:ea typeface="Arial"/>
                <a:cs typeface="Arial"/>
              </a:rPr>
              <a:t>Step 2: working</a:t>
            </a:r>
          </a:p>
        </p:txBody>
      </p:sp>
      <p:sp>
        <p:nvSpPr>
          <p:cNvPr id="17" name="Rectangle: Rounded Corners 16">
            <a:extLst>
              <a:ext uri="{FF2B5EF4-FFF2-40B4-BE49-F238E27FC236}">
                <a16:creationId xmlns:a16="http://schemas.microsoft.com/office/drawing/2014/main" id="{166F16B0-05C1-4C85-A824-9DDD438D6E30}"/>
              </a:ext>
            </a:extLst>
          </p:cNvPr>
          <p:cNvSpPr>
            <a:spLocks noGrp="1"/>
          </p:cNvSpPr>
          <p:nvPr/>
        </p:nvSpPr>
        <p:spPr>
          <a:xfrm>
            <a:off x="1905000" y="4476750"/>
            <a:ext cx="2019300" cy="514350"/>
          </a:xfrm>
          <a:prstGeom prst="roundRect">
            <a:avLst>
              <a:gd name="adj" fmla="val 14815"/>
            </a:avLst>
          </a:prstGeom>
          <a:solidFill>
            <a:srgbClr val="FFF3E8"/>
          </a:solidFill>
          <a:ln w="9525">
            <a:solidFill>
              <a:srgbClr val="D7E0E8"/>
            </a:solidFill>
            <a:prstDash val="solid"/>
          </a:ln>
        </p:spPr>
      </p:sp>
      <p:sp>
        <p:nvSpPr>
          <p:cNvPr id="18" name="Rectangle 17">
            <a:extLst>
              <a:ext uri="{FF2B5EF4-FFF2-40B4-BE49-F238E27FC236}">
                <a16:creationId xmlns:a16="http://schemas.microsoft.com/office/drawing/2014/main" id="{E4A8E525-F019-4A0B-82D3-F5F9E00CC928}"/>
              </a:ext>
            </a:extLst>
          </p:cNvPr>
          <p:cNvSpPr>
            <a:spLocks noGrp="1"/>
          </p:cNvSpPr>
          <p:nvPr/>
        </p:nvSpPr>
        <p:spPr>
          <a:xfrm>
            <a:off x="2000250" y="4591050"/>
            <a:ext cx="1828800" cy="304800"/>
          </a:xfrm>
          <a:prstGeom prst="rect">
            <a:avLst/>
          </a:prstGeom>
          <a:noFill/>
          <a:ln w="0">
            <a:noFill/>
            <a:prstDash val="solid"/>
          </a:ln>
        </p:spPr>
        <p:txBody>
          <a:bodyPr lIns="0" tIns="0" rIns="0" bIns="0" anchor="t">
            <a:normAutofit/>
          </a:bodyPr>
          <a:lstStyle/>
          <a:p>
            <a:pPr algn="l">
              <a:buNone/>
              <a:defRPr sz="1050" b="0">
                <a:solidFill>
                  <a:srgbClr val="FF9B45"/>
                </a:solidFill>
                <a:latin typeface="Arial"/>
                <a:ea typeface="Arial"/>
                <a:cs typeface="Arial"/>
              </a:defRPr>
            </a:pPr>
            <a:r>
              <a:rPr sz="1050" b="0">
                <a:solidFill>
                  <a:srgbClr val="FF9B45"/>
                </a:solidFill>
                <a:latin typeface="Arial"/>
                <a:ea typeface="Arial"/>
                <a:cs typeface="Arial"/>
              </a:rPr>
              <a:t>Final answer + next step</a:t>
            </a:r>
          </a:p>
        </p:txBody>
      </p:sp>
      <p:sp>
        <p:nvSpPr>
          <p:cNvPr id="19" name="Oval 18">
            <a:extLst>
              <a:ext uri="{FF2B5EF4-FFF2-40B4-BE49-F238E27FC236}">
                <a16:creationId xmlns:a16="http://schemas.microsoft.com/office/drawing/2014/main" id="{8721235B-08B3-4217-A6EC-8A1019403E66}"/>
              </a:ext>
            </a:extLst>
          </p:cNvPr>
          <p:cNvSpPr>
            <a:spLocks noGrp="1"/>
          </p:cNvSpPr>
          <p:nvPr/>
        </p:nvSpPr>
        <p:spPr>
          <a:xfrm>
            <a:off x="2876550" y="5791200"/>
            <a:ext cx="76200" cy="76200"/>
          </a:xfrm>
          <a:prstGeom prst="ellipse">
            <a:avLst/>
          </a:prstGeom>
          <a:solidFill>
            <a:srgbClr val="0DA6A6"/>
          </a:solidFill>
          <a:ln w="0">
            <a:solidFill>
              <a:srgbClr val="0DA6A6"/>
            </a:solidFill>
            <a:prstDash val="solid"/>
          </a:ln>
        </p:spPr>
      </p:sp>
      <p:sp>
        <p:nvSpPr>
          <p:cNvPr id="20" name="Rectangle 19">
            <a:extLst>
              <a:ext uri="{FF2B5EF4-FFF2-40B4-BE49-F238E27FC236}">
                <a16:creationId xmlns:a16="http://schemas.microsoft.com/office/drawing/2014/main" id="{5BE24B68-F84D-4818-8CC9-B31DF9C4B945}"/>
              </a:ext>
            </a:extLst>
          </p:cNvPr>
          <p:cNvSpPr>
            <a:spLocks noGrp="1"/>
          </p:cNvSpPr>
          <p:nvPr/>
        </p:nvSpPr>
        <p:spPr>
          <a:xfrm>
            <a:off x="1485900" y="6134100"/>
            <a:ext cx="2857500" cy="304800"/>
          </a:xfrm>
          <a:prstGeom prst="rect">
            <a:avLst/>
          </a:prstGeom>
          <a:noFill/>
          <a:ln w="0">
            <a:noFill/>
            <a:prstDash val="solid"/>
          </a:ln>
        </p:spPr>
        <p:txBody>
          <a:bodyPr lIns="0" tIns="0" rIns="0" bIns="0" anchor="t">
            <a:normAutofit/>
          </a:bodyPr>
          <a:lstStyle/>
          <a:p>
            <a:pPr algn="ctr">
              <a:buNone/>
              <a:defRPr sz="1050" b="0">
                <a:solidFill>
                  <a:srgbClr val="586879"/>
                </a:solidFill>
                <a:latin typeface="Arial"/>
                <a:ea typeface="Arial"/>
                <a:cs typeface="Arial"/>
              </a:defRPr>
            </a:pPr>
            <a:r>
              <a:rPr sz="1050" b="0">
                <a:solidFill>
                  <a:srgbClr val="586879"/>
                </a:solidFill>
                <a:latin typeface="Arial"/>
                <a:ea typeface="Arial"/>
                <a:cs typeface="Arial"/>
              </a:rPr>
              <a:t>Replace with actual app screenshot</a:t>
            </a:r>
          </a:p>
        </p:txBody>
      </p:sp>
      <p:sp>
        <p:nvSpPr>
          <p:cNvPr id="21" name="Rectangle 20">
            <a:extLst>
              <a:ext uri="{FF2B5EF4-FFF2-40B4-BE49-F238E27FC236}">
                <a16:creationId xmlns:a16="http://schemas.microsoft.com/office/drawing/2014/main" id="{32DBF0A0-7748-441A-BEF9-C7B53D540BB1}"/>
              </a:ext>
            </a:extLst>
          </p:cNvPr>
          <p:cNvSpPr>
            <a:spLocks noGrp="1"/>
          </p:cNvSpPr>
          <p:nvPr/>
        </p:nvSpPr>
        <p:spPr>
          <a:xfrm>
            <a:off x="609600" y="1924050"/>
            <a:ext cx="5257800" cy="38100"/>
          </a:xfrm>
          <a:prstGeom prst="rect">
            <a:avLst/>
          </a:prstGeom>
          <a:solidFill>
            <a:srgbClr val="0DA6A6"/>
          </a:solidFill>
          <a:ln w="0">
            <a:solidFill>
              <a:srgbClr val="0DA6A6"/>
            </a:solidFill>
            <a:prstDash val="solid"/>
          </a:ln>
        </p:spPr>
      </p:sp>
      <p:sp>
        <p:nvSpPr>
          <p:cNvPr id="22" name="Rectangle 21">
            <a:extLst>
              <a:ext uri="{FF2B5EF4-FFF2-40B4-BE49-F238E27FC236}">
                <a16:creationId xmlns:a16="http://schemas.microsoft.com/office/drawing/2014/main" id="{F1322EE4-325D-4527-B297-1DD46E0B1D43}"/>
              </a:ext>
            </a:extLst>
          </p:cNvPr>
          <p:cNvSpPr>
            <a:spLocks noGrp="1"/>
          </p:cNvSpPr>
          <p:nvPr/>
        </p:nvSpPr>
        <p:spPr>
          <a:xfrm>
            <a:off x="6324600" y="1924050"/>
            <a:ext cx="5257800" cy="38100"/>
          </a:xfrm>
          <a:prstGeom prst="rect">
            <a:avLst/>
          </a:prstGeom>
          <a:solidFill>
            <a:srgbClr val="FF9B45"/>
          </a:solidFill>
          <a:ln w="0">
            <a:solidFill>
              <a:srgbClr val="FF9B45"/>
            </a:solidFill>
            <a:prstDash val="solid"/>
          </a:ln>
        </p:spPr>
      </p:sp>
      <p:sp>
        <p:nvSpPr>
          <p:cNvPr id="23" name="Rectangle 22">
            <a:extLst>
              <a:ext uri="{FF2B5EF4-FFF2-40B4-BE49-F238E27FC236}">
                <a16:creationId xmlns:a16="http://schemas.microsoft.com/office/drawing/2014/main" id="{C7E8B29A-5B2F-46FC-9A58-0B9562CCE7E4}"/>
              </a:ext>
            </a:extLst>
          </p:cNvPr>
          <p:cNvSpPr>
            <a:spLocks noGrp="1"/>
          </p:cNvSpPr>
          <p:nvPr/>
        </p:nvSpPr>
        <p:spPr>
          <a:xfrm>
            <a:off x="609600" y="2095500"/>
            <a:ext cx="5257800" cy="381000"/>
          </a:xfrm>
          <a:prstGeom prst="rect">
            <a:avLst/>
          </a:prstGeom>
          <a:noFill/>
          <a:ln w="0">
            <a:noFill/>
            <a:prstDash val="solid"/>
          </a:ln>
        </p:spPr>
        <p:txBody>
          <a:bodyPr lIns="0" tIns="0" rIns="0" bIns="0" anchor="t">
            <a:normAutofit/>
          </a:bodyPr>
          <a:lstStyle/>
          <a:p>
            <a:pPr algn="l">
              <a:buNone/>
              <a:defRPr sz="1800" b="1">
                <a:solidFill>
                  <a:srgbClr val="0DA6A6"/>
                </a:solidFill>
                <a:latin typeface="Arial"/>
                <a:ea typeface="Arial"/>
                <a:cs typeface="Arial"/>
              </a:defRPr>
            </a:pPr>
            <a:r>
              <a:rPr sz="1800" b="1">
                <a:solidFill>
                  <a:srgbClr val="0DA6A6"/>
                </a:solidFill>
                <a:latin typeface="Arial"/>
                <a:ea typeface="Arial"/>
                <a:cs typeface="Arial"/>
              </a:rPr>
              <a:t>Presenter focus</a:t>
            </a:r>
          </a:p>
        </p:txBody>
      </p:sp>
      <p:sp>
        <p:nvSpPr>
          <p:cNvPr id="24" name="Rectangle 23">
            <a:extLst>
              <a:ext uri="{FF2B5EF4-FFF2-40B4-BE49-F238E27FC236}">
                <a16:creationId xmlns:a16="http://schemas.microsoft.com/office/drawing/2014/main" id="{FB4C669E-5167-4787-B041-F5CF81EC8A95}"/>
              </a:ext>
            </a:extLst>
          </p:cNvPr>
          <p:cNvSpPr>
            <a:spLocks noGrp="1"/>
          </p:cNvSpPr>
          <p:nvPr/>
        </p:nvSpPr>
        <p:spPr>
          <a:xfrm>
            <a:off x="609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 Point to step-by-step structure</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Show explanation style</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Show any safety or retry state</a:t>
            </a:r>
          </a:p>
        </p:txBody>
      </p:sp>
      <p:sp>
        <p:nvSpPr>
          <p:cNvPr id="25" name="Rectangle 24">
            <a:extLst>
              <a:ext uri="{FF2B5EF4-FFF2-40B4-BE49-F238E27FC236}">
                <a16:creationId xmlns:a16="http://schemas.microsoft.com/office/drawing/2014/main" id="{EF13D3E0-F419-40C0-9648-373741422FFE}"/>
              </a:ext>
            </a:extLst>
          </p:cNvPr>
          <p:cNvSpPr>
            <a:spLocks noGrp="1"/>
          </p:cNvSpPr>
          <p:nvPr/>
        </p:nvSpPr>
        <p:spPr>
          <a:xfrm>
            <a:off x="6324600" y="2095500"/>
            <a:ext cx="5257800" cy="381000"/>
          </a:xfrm>
          <a:prstGeom prst="rect">
            <a:avLst/>
          </a:prstGeom>
          <a:noFill/>
          <a:ln w="0">
            <a:noFill/>
            <a:prstDash val="solid"/>
          </a:ln>
        </p:spPr>
        <p:txBody>
          <a:bodyPr lIns="0" tIns="0" rIns="0" bIns="0" anchor="t">
            <a:normAutofit/>
          </a:bodyPr>
          <a:lstStyle/>
          <a:p>
            <a:pPr algn="l">
              <a:buNone/>
              <a:defRPr sz="1800" b="1">
                <a:solidFill>
                  <a:srgbClr val="FF9B45"/>
                </a:solidFill>
                <a:latin typeface="Arial"/>
                <a:ea typeface="Arial"/>
                <a:cs typeface="Arial"/>
              </a:defRPr>
            </a:pPr>
            <a:r>
              <a:rPr sz="1800" b="1">
                <a:solidFill>
                  <a:srgbClr val="FF9B45"/>
                </a:solidFill>
                <a:latin typeface="Arial"/>
                <a:ea typeface="Arial"/>
                <a:cs typeface="Arial"/>
              </a:rPr>
              <a:t>Requirement demonstrated</a:t>
            </a:r>
          </a:p>
        </p:txBody>
      </p:sp>
      <p:sp>
        <p:nvSpPr>
          <p:cNvPr id="26" name="Rectangle 25">
            <a:extLst>
              <a:ext uri="{FF2B5EF4-FFF2-40B4-BE49-F238E27FC236}">
                <a16:creationId xmlns:a16="http://schemas.microsoft.com/office/drawing/2014/main" id="{5FD48CD2-1B66-4F54-A05F-16009D025C09}"/>
              </a:ext>
            </a:extLst>
          </p:cNvPr>
          <p:cNvSpPr>
            <a:spLocks noGrp="1"/>
          </p:cNvSpPr>
          <p:nvPr/>
        </p:nvSpPr>
        <p:spPr>
          <a:xfrm>
            <a:off x="6324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AI identifies subject and difficulty, explains logically and adapts language.</a:t>
            </a:r>
          </a:p>
        </p:txBody>
      </p:sp>
    </p:spTree>
    <p:extLst>
      <p:ext uri="{BB962C8B-B14F-4D97-AF65-F5344CB8AC3E}">
        <p14:creationId xmlns:p14="http://schemas.microsoft.com/office/powerpoint/2010/main" val="18490077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6BFCF4C5-AF88-4ECE-84FA-4E8B735C0CCD}"/>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DEMO / 04 - LIBRARY</a:t>
            </a:r>
          </a:p>
        </p:txBody>
      </p:sp>
      <p:sp>
        <p:nvSpPr>
          <p:cNvPr id="2" name="Rectangle 1">
            <a:extLst>
              <a:ext uri="{FF2B5EF4-FFF2-40B4-BE49-F238E27FC236}">
                <a16:creationId xmlns:a16="http://schemas.microsoft.com/office/drawing/2014/main" id="{4CF1BDEE-D764-4C78-AD20-84078B16682D}"/>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35</a:t>
            </a:r>
          </a:p>
        </p:txBody>
      </p:sp>
      <p:sp>
        <p:nvSpPr>
          <p:cNvPr id="3" name="Rectangle 2">
            <a:extLst>
              <a:ext uri="{FF2B5EF4-FFF2-40B4-BE49-F238E27FC236}">
                <a16:creationId xmlns:a16="http://schemas.microsoft.com/office/drawing/2014/main" id="{4719420A-0EA6-4E38-BC18-09DEF8F5DF4B}"/>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565C4427-88AA-4B99-ACEF-0B73FA1AA04E}"/>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5A7EADF9-508B-4235-A00B-BC581774C5CB}"/>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Demo 4: save and revisit an answer</a:t>
            </a:r>
          </a:p>
        </p:txBody>
      </p:sp>
      <p:sp>
        <p:nvSpPr>
          <p:cNvPr id="6" name="Rectangle 5">
            <a:extLst>
              <a:ext uri="{FF2B5EF4-FFF2-40B4-BE49-F238E27FC236}">
                <a16:creationId xmlns:a16="http://schemas.microsoft.com/office/drawing/2014/main" id="{FB0B8E66-0CB0-4564-90AF-D3A1ED972CE5}"/>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The application becomes more useful when the first answer remains available later.</a:t>
            </a:r>
          </a:p>
        </p:txBody>
      </p:sp>
      <p:sp>
        <p:nvSpPr>
          <p:cNvPr id="7" name="Rectangle: Rounded Corners 6">
            <a:extLst>
              <a:ext uri="{FF2B5EF4-FFF2-40B4-BE49-F238E27FC236}">
                <a16:creationId xmlns:a16="http://schemas.microsoft.com/office/drawing/2014/main" id="{E850B3B4-ACF7-4366-8A4B-4D1071A6887B}"/>
              </a:ext>
            </a:extLst>
          </p:cNvPr>
          <p:cNvSpPr>
            <a:spLocks noGrp="1"/>
          </p:cNvSpPr>
          <p:nvPr/>
        </p:nvSpPr>
        <p:spPr>
          <a:xfrm>
            <a:off x="1714500" y="1695450"/>
            <a:ext cx="2400300" cy="4324350"/>
          </a:xfrm>
          <a:prstGeom prst="roundRect">
            <a:avLst>
              <a:gd name="adj" fmla="val 3175"/>
            </a:avLst>
          </a:prstGeom>
          <a:solidFill>
            <a:srgbClr val="0F2A43"/>
          </a:solidFill>
          <a:ln w="0">
            <a:solidFill>
              <a:srgbClr val="0F2A43"/>
            </a:solidFill>
            <a:prstDash val="solid"/>
          </a:ln>
        </p:spPr>
      </p:sp>
      <p:sp>
        <p:nvSpPr>
          <p:cNvPr id="8" name="Rectangle: Rounded Corners 7">
            <a:extLst>
              <a:ext uri="{FF2B5EF4-FFF2-40B4-BE49-F238E27FC236}">
                <a16:creationId xmlns:a16="http://schemas.microsoft.com/office/drawing/2014/main" id="{C2C833AD-F93B-43B2-89F6-30B43E031ABD}"/>
              </a:ext>
            </a:extLst>
          </p:cNvPr>
          <p:cNvSpPr>
            <a:spLocks noGrp="1"/>
          </p:cNvSpPr>
          <p:nvPr/>
        </p:nvSpPr>
        <p:spPr>
          <a:xfrm>
            <a:off x="1809750" y="1809750"/>
            <a:ext cx="2209800" cy="4095750"/>
          </a:xfrm>
          <a:prstGeom prst="roundRect">
            <a:avLst>
              <a:gd name="adj" fmla="val 3448"/>
            </a:avLst>
          </a:prstGeom>
          <a:solidFill>
            <a:srgbClr val="FFFFFF"/>
          </a:solidFill>
          <a:ln w="0">
            <a:solidFill>
              <a:srgbClr val="FFFFFF"/>
            </a:solidFill>
            <a:prstDash val="solid"/>
          </a:ln>
        </p:spPr>
      </p:sp>
      <p:sp>
        <p:nvSpPr>
          <p:cNvPr id="9" name="Rectangle: Rounded Corners 8">
            <a:extLst>
              <a:ext uri="{FF2B5EF4-FFF2-40B4-BE49-F238E27FC236}">
                <a16:creationId xmlns:a16="http://schemas.microsoft.com/office/drawing/2014/main" id="{FDD5605F-740F-4B0A-9BDC-B2BBCD735CF7}"/>
              </a:ext>
            </a:extLst>
          </p:cNvPr>
          <p:cNvSpPr>
            <a:spLocks noGrp="1"/>
          </p:cNvSpPr>
          <p:nvPr/>
        </p:nvSpPr>
        <p:spPr>
          <a:xfrm>
            <a:off x="2590800" y="1743075"/>
            <a:ext cx="647700" cy="95250"/>
          </a:xfrm>
          <a:prstGeom prst="roundRect">
            <a:avLst>
              <a:gd name="adj" fmla="val 50000"/>
            </a:avLst>
          </a:prstGeom>
          <a:solidFill>
            <a:srgbClr val="0B1220"/>
          </a:solidFill>
          <a:ln w="0">
            <a:solidFill>
              <a:srgbClr val="0B1220"/>
            </a:solidFill>
            <a:prstDash val="solid"/>
          </a:ln>
        </p:spPr>
      </p:sp>
      <p:sp>
        <p:nvSpPr>
          <p:cNvPr id="10" name="Rectangle 9">
            <a:extLst>
              <a:ext uri="{FF2B5EF4-FFF2-40B4-BE49-F238E27FC236}">
                <a16:creationId xmlns:a16="http://schemas.microsoft.com/office/drawing/2014/main" id="{1134774C-F9D2-4C86-A575-8F0B6E620EF8}"/>
              </a:ext>
            </a:extLst>
          </p:cNvPr>
          <p:cNvSpPr>
            <a:spLocks noGrp="1"/>
          </p:cNvSpPr>
          <p:nvPr/>
        </p:nvSpPr>
        <p:spPr>
          <a:xfrm>
            <a:off x="1943100" y="2057400"/>
            <a:ext cx="1943100" cy="247650"/>
          </a:xfrm>
          <a:prstGeom prst="rect">
            <a:avLst/>
          </a:prstGeom>
          <a:noFill/>
          <a:ln w="0">
            <a:noFill/>
            <a:prstDash val="solid"/>
          </a:ln>
        </p:spPr>
        <p:txBody>
          <a:bodyPr lIns="0" tIns="0" rIns="0" bIns="0" anchor="t">
            <a:normAutofit/>
          </a:bodyPr>
          <a:lstStyle/>
          <a:p>
            <a:pPr algn="l">
              <a:buNone/>
              <a:defRPr sz="1200" b="1">
                <a:solidFill>
                  <a:srgbClr val="0F2A43"/>
                </a:solidFill>
                <a:latin typeface="Arial"/>
                <a:ea typeface="Arial"/>
                <a:cs typeface="Arial"/>
              </a:defRPr>
            </a:pPr>
            <a:r>
              <a:rPr sz="1200" b="1">
                <a:solidFill>
                  <a:srgbClr val="0F2A43"/>
                </a:solidFill>
                <a:latin typeface="Arial"/>
                <a:ea typeface="Arial"/>
                <a:cs typeface="Arial"/>
              </a:rPr>
              <a:t>My library</a:t>
            </a:r>
          </a:p>
        </p:txBody>
      </p:sp>
      <p:sp>
        <p:nvSpPr>
          <p:cNvPr id="11" name="Rectangle: Rounded Corners 10">
            <a:extLst>
              <a:ext uri="{FF2B5EF4-FFF2-40B4-BE49-F238E27FC236}">
                <a16:creationId xmlns:a16="http://schemas.microsoft.com/office/drawing/2014/main" id="{5F6153EF-AE7C-4576-8C20-23BEA0524852}"/>
              </a:ext>
            </a:extLst>
          </p:cNvPr>
          <p:cNvSpPr>
            <a:spLocks noGrp="1"/>
          </p:cNvSpPr>
          <p:nvPr/>
        </p:nvSpPr>
        <p:spPr>
          <a:xfrm>
            <a:off x="1905000" y="2476500"/>
            <a:ext cx="2019300" cy="514350"/>
          </a:xfrm>
          <a:prstGeom prst="roundRect">
            <a:avLst>
              <a:gd name="adj" fmla="val 14815"/>
            </a:avLst>
          </a:prstGeom>
          <a:solidFill>
            <a:srgbClr val="F2F7FA"/>
          </a:solidFill>
          <a:ln w="9525">
            <a:solidFill>
              <a:srgbClr val="D7E0E8"/>
            </a:solidFill>
            <a:prstDash val="solid"/>
          </a:ln>
        </p:spPr>
      </p:sp>
      <p:sp>
        <p:nvSpPr>
          <p:cNvPr id="12" name="Rectangle 11">
            <a:extLst>
              <a:ext uri="{FF2B5EF4-FFF2-40B4-BE49-F238E27FC236}">
                <a16:creationId xmlns:a16="http://schemas.microsoft.com/office/drawing/2014/main" id="{4610B987-9AD5-4431-9069-81C50DAFB5DE}"/>
              </a:ext>
            </a:extLst>
          </p:cNvPr>
          <p:cNvSpPr>
            <a:spLocks noGrp="1"/>
          </p:cNvSpPr>
          <p:nvPr/>
        </p:nvSpPr>
        <p:spPr>
          <a:xfrm>
            <a:off x="2000250" y="2590800"/>
            <a:ext cx="1828800" cy="304800"/>
          </a:xfrm>
          <a:prstGeom prst="rect">
            <a:avLst/>
          </a:prstGeom>
          <a:noFill/>
          <a:ln w="0">
            <a:noFill/>
            <a:prstDash val="solid"/>
          </a:ln>
        </p:spPr>
        <p:txBody>
          <a:bodyPr lIns="0" tIns="0" rIns="0" bIns="0" anchor="t">
            <a:normAutofit/>
          </a:bodyPr>
          <a:lstStyle/>
          <a:p>
            <a:pPr algn="l">
              <a:buNone/>
              <a:defRPr sz="1050" b="0">
                <a:solidFill>
                  <a:srgbClr val="0B1220"/>
                </a:solidFill>
                <a:latin typeface="Arial"/>
                <a:ea typeface="Arial"/>
                <a:cs typeface="Arial"/>
              </a:defRPr>
            </a:pPr>
            <a:r>
              <a:rPr sz="1050" b="0">
                <a:solidFill>
                  <a:srgbClr val="0B1220"/>
                </a:solidFill>
                <a:latin typeface="Arial"/>
                <a:ea typeface="Arial"/>
                <a:cs typeface="Arial"/>
              </a:rPr>
              <a:t>Search past questions</a:t>
            </a:r>
          </a:p>
        </p:txBody>
      </p:sp>
      <p:sp>
        <p:nvSpPr>
          <p:cNvPr id="13" name="Rectangle: Rounded Corners 12">
            <a:extLst>
              <a:ext uri="{FF2B5EF4-FFF2-40B4-BE49-F238E27FC236}">
                <a16:creationId xmlns:a16="http://schemas.microsoft.com/office/drawing/2014/main" id="{05A6A80F-B0F0-4F48-A52D-BFF34CC13189}"/>
              </a:ext>
            </a:extLst>
          </p:cNvPr>
          <p:cNvSpPr>
            <a:spLocks noGrp="1"/>
          </p:cNvSpPr>
          <p:nvPr/>
        </p:nvSpPr>
        <p:spPr>
          <a:xfrm>
            <a:off x="1905000" y="3143250"/>
            <a:ext cx="2019300" cy="514350"/>
          </a:xfrm>
          <a:prstGeom prst="roundRect">
            <a:avLst>
              <a:gd name="adj" fmla="val 14815"/>
            </a:avLst>
          </a:prstGeom>
          <a:solidFill>
            <a:srgbClr val="F2F7FA"/>
          </a:solidFill>
          <a:ln w="9525">
            <a:solidFill>
              <a:srgbClr val="D7E0E8"/>
            </a:solidFill>
            <a:prstDash val="solid"/>
          </a:ln>
        </p:spPr>
      </p:sp>
      <p:sp>
        <p:nvSpPr>
          <p:cNvPr id="14" name="Rectangle 13">
            <a:extLst>
              <a:ext uri="{FF2B5EF4-FFF2-40B4-BE49-F238E27FC236}">
                <a16:creationId xmlns:a16="http://schemas.microsoft.com/office/drawing/2014/main" id="{E8B0DFBE-55EF-434B-B245-5D9AE12A091B}"/>
              </a:ext>
            </a:extLst>
          </p:cNvPr>
          <p:cNvSpPr>
            <a:spLocks noGrp="1"/>
          </p:cNvSpPr>
          <p:nvPr/>
        </p:nvSpPr>
        <p:spPr>
          <a:xfrm>
            <a:off x="2000250" y="3257550"/>
            <a:ext cx="1828800" cy="304800"/>
          </a:xfrm>
          <a:prstGeom prst="rect">
            <a:avLst/>
          </a:prstGeom>
          <a:noFill/>
          <a:ln w="0">
            <a:noFill/>
            <a:prstDash val="solid"/>
          </a:ln>
        </p:spPr>
        <p:txBody>
          <a:bodyPr lIns="0" tIns="0" rIns="0" bIns="0" anchor="t">
            <a:normAutofit/>
          </a:bodyPr>
          <a:lstStyle/>
          <a:p>
            <a:pPr algn="l">
              <a:buNone/>
              <a:defRPr sz="1050" b="0">
                <a:solidFill>
                  <a:srgbClr val="0B1220"/>
                </a:solidFill>
                <a:latin typeface="Arial"/>
                <a:ea typeface="Arial"/>
                <a:cs typeface="Arial"/>
              </a:defRPr>
            </a:pPr>
            <a:r>
              <a:rPr sz="1050" b="0">
                <a:solidFill>
                  <a:srgbClr val="0B1220"/>
                </a:solidFill>
                <a:latin typeface="Arial"/>
                <a:ea typeface="Arial"/>
                <a:cs typeface="Arial"/>
              </a:rPr>
              <a:t>Filter by subject</a:t>
            </a:r>
          </a:p>
        </p:txBody>
      </p:sp>
      <p:sp>
        <p:nvSpPr>
          <p:cNvPr id="15" name="Rectangle: Rounded Corners 14">
            <a:extLst>
              <a:ext uri="{FF2B5EF4-FFF2-40B4-BE49-F238E27FC236}">
                <a16:creationId xmlns:a16="http://schemas.microsoft.com/office/drawing/2014/main" id="{5B83FF24-76BE-416A-8897-A6FFCBC2BEAD}"/>
              </a:ext>
            </a:extLst>
          </p:cNvPr>
          <p:cNvSpPr>
            <a:spLocks noGrp="1"/>
          </p:cNvSpPr>
          <p:nvPr/>
        </p:nvSpPr>
        <p:spPr>
          <a:xfrm>
            <a:off x="1905000" y="3810000"/>
            <a:ext cx="2019300" cy="514350"/>
          </a:xfrm>
          <a:prstGeom prst="roundRect">
            <a:avLst>
              <a:gd name="adj" fmla="val 14815"/>
            </a:avLst>
          </a:prstGeom>
          <a:solidFill>
            <a:srgbClr val="F2F7FA"/>
          </a:solidFill>
          <a:ln w="9525">
            <a:solidFill>
              <a:srgbClr val="D7E0E8"/>
            </a:solidFill>
            <a:prstDash val="solid"/>
          </a:ln>
        </p:spPr>
      </p:sp>
      <p:sp>
        <p:nvSpPr>
          <p:cNvPr id="16" name="Rectangle 15">
            <a:extLst>
              <a:ext uri="{FF2B5EF4-FFF2-40B4-BE49-F238E27FC236}">
                <a16:creationId xmlns:a16="http://schemas.microsoft.com/office/drawing/2014/main" id="{0C61C198-F456-4FF5-86D5-20763332EF3C}"/>
              </a:ext>
            </a:extLst>
          </p:cNvPr>
          <p:cNvSpPr>
            <a:spLocks noGrp="1"/>
          </p:cNvSpPr>
          <p:nvPr/>
        </p:nvSpPr>
        <p:spPr>
          <a:xfrm>
            <a:off x="2000250" y="3924300"/>
            <a:ext cx="1828800" cy="304800"/>
          </a:xfrm>
          <a:prstGeom prst="rect">
            <a:avLst/>
          </a:prstGeom>
          <a:noFill/>
          <a:ln w="0">
            <a:noFill/>
            <a:prstDash val="solid"/>
          </a:ln>
        </p:spPr>
        <p:txBody>
          <a:bodyPr lIns="0" tIns="0" rIns="0" bIns="0" anchor="t">
            <a:normAutofit/>
          </a:bodyPr>
          <a:lstStyle/>
          <a:p>
            <a:pPr algn="l">
              <a:buNone/>
              <a:defRPr sz="1050" b="0">
                <a:solidFill>
                  <a:srgbClr val="0B1220"/>
                </a:solidFill>
                <a:latin typeface="Arial"/>
                <a:ea typeface="Arial"/>
                <a:cs typeface="Arial"/>
              </a:defRPr>
            </a:pPr>
            <a:r>
              <a:rPr sz="1050" b="0">
                <a:solidFill>
                  <a:srgbClr val="0B1220"/>
                </a:solidFill>
                <a:latin typeface="Arial"/>
                <a:ea typeface="Arial"/>
                <a:cs typeface="Arial"/>
              </a:rPr>
              <a:t>Bookmark answer</a:t>
            </a:r>
          </a:p>
        </p:txBody>
      </p:sp>
      <p:sp>
        <p:nvSpPr>
          <p:cNvPr id="17" name="Rectangle: Rounded Corners 16">
            <a:extLst>
              <a:ext uri="{FF2B5EF4-FFF2-40B4-BE49-F238E27FC236}">
                <a16:creationId xmlns:a16="http://schemas.microsoft.com/office/drawing/2014/main" id="{4DB0CF75-5486-4AA4-BEE4-FC5308E33755}"/>
              </a:ext>
            </a:extLst>
          </p:cNvPr>
          <p:cNvSpPr>
            <a:spLocks noGrp="1"/>
          </p:cNvSpPr>
          <p:nvPr/>
        </p:nvSpPr>
        <p:spPr>
          <a:xfrm>
            <a:off x="1905000" y="4476750"/>
            <a:ext cx="2019300" cy="514350"/>
          </a:xfrm>
          <a:prstGeom prst="roundRect">
            <a:avLst>
              <a:gd name="adj" fmla="val 14815"/>
            </a:avLst>
          </a:prstGeom>
          <a:solidFill>
            <a:srgbClr val="FFF3E8"/>
          </a:solidFill>
          <a:ln w="9525">
            <a:solidFill>
              <a:srgbClr val="D7E0E8"/>
            </a:solidFill>
            <a:prstDash val="solid"/>
          </a:ln>
        </p:spPr>
      </p:sp>
      <p:sp>
        <p:nvSpPr>
          <p:cNvPr id="18" name="Rectangle 17">
            <a:extLst>
              <a:ext uri="{FF2B5EF4-FFF2-40B4-BE49-F238E27FC236}">
                <a16:creationId xmlns:a16="http://schemas.microsoft.com/office/drawing/2014/main" id="{E64A6B41-F0B7-4CD9-8EAC-C3B2FDEC22F8}"/>
              </a:ext>
            </a:extLst>
          </p:cNvPr>
          <p:cNvSpPr>
            <a:spLocks noGrp="1"/>
          </p:cNvSpPr>
          <p:nvPr/>
        </p:nvSpPr>
        <p:spPr>
          <a:xfrm>
            <a:off x="2000250" y="4591050"/>
            <a:ext cx="1828800" cy="304800"/>
          </a:xfrm>
          <a:prstGeom prst="rect">
            <a:avLst/>
          </a:prstGeom>
          <a:noFill/>
          <a:ln w="0">
            <a:noFill/>
            <a:prstDash val="solid"/>
          </a:ln>
        </p:spPr>
        <p:txBody>
          <a:bodyPr lIns="0" tIns="0" rIns="0" bIns="0" anchor="t">
            <a:normAutofit/>
          </a:bodyPr>
          <a:lstStyle/>
          <a:p>
            <a:pPr algn="l">
              <a:buNone/>
              <a:defRPr sz="1050" b="0">
                <a:solidFill>
                  <a:srgbClr val="FF9B45"/>
                </a:solidFill>
                <a:latin typeface="Arial"/>
                <a:ea typeface="Arial"/>
                <a:cs typeface="Arial"/>
              </a:defRPr>
            </a:pPr>
            <a:r>
              <a:rPr sz="1050" b="0">
                <a:solidFill>
                  <a:srgbClr val="FF9B45"/>
                </a:solidFill>
                <a:latin typeface="Arial"/>
                <a:ea typeface="Arial"/>
                <a:cs typeface="Arial"/>
              </a:rPr>
              <a:t>Read offline</a:t>
            </a:r>
          </a:p>
        </p:txBody>
      </p:sp>
      <p:sp>
        <p:nvSpPr>
          <p:cNvPr id="19" name="Oval 18">
            <a:extLst>
              <a:ext uri="{FF2B5EF4-FFF2-40B4-BE49-F238E27FC236}">
                <a16:creationId xmlns:a16="http://schemas.microsoft.com/office/drawing/2014/main" id="{F6A7A9BC-6116-45A6-B1A0-1420C9E6B84C}"/>
              </a:ext>
            </a:extLst>
          </p:cNvPr>
          <p:cNvSpPr>
            <a:spLocks noGrp="1"/>
          </p:cNvSpPr>
          <p:nvPr/>
        </p:nvSpPr>
        <p:spPr>
          <a:xfrm>
            <a:off x="2876550" y="5791200"/>
            <a:ext cx="76200" cy="76200"/>
          </a:xfrm>
          <a:prstGeom prst="ellipse">
            <a:avLst/>
          </a:prstGeom>
          <a:solidFill>
            <a:srgbClr val="3D8DFF"/>
          </a:solidFill>
          <a:ln w="0">
            <a:solidFill>
              <a:srgbClr val="3D8DFF"/>
            </a:solidFill>
            <a:prstDash val="solid"/>
          </a:ln>
        </p:spPr>
      </p:sp>
      <p:sp>
        <p:nvSpPr>
          <p:cNvPr id="20" name="Rectangle 19">
            <a:extLst>
              <a:ext uri="{FF2B5EF4-FFF2-40B4-BE49-F238E27FC236}">
                <a16:creationId xmlns:a16="http://schemas.microsoft.com/office/drawing/2014/main" id="{AA258E1A-9B80-4FF9-A495-A6D6FF6A3E49}"/>
              </a:ext>
            </a:extLst>
          </p:cNvPr>
          <p:cNvSpPr>
            <a:spLocks noGrp="1"/>
          </p:cNvSpPr>
          <p:nvPr/>
        </p:nvSpPr>
        <p:spPr>
          <a:xfrm>
            <a:off x="1485900" y="6134100"/>
            <a:ext cx="2857500" cy="304800"/>
          </a:xfrm>
          <a:prstGeom prst="rect">
            <a:avLst/>
          </a:prstGeom>
          <a:noFill/>
          <a:ln w="0">
            <a:noFill/>
            <a:prstDash val="solid"/>
          </a:ln>
        </p:spPr>
        <p:txBody>
          <a:bodyPr lIns="0" tIns="0" rIns="0" bIns="0" anchor="t">
            <a:normAutofit/>
          </a:bodyPr>
          <a:lstStyle/>
          <a:p>
            <a:pPr algn="ctr">
              <a:buNone/>
              <a:defRPr sz="1050" b="0">
                <a:solidFill>
                  <a:srgbClr val="586879"/>
                </a:solidFill>
                <a:latin typeface="Arial"/>
                <a:ea typeface="Arial"/>
                <a:cs typeface="Arial"/>
              </a:defRPr>
            </a:pPr>
            <a:r>
              <a:rPr sz="1050" b="0">
                <a:solidFill>
                  <a:srgbClr val="586879"/>
                </a:solidFill>
                <a:latin typeface="Arial"/>
                <a:ea typeface="Arial"/>
                <a:cs typeface="Arial"/>
              </a:rPr>
              <a:t>Replace with actual app screenshot</a:t>
            </a:r>
          </a:p>
        </p:txBody>
      </p:sp>
      <p:sp>
        <p:nvSpPr>
          <p:cNvPr id="21" name="Rectangle 20">
            <a:extLst>
              <a:ext uri="{FF2B5EF4-FFF2-40B4-BE49-F238E27FC236}">
                <a16:creationId xmlns:a16="http://schemas.microsoft.com/office/drawing/2014/main" id="{DBEDC538-375A-4D76-BB56-370811EC4588}"/>
              </a:ext>
            </a:extLst>
          </p:cNvPr>
          <p:cNvSpPr>
            <a:spLocks noGrp="1"/>
          </p:cNvSpPr>
          <p:nvPr/>
        </p:nvSpPr>
        <p:spPr>
          <a:xfrm>
            <a:off x="609600" y="1924050"/>
            <a:ext cx="5257800" cy="38100"/>
          </a:xfrm>
          <a:prstGeom prst="rect">
            <a:avLst/>
          </a:prstGeom>
          <a:solidFill>
            <a:srgbClr val="3D8DFF"/>
          </a:solidFill>
          <a:ln w="0">
            <a:solidFill>
              <a:srgbClr val="3D8DFF"/>
            </a:solidFill>
            <a:prstDash val="solid"/>
          </a:ln>
        </p:spPr>
      </p:sp>
      <p:sp>
        <p:nvSpPr>
          <p:cNvPr id="22" name="Rectangle 21">
            <a:extLst>
              <a:ext uri="{FF2B5EF4-FFF2-40B4-BE49-F238E27FC236}">
                <a16:creationId xmlns:a16="http://schemas.microsoft.com/office/drawing/2014/main" id="{AEC6F310-9169-410B-AE55-CFFA6D1FDCD6}"/>
              </a:ext>
            </a:extLst>
          </p:cNvPr>
          <p:cNvSpPr>
            <a:spLocks noGrp="1"/>
          </p:cNvSpPr>
          <p:nvPr/>
        </p:nvSpPr>
        <p:spPr>
          <a:xfrm>
            <a:off x="6324600" y="1924050"/>
            <a:ext cx="5257800" cy="38100"/>
          </a:xfrm>
          <a:prstGeom prst="rect">
            <a:avLst/>
          </a:prstGeom>
          <a:solidFill>
            <a:srgbClr val="FF9B45"/>
          </a:solidFill>
          <a:ln w="0">
            <a:solidFill>
              <a:srgbClr val="FF9B45"/>
            </a:solidFill>
            <a:prstDash val="solid"/>
          </a:ln>
        </p:spPr>
      </p:sp>
      <p:sp>
        <p:nvSpPr>
          <p:cNvPr id="23" name="Rectangle 22">
            <a:extLst>
              <a:ext uri="{FF2B5EF4-FFF2-40B4-BE49-F238E27FC236}">
                <a16:creationId xmlns:a16="http://schemas.microsoft.com/office/drawing/2014/main" id="{84921A47-E570-4D41-93FE-B998BF0D97AE}"/>
              </a:ext>
            </a:extLst>
          </p:cNvPr>
          <p:cNvSpPr>
            <a:spLocks noGrp="1"/>
          </p:cNvSpPr>
          <p:nvPr/>
        </p:nvSpPr>
        <p:spPr>
          <a:xfrm>
            <a:off x="609600" y="2095500"/>
            <a:ext cx="5257800" cy="381000"/>
          </a:xfrm>
          <a:prstGeom prst="rect">
            <a:avLst/>
          </a:prstGeom>
          <a:noFill/>
          <a:ln w="0">
            <a:noFill/>
            <a:prstDash val="solid"/>
          </a:ln>
        </p:spPr>
        <p:txBody>
          <a:bodyPr lIns="0" tIns="0" rIns="0" bIns="0" anchor="t">
            <a:normAutofit/>
          </a:bodyPr>
          <a:lstStyle/>
          <a:p>
            <a:pPr algn="l">
              <a:buNone/>
              <a:defRPr sz="1800" b="1">
                <a:solidFill>
                  <a:srgbClr val="3D8DFF"/>
                </a:solidFill>
                <a:latin typeface="Arial"/>
                <a:ea typeface="Arial"/>
                <a:cs typeface="Arial"/>
              </a:defRPr>
            </a:pPr>
            <a:r>
              <a:rPr sz="1800" b="1">
                <a:solidFill>
                  <a:srgbClr val="3D8DFF"/>
                </a:solidFill>
                <a:latin typeface="Arial"/>
                <a:ea typeface="Arial"/>
                <a:cs typeface="Arial"/>
              </a:rPr>
              <a:t>Presenter focus</a:t>
            </a:r>
          </a:p>
        </p:txBody>
      </p:sp>
      <p:sp>
        <p:nvSpPr>
          <p:cNvPr id="24" name="Rectangle 23">
            <a:extLst>
              <a:ext uri="{FF2B5EF4-FFF2-40B4-BE49-F238E27FC236}">
                <a16:creationId xmlns:a16="http://schemas.microsoft.com/office/drawing/2014/main" id="{A0A85688-5E61-46CD-B9A3-6DCFD6BBE3CC}"/>
              </a:ext>
            </a:extLst>
          </p:cNvPr>
          <p:cNvSpPr>
            <a:spLocks noGrp="1"/>
          </p:cNvSpPr>
          <p:nvPr/>
        </p:nvSpPr>
        <p:spPr>
          <a:xfrm>
            <a:off x="609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 Save an answer</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Search history</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Bookmark and reopen</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Show offline behaviour if implemented</a:t>
            </a:r>
          </a:p>
        </p:txBody>
      </p:sp>
      <p:sp>
        <p:nvSpPr>
          <p:cNvPr id="25" name="Rectangle 24">
            <a:extLst>
              <a:ext uri="{FF2B5EF4-FFF2-40B4-BE49-F238E27FC236}">
                <a16:creationId xmlns:a16="http://schemas.microsoft.com/office/drawing/2014/main" id="{1CDD38DC-E8AD-419C-9357-0E747D9D022F}"/>
              </a:ext>
            </a:extLst>
          </p:cNvPr>
          <p:cNvSpPr>
            <a:spLocks noGrp="1"/>
          </p:cNvSpPr>
          <p:nvPr/>
        </p:nvSpPr>
        <p:spPr>
          <a:xfrm>
            <a:off x="6324600" y="2095500"/>
            <a:ext cx="5257800" cy="381000"/>
          </a:xfrm>
          <a:prstGeom prst="rect">
            <a:avLst/>
          </a:prstGeom>
          <a:noFill/>
          <a:ln w="0">
            <a:noFill/>
            <a:prstDash val="solid"/>
          </a:ln>
        </p:spPr>
        <p:txBody>
          <a:bodyPr lIns="0" tIns="0" rIns="0" bIns="0" anchor="t">
            <a:normAutofit/>
          </a:bodyPr>
          <a:lstStyle/>
          <a:p>
            <a:pPr algn="l">
              <a:buNone/>
              <a:defRPr sz="1800" b="1">
                <a:solidFill>
                  <a:srgbClr val="FF9B45"/>
                </a:solidFill>
                <a:latin typeface="Arial"/>
                <a:ea typeface="Arial"/>
                <a:cs typeface="Arial"/>
              </a:defRPr>
            </a:pPr>
            <a:r>
              <a:rPr sz="1800" b="1">
                <a:solidFill>
                  <a:srgbClr val="FF9B45"/>
                </a:solidFill>
                <a:latin typeface="Arial"/>
                <a:ea typeface="Arial"/>
                <a:cs typeface="Arial"/>
              </a:rPr>
              <a:t>Requirement demonstrated</a:t>
            </a:r>
          </a:p>
        </p:txBody>
      </p:sp>
      <p:sp>
        <p:nvSpPr>
          <p:cNvPr id="26" name="Rectangle 25">
            <a:extLst>
              <a:ext uri="{FF2B5EF4-FFF2-40B4-BE49-F238E27FC236}">
                <a16:creationId xmlns:a16="http://schemas.microsoft.com/office/drawing/2014/main" id="{8F379EF1-176D-4619-B754-C63B969E9F8F}"/>
              </a:ext>
            </a:extLst>
          </p:cNvPr>
          <p:cNvSpPr>
            <a:spLocks noGrp="1"/>
          </p:cNvSpPr>
          <p:nvPr/>
        </p:nvSpPr>
        <p:spPr>
          <a:xfrm>
            <a:off x="6324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Question history, personal library, search and bookmarks.</a:t>
            </a:r>
          </a:p>
        </p:txBody>
      </p:sp>
    </p:spTree>
    <p:extLst>
      <p:ext uri="{BB962C8B-B14F-4D97-AF65-F5344CB8AC3E}">
        <p14:creationId xmlns:p14="http://schemas.microsoft.com/office/powerpoint/2010/main" val="13080116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948E74FD-77D0-4767-BE13-B9E576D71031}"/>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DEMO / 05 - PRACTICE</a:t>
            </a:r>
          </a:p>
        </p:txBody>
      </p:sp>
      <p:sp>
        <p:nvSpPr>
          <p:cNvPr id="2" name="Rectangle 1">
            <a:extLst>
              <a:ext uri="{FF2B5EF4-FFF2-40B4-BE49-F238E27FC236}">
                <a16:creationId xmlns:a16="http://schemas.microsoft.com/office/drawing/2014/main" id="{AB853758-F311-4986-B46B-0AAEF0232916}"/>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36</a:t>
            </a:r>
          </a:p>
        </p:txBody>
      </p:sp>
      <p:sp>
        <p:nvSpPr>
          <p:cNvPr id="3" name="Rectangle 2">
            <a:extLst>
              <a:ext uri="{FF2B5EF4-FFF2-40B4-BE49-F238E27FC236}">
                <a16:creationId xmlns:a16="http://schemas.microsoft.com/office/drawing/2014/main" id="{B749E4ED-7C4A-4C95-A476-459058A9E5FC}"/>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2F151E4D-8A44-4ED3-90C4-959302165A07}"/>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E4A893F7-90AD-4310-84B3-65D959482550}"/>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Demo 5: turn an answer into practice</a:t>
            </a:r>
          </a:p>
        </p:txBody>
      </p:sp>
      <p:sp>
        <p:nvSpPr>
          <p:cNvPr id="6" name="Rectangle 5">
            <a:extLst>
              <a:ext uri="{FF2B5EF4-FFF2-40B4-BE49-F238E27FC236}">
                <a16:creationId xmlns:a16="http://schemas.microsoft.com/office/drawing/2014/main" id="{AE7D383E-7F85-4931-8638-1A965A8235E6}"/>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The demo should end with a next learning action rather than a passive result.</a:t>
            </a:r>
          </a:p>
        </p:txBody>
      </p:sp>
      <p:sp>
        <p:nvSpPr>
          <p:cNvPr id="7" name="Rectangle: Rounded Corners 6">
            <a:extLst>
              <a:ext uri="{FF2B5EF4-FFF2-40B4-BE49-F238E27FC236}">
                <a16:creationId xmlns:a16="http://schemas.microsoft.com/office/drawing/2014/main" id="{1573B43A-49C4-4C5B-A50E-4C9B7A007538}"/>
              </a:ext>
            </a:extLst>
          </p:cNvPr>
          <p:cNvSpPr>
            <a:spLocks noGrp="1"/>
          </p:cNvSpPr>
          <p:nvPr/>
        </p:nvSpPr>
        <p:spPr>
          <a:xfrm>
            <a:off x="1714500" y="1695450"/>
            <a:ext cx="2400300" cy="4324350"/>
          </a:xfrm>
          <a:prstGeom prst="roundRect">
            <a:avLst>
              <a:gd name="adj" fmla="val 3175"/>
            </a:avLst>
          </a:prstGeom>
          <a:solidFill>
            <a:srgbClr val="0F2A43"/>
          </a:solidFill>
          <a:ln w="0">
            <a:solidFill>
              <a:srgbClr val="0F2A43"/>
            </a:solidFill>
            <a:prstDash val="solid"/>
          </a:ln>
        </p:spPr>
      </p:sp>
      <p:sp>
        <p:nvSpPr>
          <p:cNvPr id="8" name="Rectangle: Rounded Corners 7">
            <a:extLst>
              <a:ext uri="{FF2B5EF4-FFF2-40B4-BE49-F238E27FC236}">
                <a16:creationId xmlns:a16="http://schemas.microsoft.com/office/drawing/2014/main" id="{9AF66E57-E426-4DD8-AB30-CD4173D2AA10}"/>
              </a:ext>
            </a:extLst>
          </p:cNvPr>
          <p:cNvSpPr>
            <a:spLocks noGrp="1"/>
          </p:cNvSpPr>
          <p:nvPr/>
        </p:nvSpPr>
        <p:spPr>
          <a:xfrm>
            <a:off x="1809750" y="1809750"/>
            <a:ext cx="2209800" cy="4095750"/>
          </a:xfrm>
          <a:prstGeom prst="roundRect">
            <a:avLst>
              <a:gd name="adj" fmla="val 3448"/>
            </a:avLst>
          </a:prstGeom>
          <a:solidFill>
            <a:srgbClr val="FFFFFF"/>
          </a:solidFill>
          <a:ln w="0">
            <a:solidFill>
              <a:srgbClr val="FFFFFF"/>
            </a:solidFill>
            <a:prstDash val="solid"/>
          </a:ln>
        </p:spPr>
      </p:sp>
      <p:sp>
        <p:nvSpPr>
          <p:cNvPr id="9" name="Rectangle: Rounded Corners 8">
            <a:extLst>
              <a:ext uri="{FF2B5EF4-FFF2-40B4-BE49-F238E27FC236}">
                <a16:creationId xmlns:a16="http://schemas.microsoft.com/office/drawing/2014/main" id="{11BF4896-6870-466B-9D1D-103F6D1A7E73}"/>
              </a:ext>
            </a:extLst>
          </p:cNvPr>
          <p:cNvSpPr>
            <a:spLocks noGrp="1"/>
          </p:cNvSpPr>
          <p:nvPr/>
        </p:nvSpPr>
        <p:spPr>
          <a:xfrm>
            <a:off x="2590800" y="1743075"/>
            <a:ext cx="647700" cy="95250"/>
          </a:xfrm>
          <a:prstGeom prst="roundRect">
            <a:avLst>
              <a:gd name="adj" fmla="val 50000"/>
            </a:avLst>
          </a:prstGeom>
          <a:solidFill>
            <a:srgbClr val="0B1220"/>
          </a:solidFill>
          <a:ln w="0">
            <a:solidFill>
              <a:srgbClr val="0B1220"/>
            </a:solidFill>
            <a:prstDash val="solid"/>
          </a:ln>
        </p:spPr>
      </p:sp>
      <p:sp>
        <p:nvSpPr>
          <p:cNvPr id="10" name="Rectangle 9">
            <a:extLst>
              <a:ext uri="{FF2B5EF4-FFF2-40B4-BE49-F238E27FC236}">
                <a16:creationId xmlns:a16="http://schemas.microsoft.com/office/drawing/2014/main" id="{A6ED50C6-08B5-4EE8-9E9C-53A8F71FCF84}"/>
              </a:ext>
            </a:extLst>
          </p:cNvPr>
          <p:cNvSpPr>
            <a:spLocks noGrp="1"/>
          </p:cNvSpPr>
          <p:nvPr/>
        </p:nvSpPr>
        <p:spPr>
          <a:xfrm>
            <a:off x="1943100" y="2057400"/>
            <a:ext cx="1943100" cy="247650"/>
          </a:xfrm>
          <a:prstGeom prst="rect">
            <a:avLst/>
          </a:prstGeom>
          <a:noFill/>
          <a:ln w="0">
            <a:noFill/>
            <a:prstDash val="solid"/>
          </a:ln>
        </p:spPr>
        <p:txBody>
          <a:bodyPr lIns="0" tIns="0" rIns="0" bIns="0" anchor="t">
            <a:normAutofit/>
          </a:bodyPr>
          <a:lstStyle/>
          <a:p>
            <a:pPr algn="l">
              <a:buNone/>
              <a:defRPr sz="1200" b="1">
                <a:solidFill>
                  <a:srgbClr val="0F2A43"/>
                </a:solidFill>
                <a:latin typeface="Arial"/>
                <a:ea typeface="Arial"/>
                <a:cs typeface="Arial"/>
              </a:defRPr>
            </a:pPr>
            <a:r>
              <a:rPr sz="1200" b="1">
                <a:solidFill>
                  <a:srgbClr val="0F2A43"/>
                </a:solidFill>
                <a:latin typeface="Arial"/>
                <a:ea typeface="Arial"/>
                <a:cs typeface="Arial"/>
              </a:rPr>
              <a:t>Practice</a:t>
            </a:r>
          </a:p>
        </p:txBody>
      </p:sp>
      <p:sp>
        <p:nvSpPr>
          <p:cNvPr id="11" name="Rectangle: Rounded Corners 10">
            <a:extLst>
              <a:ext uri="{FF2B5EF4-FFF2-40B4-BE49-F238E27FC236}">
                <a16:creationId xmlns:a16="http://schemas.microsoft.com/office/drawing/2014/main" id="{36DDD964-731E-4D83-950A-BF8F5135FE45}"/>
              </a:ext>
            </a:extLst>
          </p:cNvPr>
          <p:cNvSpPr>
            <a:spLocks noGrp="1"/>
          </p:cNvSpPr>
          <p:nvPr/>
        </p:nvSpPr>
        <p:spPr>
          <a:xfrm>
            <a:off x="1905000" y="2476500"/>
            <a:ext cx="2019300" cy="514350"/>
          </a:xfrm>
          <a:prstGeom prst="roundRect">
            <a:avLst>
              <a:gd name="adj" fmla="val 14815"/>
            </a:avLst>
          </a:prstGeom>
          <a:solidFill>
            <a:srgbClr val="F2F7FA"/>
          </a:solidFill>
          <a:ln w="9525">
            <a:solidFill>
              <a:srgbClr val="D7E0E8"/>
            </a:solidFill>
            <a:prstDash val="solid"/>
          </a:ln>
        </p:spPr>
      </p:sp>
      <p:sp>
        <p:nvSpPr>
          <p:cNvPr id="12" name="Rectangle 11">
            <a:extLst>
              <a:ext uri="{FF2B5EF4-FFF2-40B4-BE49-F238E27FC236}">
                <a16:creationId xmlns:a16="http://schemas.microsoft.com/office/drawing/2014/main" id="{2B3CEF1D-C2F9-4F79-AE20-E3CC7E78B0A4}"/>
              </a:ext>
            </a:extLst>
          </p:cNvPr>
          <p:cNvSpPr>
            <a:spLocks noGrp="1"/>
          </p:cNvSpPr>
          <p:nvPr/>
        </p:nvSpPr>
        <p:spPr>
          <a:xfrm>
            <a:off x="2000250" y="2590800"/>
            <a:ext cx="1828800" cy="304800"/>
          </a:xfrm>
          <a:prstGeom prst="rect">
            <a:avLst/>
          </a:prstGeom>
          <a:noFill/>
          <a:ln w="0">
            <a:noFill/>
            <a:prstDash val="solid"/>
          </a:ln>
        </p:spPr>
        <p:txBody>
          <a:bodyPr lIns="0" tIns="0" rIns="0" bIns="0" anchor="t">
            <a:normAutofit/>
          </a:bodyPr>
          <a:lstStyle/>
          <a:p>
            <a:pPr algn="l">
              <a:buNone/>
              <a:defRPr sz="1050" b="0">
                <a:solidFill>
                  <a:srgbClr val="0B1220"/>
                </a:solidFill>
                <a:latin typeface="Arial"/>
                <a:ea typeface="Arial"/>
                <a:cs typeface="Arial"/>
              </a:defRPr>
            </a:pPr>
            <a:r>
              <a:rPr sz="1050" b="0">
                <a:solidFill>
                  <a:srgbClr val="0B1220"/>
                </a:solidFill>
                <a:latin typeface="Arial"/>
                <a:ea typeface="Arial"/>
                <a:cs typeface="Arial"/>
              </a:rPr>
              <a:t>Choose question type</a:t>
            </a:r>
          </a:p>
        </p:txBody>
      </p:sp>
      <p:sp>
        <p:nvSpPr>
          <p:cNvPr id="13" name="Rectangle: Rounded Corners 12">
            <a:extLst>
              <a:ext uri="{FF2B5EF4-FFF2-40B4-BE49-F238E27FC236}">
                <a16:creationId xmlns:a16="http://schemas.microsoft.com/office/drawing/2014/main" id="{352E1940-E355-4F3A-B5B3-03A551F075AB}"/>
              </a:ext>
            </a:extLst>
          </p:cNvPr>
          <p:cNvSpPr>
            <a:spLocks noGrp="1"/>
          </p:cNvSpPr>
          <p:nvPr/>
        </p:nvSpPr>
        <p:spPr>
          <a:xfrm>
            <a:off x="1905000" y="3143250"/>
            <a:ext cx="2019300" cy="514350"/>
          </a:xfrm>
          <a:prstGeom prst="roundRect">
            <a:avLst>
              <a:gd name="adj" fmla="val 14815"/>
            </a:avLst>
          </a:prstGeom>
          <a:solidFill>
            <a:srgbClr val="F2F7FA"/>
          </a:solidFill>
          <a:ln w="9525">
            <a:solidFill>
              <a:srgbClr val="D7E0E8"/>
            </a:solidFill>
            <a:prstDash val="solid"/>
          </a:ln>
        </p:spPr>
      </p:sp>
      <p:sp>
        <p:nvSpPr>
          <p:cNvPr id="14" name="Rectangle 13">
            <a:extLst>
              <a:ext uri="{FF2B5EF4-FFF2-40B4-BE49-F238E27FC236}">
                <a16:creationId xmlns:a16="http://schemas.microsoft.com/office/drawing/2014/main" id="{2A698DDF-1D65-4E91-86C7-8B0EE973986B}"/>
              </a:ext>
            </a:extLst>
          </p:cNvPr>
          <p:cNvSpPr>
            <a:spLocks noGrp="1"/>
          </p:cNvSpPr>
          <p:nvPr/>
        </p:nvSpPr>
        <p:spPr>
          <a:xfrm>
            <a:off x="2000250" y="3257550"/>
            <a:ext cx="1828800" cy="304800"/>
          </a:xfrm>
          <a:prstGeom prst="rect">
            <a:avLst/>
          </a:prstGeom>
          <a:noFill/>
          <a:ln w="0">
            <a:noFill/>
            <a:prstDash val="solid"/>
          </a:ln>
        </p:spPr>
        <p:txBody>
          <a:bodyPr lIns="0" tIns="0" rIns="0" bIns="0" anchor="t">
            <a:normAutofit/>
          </a:bodyPr>
          <a:lstStyle/>
          <a:p>
            <a:pPr algn="l">
              <a:buNone/>
              <a:defRPr sz="1050" b="0">
                <a:solidFill>
                  <a:srgbClr val="0B1220"/>
                </a:solidFill>
                <a:latin typeface="Arial"/>
                <a:ea typeface="Arial"/>
                <a:cs typeface="Arial"/>
              </a:defRPr>
            </a:pPr>
            <a:r>
              <a:rPr sz="1050" b="0">
                <a:solidFill>
                  <a:srgbClr val="0B1220"/>
                </a:solidFill>
                <a:latin typeface="Arial"/>
                <a:ea typeface="Arial"/>
                <a:cs typeface="Arial"/>
              </a:rPr>
              <a:t>Submit attempt</a:t>
            </a:r>
          </a:p>
        </p:txBody>
      </p:sp>
      <p:sp>
        <p:nvSpPr>
          <p:cNvPr id="15" name="Rectangle: Rounded Corners 14">
            <a:extLst>
              <a:ext uri="{FF2B5EF4-FFF2-40B4-BE49-F238E27FC236}">
                <a16:creationId xmlns:a16="http://schemas.microsoft.com/office/drawing/2014/main" id="{9D193039-D296-4F0A-87FB-0D0B5655065D}"/>
              </a:ext>
            </a:extLst>
          </p:cNvPr>
          <p:cNvSpPr>
            <a:spLocks noGrp="1"/>
          </p:cNvSpPr>
          <p:nvPr/>
        </p:nvSpPr>
        <p:spPr>
          <a:xfrm>
            <a:off x="1905000" y="3810000"/>
            <a:ext cx="2019300" cy="514350"/>
          </a:xfrm>
          <a:prstGeom prst="roundRect">
            <a:avLst>
              <a:gd name="adj" fmla="val 14815"/>
            </a:avLst>
          </a:prstGeom>
          <a:solidFill>
            <a:srgbClr val="F2F7FA"/>
          </a:solidFill>
          <a:ln w="9525">
            <a:solidFill>
              <a:srgbClr val="D7E0E8"/>
            </a:solidFill>
            <a:prstDash val="solid"/>
          </a:ln>
        </p:spPr>
      </p:sp>
      <p:sp>
        <p:nvSpPr>
          <p:cNvPr id="16" name="Rectangle 15">
            <a:extLst>
              <a:ext uri="{FF2B5EF4-FFF2-40B4-BE49-F238E27FC236}">
                <a16:creationId xmlns:a16="http://schemas.microsoft.com/office/drawing/2014/main" id="{CFA5D89B-F3C3-453E-91B6-BCF274A0E439}"/>
              </a:ext>
            </a:extLst>
          </p:cNvPr>
          <p:cNvSpPr>
            <a:spLocks noGrp="1"/>
          </p:cNvSpPr>
          <p:nvPr/>
        </p:nvSpPr>
        <p:spPr>
          <a:xfrm>
            <a:off x="2000250" y="3924300"/>
            <a:ext cx="1828800" cy="304800"/>
          </a:xfrm>
          <a:prstGeom prst="rect">
            <a:avLst/>
          </a:prstGeom>
          <a:noFill/>
          <a:ln w="0">
            <a:noFill/>
            <a:prstDash val="solid"/>
          </a:ln>
        </p:spPr>
        <p:txBody>
          <a:bodyPr lIns="0" tIns="0" rIns="0" bIns="0" anchor="t">
            <a:normAutofit/>
          </a:bodyPr>
          <a:lstStyle/>
          <a:p>
            <a:pPr algn="l">
              <a:buNone/>
              <a:defRPr sz="1050" b="0">
                <a:solidFill>
                  <a:srgbClr val="0B1220"/>
                </a:solidFill>
                <a:latin typeface="Arial"/>
                <a:ea typeface="Arial"/>
                <a:cs typeface="Arial"/>
              </a:defRPr>
            </a:pPr>
            <a:r>
              <a:rPr sz="1050" b="0">
                <a:solidFill>
                  <a:srgbClr val="0B1220"/>
                </a:solidFill>
                <a:latin typeface="Arial"/>
                <a:ea typeface="Arial"/>
                <a:cs typeface="Arial"/>
              </a:rPr>
              <a:t>Instant feedback</a:t>
            </a:r>
          </a:p>
        </p:txBody>
      </p:sp>
      <p:sp>
        <p:nvSpPr>
          <p:cNvPr id="17" name="Rectangle: Rounded Corners 16">
            <a:extLst>
              <a:ext uri="{FF2B5EF4-FFF2-40B4-BE49-F238E27FC236}">
                <a16:creationId xmlns:a16="http://schemas.microsoft.com/office/drawing/2014/main" id="{AB970F5F-5A92-4E4E-913F-8EC08716791B}"/>
              </a:ext>
            </a:extLst>
          </p:cNvPr>
          <p:cNvSpPr>
            <a:spLocks noGrp="1"/>
          </p:cNvSpPr>
          <p:nvPr/>
        </p:nvSpPr>
        <p:spPr>
          <a:xfrm>
            <a:off x="1905000" y="4476750"/>
            <a:ext cx="2019300" cy="514350"/>
          </a:xfrm>
          <a:prstGeom prst="roundRect">
            <a:avLst>
              <a:gd name="adj" fmla="val 14815"/>
            </a:avLst>
          </a:prstGeom>
          <a:solidFill>
            <a:srgbClr val="FFF3E8"/>
          </a:solidFill>
          <a:ln w="9525">
            <a:solidFill>
              <a:srgbClr val="D7E0E8"/>
            </a:solidFill>
            <a:prstDash val="solid"/>
          </a:ln>
        </p:spPr>
      </p:sp>
      <p:sp>
        <p:nvSpPr>
          <p:cNvPr id="18" name="Rectangle 17">
            <a:extLst>
              <a:ext uri="{FF2B5EF4-FFF2-40B4-BE49-F238E27FC236}">
                <a16:creationId xmlns:a16="http://schemas.microsoft.com/office/drawing/2014/main" id="{AED026B3-5F59-412B-99D3-20A4C297F002}"/>
              </a:ext>
            </a:extLst>
          </p:cNvPr>
          <p:cNvSpPr>
            <a:spLocks noGrp="1"/>
          </p:cNvSpPr>
          <p:nvPr/>
        </p:nvSpPr>
        <p:spPr>
          <a:xfrm>
            <a:off x="2000250" y="4591050"/>
            <a:ext cx="1828800" cy="304800"/>
          </a:xfrm>
          <a:prstGeom prst="rect">
            <a:avLst/>
          </a:prstGeom>
          <a:noFill/>
          <a:ln w="0">
            <a:noFill/>
            <a:prstDash val="solid"/>
          </a:ln>
        </p:spPr>
        <p:txBody>
          <a:bodyPr lIns="0" tIns="0" rIns="0" bIns="0" anchor="t">
            <a:normAutofit/>
          </a:bodyPr>
          <a:lstStyle/>
          <a:p>
            <a:pPr algn="l">
              <a:buNone/>
              <a:defRPr sz="1050" b="0">
                <a:solidFill>
                  <a:srgbClr val="FF9B45"/>
                </a:solidFill>
                <a:latin typeface="Arial"/>
                <a:ea typeface="Arial"/>
                <a:cs typeface="Arial"/>
              </a:defRPr>
            </a:pPr>
            <a:r>
              <a:rPr sz="1050" b="0">
                <a:solidFill>
                  <a:srgbClr val="FF9B45"/>
                </a:solidFill>
                <a:latin typeface="Arial"/>
                <a:ea typeface="Arial"/>
                <a:cs typeface="Arial"/>
              </a:rPr>
              <a:t>Review weak topic</a:t>
            </a:r>
          </a:p>
        </p:txBody>
      </p:sp>
      <p:sp>
        <p:nvSpPr>
          <p:cNvPr id="19" name="Oval 18">
            <a:extLst>
              <a:ext uri="{FF2B5EF4-FFF2-40B4-BE49-F238E27FC236}">
                <a16:creationId xmlns:a16="http://schemas.microsoft.com/office/drawing/2014/main" id="{4DDAC32F-450A-45E4-9F0C-7CF993CEC19B}"/>
              </a:ext>
            </a:extLst>
          </p:cNvPr>
          <p:cNvSpPr>
            <a:spLocks noGrp="1"/>
          </p:cNvSpPr>
          <p:nvPr/>
        </p:nvSpPr>
        <p:spPr>
          <a:xfrm>
            <a:off x="2876550" y="5791200"/>
            <a:ext cx="76200" cy="76200"/>
          </a:xfrm>
          <a:prstGeom prst="ellipse">
            <a:avLst/>
          </a:prstGeom>
          <a:solidFill>
            <a:srgbClr val="0DA6A6"/>
          </a:solidFill>
          <a:ln w="0">
            <a:solidFill>
              <a:srgbClr val="0DA6A6"/>
            </a:solidFill>
            <a:prstDash val="solid"/>
          </a:ln>
        </p:spPr>
      </p:sp>
      <p:sp>
        <p:nvSpPr>
          <p:cNvPr id="20" name="Rectangle 19">
            <a:extLst>
              <a:ext uri="{FF2B5EF4-FFF2-40B4-BE49-F238E27FC236}">
                <a16:creationId xmlns:a16="http://schemas.microsoft.com/office/drawing/2014/main" id="{63960107-D369-4F9A-A50B-4E4675293EB2}"/>
              </a:ext>
            </a:extLst>
          </p:cNvPr>
          <p:cNvSpPr>
            <a:spLocks noGrp="1"/>
          </p:cNvSpPr>
          <p:nvPr/>
        </p:nvSpPr>
        <p:spPr>
          <a:xfrm>
            <a:off x="1485900" y="6134100"/>
            <a:ext cx="2857500" cy="304800"/>
          </a:xfrm>
          <a:prstGeom prst="rect">
            <a:avLst/>
          </a:prstGeom>
          <a:noFill/>
          <a:ln w="0">
            <a:noFill/>
            <a:prstDash val="solid"/>
          </a:ln>
        </p:spPr>
        <p:txBody>
          <a:bodyPr lIns="0" tIns="0" rIns="0" bIns="0" anchor="t">
            <a:normAutofit/>
          </a:bodyPr>
          <a:lstStyle/>
          <a:p>
            <a:pPr algn="ctr">
              <a:buNone/>
              <a:defRPr sz="1050" b="0">
                <a:solidFill>
                  <a:srgbClr val="586879"/>
                </a:solidFill>
                <a:latin typeface="Arial"/>
                <a:ea typeface="Arial"/>
                <a:cs typeface="Arial"/>
              </a:defRPr>
            </a:pPr>
            <a:r>
              <a:rPr sz="1050" b="0">
                <a:solidFill>
                  <a:srgbClr val="586879"/>
                </a:solidFill>
                <a:latin typeface="Arial"/>
                <a:ea typeface="Arial"/>
                <a:cs typeface="Arial"/>
              </a:rPr>
              <a:t>Replace with actual app screenshot</a:t>
            </a:r>
          </a:p>
        </p:txBody>
      </p:sp>
      <p:sp>
        <p:nvSpPr>
          <p:cNvPr id="21" name="Rectangle 20">
            <a:extLst>
              <a:ext uri="{FF2B5EF4-FFF2-40B4-BE49-F238E27FC236}">
                <a16:creationId xmlns:a16="http://schemas.microsoft.com/office/drawing/2014/main" id="{BB26B804-9DCD-4B4B-94DE-9E1E0BB8B547}"/>
              </a:ext>
            </a:extLst>
          </p:cNvPr>
          <p:cNvSpPr>
            <a:spLocks noGrp="1"/>
          </p:cNvSpPr>
          <p:nvPr/>
        </p:nvSpPr>
        <p:spPr>
          <a:xfrm>
            <a:off x="609600" y="1924050"/>
            <a:ext cx="5257800" cy="38100"/>
          </a:xfrm>
          <a:prstGeom prst="rect">
            <a:avLst/>
          </a:prstGeom>
          <a:solidFill>
            <a:srgbClr val="0DA6A6"/>
          </a:solidFill>
          <a:ln w="0">
            <a:solidFill>
              <a:srgbClr val="0DA6A6"/>
            </a:solidFill>
            <a:prstDash val="solid"/>
          </a:ln>
        </p:spPr>
      </p:sp>
      <p:sp>
        <p:nvSpPr>
          <p:cNvPr id="22" name="Rectangle 21">
            <a:extLst>
              <a:ext uri="{FF2B5EF4-FFF2-40B4-BE49-F238E27FC236}">
                <a16:creationId xmlns:a16="http://schemas.microsoft.com/office/drawing/2014/main" id="{C7EC8B17-311C-4DCF-9859-F4729494F602}"/>
              </a:ext>
            </a:extLst>
          </p:cNvPr>
          <p:cNvSpPr>
            <a:spLocks noGrp="1"/>
          </p:cNvSpPr>
          <p:nvPr/>
        </p:nvSpPr>
        <p:spPr>
          <a:xfrm>
            <a:off x="6324600" y="1924050"/>
            <a:ext cx="5257800" cy="38100"/>
          </a:xfrm>
          <a:prstGeom prst="rect">
            <a:avLst/>
          </a:prstGeom>
          <a:solidFill>
            <a:srgbClr val="FF9B45"/>
          </a:solidFill>
          <a:ln w="0">
            <a:solidFill>
              <a:srgbClr val="FF9B45"/>
            </a:solidFill>
            <a:prstDash val="solid"/>
          </a:ln>
        </p:spPr>
      </p:sp>
      <p:sp>
        <p:nvSpPr>
          <p:cNvPr id="23" name="Rectangle 22">
            <a:extLst>
              <a:ext uri="{FF2B5EF4-FFF2-40B4-BE49-F238E27FC236}">
                <a16:creationId xmlns:a16="http://schemas.microsoft.com/office/drawing/2014/main" id="{2C3BF3E7-35BD-48C0-AC70-4BEE5EF51614}"/>
              </a:ext>
            </a:extLst>
          </p:cNvPr>
          <p:cNvSpPr>
            <a:spLocks noGrp="1"/>
          </p:cNvSpPr>
          <p:nvPr/>
        </p:nvSpPr>
        <p:spPr>
          <a:xfrm>
            <a:off x="609600" y="2095500"/>
            <a:ext cx="5257800" cy="381000"/>
          </a:xfrm>
          <a:prstGeom prst="rect">
            <a:avLst/>
          </a:prstGeom>
          <a:noFill/>
          <a:ln w="0">
            <a:noFill/>
            <a:prstDash val="solid"/>
          </a:ln>
        </p:spPr>
        <p:txBody>
          <a:bodyPr lIns="0" tIns="0" rIns="0" bIns="0" anchor="t">
            <a:normAutofit/>
          </a:bodyPr>
          <a:lstStyle/>
          <a:p>
            <a:pPr algn="l">
              <a:buNone/>
              <a:defRPr sz="1800" b="1">
                <a:solidFill>
                  <a:srgbClr val="0DA6A6"/>
                </a:solidFill>
                <a:latin typeface="Arial"/>
                <a:ea typeface="Arial"/>
                <a:cs typeface="Arial"/>
              </a:defRPr>
            </a:pPr>
            <a:r>
              <a:rPr sz="1800" b="1">
                <a:solidFill>
                  <a:srgbClr val="0DA6A6"/>
                </a:solidFill>
                <a:latin typeface="Arial"/>
                <a:ea typeface="Arial"/>
                <a:cs typeface="Arial"/>
              </a:rPr>
              <a:t>Presenter focus</a:t>
            </a:r>
          </a:p>
        </p:txBody>
      </p:sp>
      <p:sp>
        <p:nvSpPr>
          <p:cNvPr id="24" name="Rectangle 23">
            <a:extLst>
              <a:ext uri="{FF2B5EF4-FFF2-40B4-BE49-F238E27FC236}">
                <a16:creationId xmlns:a16="http://schemas.microsoft.com/office/drawing/2014/main" id="{317F5D24-0E6B-4140-B3CA-05816BF63682}"/>
              </a:ext>
            </a:extLst>
          </p:cNvPr>
          <p:cNvSpPr>
            <a:spLocks noGrp="1"/>
          </p:cNvSpPr>
          <p:nvPr/>
        </p:nvSpPr>
        <p:spPr>
          <a:xfrm>
            <a:off x="609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 Generate or open practice</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Submit an attempt</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Show feedback</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Link back to progress</a:t>
            </a:r>
          </a:p>
        </p:txBody>
      </p:sp>
      <p:sp>
        <p:nvSpPr>
          <p:cNvPr id="25" name="Rectangle 24">
            <a:extLst>
              <a:ext uri="{FF2B5EF4-FFF2-40B4-BE49-F238E27FC236}">
                <a16:creationId xmlns:a16="http://schemas.microsoft.com/office/drawing/2014/main" id="{B640021B-F959-4800-9DEE-8E3BF6A99823}"/>
              </a:ext>
            </a:extLst>
          </p:cNvPr>
          <p:cNvSpPr>
            <a:spLocks noGrp="1"/>
          </p:cNvSpPr>
          <p:nvPr/>
        </p:nvSpPr>
        <p:spPr>
          <a:xfrm>
            <a:off x="6324600" y="2095500"/>
            <a:ext cx="5257800" cy="381000"/>
          </a:xfrm>
          <a:prstGeom prst="rect">
            <a:avLst/>
          </a:prstGeom>
          <a:noFill/>
          <a:ln w="0">
            <a:noFill/>
            <a:prstDash val="solid"/>
          </a:ln>
        </p:spPr>
        <p:txBody>
          <a:bodyPr lIns="0" tIns="0" rIns="0" bIns="0" anchor="t">
            <a:normAutofit/>
          </a:bodyPr>
          <a:lstStyle/>
          <a:p>
            <a:pPr algn="l">
              <a:buNone/>
              <a:defRPr sz="1800" b="1">
                <a:solidFill>
                  <a:srgbClr val="FF9B45"/>
                </a:solidFill>
                <a:latin typeface="Arial"/>
                <a:ea typeface="Arial"/>
                <a:cs typeface="Arial"/>
              </a:defRPr>
            </a:pPr>
            <a:r>
              <a:rPr sz="1800" b="1">
                <a:solidFill>
                  <a:srgbClr val="FF9B45"/>
                </a:solidFill>
                <a:latin typeface="Arial"/>
                <a:ea typeface="Arial"/>
                <a:cs typeface="Arial"/>
              </a:rPr>
              <a:t>Requirement demonstrated</a:t>
            </a:r>
          </a:p>
        </p:txBody>
      </p:sp>
      <p:sp>
        <p:nvSpPr>
          <p:cNvPr id="26" name="Rectangle 25">
            <a:extLst>
              <a:ext uri="{FF2B5EF4-FFF2-40B4-BE49-F238E27FC236}">
                <a16:creationId xmlns:a16="http://schemas.microsoft.com/office/drawing/2014/main" id="{3D873724-D670-46DB-9618-DA263DBD77E9}"/>
              </a:ext>
            </a:extLst>
          </p:cNvPr>
          <p:cNvSpPr>
            <a:spLocks noGrp="1"/>
          </p:cNvSpPr>
          <p:nvPr/>
        </p:nvSpPr>
        <p:spPr>
          <a:xfrm>
            <a:off x="6324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AI-generated practice questions, instant feedback and progress tracking.</a:t>
            </a:r>
          </a:p>
        </p:txBody>
      </p:sp>
    </p:spTree>
    <p:extLst>
      <p:ext uri="{BB962C8B-B14F-4D97-AF65-F5344CB8AC3E}">
        <p14:creationId xmlns:p14="http://schemas.microsoft.com/office/powerpoint/2010/main" val="7432491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7732CBE7-E646-4F9A-8803-9F559DE17D71}"/>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DEMO / 06 - END-TO-END</a:t>
            </a:r>
          </a:p>
        </p:txBody>
      </p:sp>
      <p:sp>
        <p:nvSpPr>
          <p:cNvPr id="2" name="Rectangle 1">
            <a:extLst>
              <a:ext uri="{FF2B5EF4-FFF2-40B4-BE49-F238E27FC236}">
                <a16:creationId xmlns:a16="http://schemas.microsoft.com/office/drawing/2014/main" id="{BF1D7DA9-9177-4E79-A13F-068925157821}"/>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37</a:t>
            </a:r>
          </a:p>
        </p:txBody>
      </p:sp>
      <p:sp>
        <p:nvSpPr>
          <p:cNvPr id="3" name="Rectangle 2">
            <a:extLst>
              <a:ext uri="{FF2B5EF4-FFF2-40B4-BE49-F238E27FC236}">
                <a16:creationId xmlns:a16="http://schemas.microsoft.com/office/drawing/2014/main" id="{C4C4AE3A-9C4D-4959-A976-7F1AE59E3952}"/>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413F0AC3-E7D3-4DA1-8FED-490A0C067CE9}"/>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5308C6C3-EDC5-4094-9A5D-4D1866AC39DF}"/>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Demo 6: complete the learning loop</a:t>
            </a:r>
          </a:p>
        </p:txBody>
      </p:sp>
      <p:sp>
        <p:nvSpPr>
          <p:cNvPr id="6" name="Rectangle 5">
            <a:extLst>
              <a:ext uri="{FF2B5EF4-FFF2-40B4-BE49-F238E27FC236}">
                <a16:creationId xmlns:a16="http://schemas.microsoft.com/office/drawing/2014/main" id="{A03846A1-C615-4F54-ACAF-805F054A654E}"/>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Use this sequence as the individual live-demo route.</a:t>
            </a:r>
          </a:p>
        </p:txBody>
      </p:sp>
      <p:sp>
        <p:nvSpPr>
          <p:cNvPr id="7" name="Rectangle 6">
            <a:extLst>
              <a:ext uri="{FF2B5EF4-FFF2-40B4-BE49-F238E27FC236}">
                <a16:creationId xmlns:a16="http://schemas.microsoft.com/office/drawing/2014/main" id="{1EB2E39F-DD41-4D0F-91E6-CC8EF7C907EB}"/>
              </a:ext>
            </a:extLst>
          </p:cNvPr>
          <p:cNvSpPr>
            <a:spLocks noGrp="1"/>
          </p:cNvSpPr>
          <p:nvPr/>
        </p:nvSpPr>
        <p:spPr>
          <a:xfrm>
            <a:off x="2076450" y="2581275"/>
            <a:ext cx="1181100" cy="28575"/>
          </a:xfrm>
          <a:prstGeom prst="rect">
            <a:avLst/>
          </a:prstGeom>
          <a:solidFill>
            <a:srgbClr val="D7E0E8"/>
          </a:solidFill>
          <a:ln w="0">
            <a:solidFill>
              <a:srgbClr val="D7E0E8"/>
            </a:solidFill>
            <a:prstDash val="solid"/>
          </a:ln>
        </p:spPr>
      </p:sp>
      <p:sp>
        <p:nvSpPr>
          <p:cNvPr id="8" name="Oval 7">
            <a:extLst>
              <a:ext uri="{FF2B5EF4-FFF2-40B4-BE49-F238E27FC236}">
                <a16:creationId xmlns:a16="http://schemas.microsoft.com/office/drawing/2014/main" id="{E8671F8A-A318-4156-AFD7-C5944DF6B32D}"/>
              </a:ext>
            </a:extLst>
          </p:cNvPr>
          <p:cNvSpPr>
            <a:spLocks noGrp="1"/>
          </p:cNvSpPr>
          <p:nvPr/>
        </p:nvSpPr>
        <p:spPr>
          <a:xfrm>
            <a:off x="1543050" y="2333625"/>
            <a:ext cx="533400" cy="533400"/>
          </a:xfrm>
          <a:prstGeom prst="ellipse">
            <a:avLst/>
          </a:prstGeom>
          <a:solidFill>
            <a:srgbClr val="3D8DFF"/>
          </a:solidFill>
          <a:ln w="0">
            <a:solidFill>
              <a:srgbClr val="3D8DFF"/>
            </a:solidFill>
            <a:prstDash val="solid"/>
          </a:ln>
        </p:spPr>
      </p:sp>
      <p:sp>
        <p:nvSpPr>
          <p:cNvPr id="9" name="Rectangle 8">
            <a:extLst>
              <a:ext uri="{FF2B5EF4-FFF2-40B4-BE49-F238E27FC236}">
                <a16:creationId xmlns:a16="http://schemas.microsoft.com/office/drawing/2014/main" id="{30A87EAA-0119-4CC9-A052-1841B01A87EE}"/>
              </a:ext>
            </a:extLst>
          </p:cNvPr>
          <p:cNvSpPr>
            <a:spLocks noGrp="1"/>
          </p:cNvSpPr>
          <p:nvPr/>
        </p:nvSpPr>
        <p:spPr>
          <a:xfrm>
            <a:off x="1543050" y="2476500"/>
            <a:ext cx="533400" cy="266700"/>
          </a:xfrm>
          <a:prstGeom prst="rect">
            <a:avLst/>
          </a:prstGeom>
          <a:noFill/>
          <a:ln w="0">
            <a:noFill/>
            <a:prstDash val="solid"/>
          </a:ln>
        </p:spPr>
        <p:txBody>
          <a:bodyPr lIns="0" tIns="0" rIns="0" bIns="0" anchor="t">
            <a:normAutofit/>
          </a:bodyPr>
          <a:lstStyle/>
          <a:p>
            <a:pPr algn="ctr">
              <a:buNone/>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10" name="Rectangle 9">
            <a:extLst>
              <a:ext uri="{FF2B5EF4-FFF2-40B4-BE49-F238E27FC236}">
                <a16:creationId xmlns:a16="http://schemas.microsoft.com/office/drawing/2014/main" id="{799A6A9F-D239-4970-8D6F-502D255F7FC3}"/>
              </a:ext>
            </a:extLst>
          </p:cNvPr>
          <p:cNvSpPr>
            <a:spLocks noGrp="1"/>
          </p:cNvSpPr>
          <p:nvPr/>
        </p:nvSpPr>
        <p:spPr>
          <a:xfrm>
            <a:off x="1047750" y="3057525"/>
            <a:ext cx="1524000" cy="381000"/>
          </a:xfrm>
          <a:prstGeom prst="rect">
            <a:avLst/>
          </a:prstGeom>
          <a:noFill/>
          <a:ln w="0">
            <a:noFill/>
            <a:prstDash val="solid"/>
          </a:ln>
        </p:spPr>
        <p:txBody>
          <a:bodyPr lIns="0" tIns="0" rIns="0" bIns="0" anchor="t">
            <a:normAutofit/>
          </a:bodyPr>
          <a:lstStyle/>
          <a:p>
            <a:pPr algn="ctr">
              <a:buNone/>
              <a:defRPr sz="1200" b="1">
                <a:solidFill>
                  <a:srgbClr val="0B1220"/>
                </a:solidFill>
                <a:latin typeface="Arial"/>
                <a:ea typeface="Arial"/>
                <a:cs typeface="Arial"/>
              </a:defRPr>
            </a:pPr>
            <a:r>
              <a:rPr sz="1200" b="1">
                <a:solidFill>
                  <a:srgbClr val="0B1220"/>
                </a:solidFill>
                <a:latin typeface="Arial"/>
                <a:ea typeface="Arial"/>
                <a:cs typeface="Arial"/>
              </a:rPr>
              <a:t>Login</a:t>
            </a:r>
          </a:p>
        </p:txBody>
      </p:sp>
      <p:sp>
        <p:nvSpPr>
          <p:cNvPr id="11" name="Rectangle 10">
            <a:extLst>
              <a:ext uri="{FF2B5EF4-FFF2-40B4-BE49-F238E27FC236}">
                <a16:creationId xmlns:a16="http://schemas.microsoft.com/office/drawing/2014/main" id="{24E99BF2-A4EB-41E8-B34E-CCA921EF3752}"/>
              </a:ext>
            </a:extLst>
          </p:cNvPr>
          <p:cNvSpPr>
            <a:spLocks noGrp="1"/>
          </p:cNvSpPr>
          <p:nvPr/>
        </p:nvSpPr>
        <p:spPr>
          <a:xfrm>
            <a:off x="3790950" y="2581275"/>
            <a:ext cx="1181100" cy="28575"/>
          </a:xfrm>
          <a:prstGeom prst="rect">
            <a:avLst/>
          </a:prstGeom>
          <a:solidFill>
            <a:srgbClr val="D7E0E8"/>
          </a:solidFill>
          <a:ln w="0">
            <a:solidFill>
              <a:srgbClr val="D7E0E8"/>
            </a:solidFill>
            <a:prstDash val="solid"/>
          </a:ln>
        </p:spPr>
      </p:sp>
      <p:sp>
        <p:nvSpPr>
          <p:cNvPr id="12" name="Oval 11">
            <a:extLst>
              <a:ext uri="{FF2B5EF4-FFF2-40B4-BE49-F238E27FC236}">
                <a16:creationId xmlns:a16="http://schemas.microsoft.com/office/drawing/2014/main" id="{5867E9DB-2006-47BF-A601-6688206237FC}"/>
              </a:ext>
            </a:extLst>
          </p:cNvPr>
          <p:cNvSpPr>
            <a:spLocks noGrp="1"/>
          </p:cNvSpPr>
          <p:nvPr/>
        </p:nvSpPr>
        <p:spPr>
          <a:xfrm>
            <a:off x="3257550" y="2333625"/>
            <a:ext cx="533400" cy="533400"/>
          </a:xfrm>
          <a:prstGeom prst="ellipse">
            <a:avLst/>
          </a:prstGeom>
          <a:solidFill>
            <a:srgbClr val="EAF5FB"/>
          </a:solidFill>
          <a:ln w="0">
            <a:solidFill>
              <a:srgbClr val="EAF5FB"/>
            </a:solidFill>
            <a:prstDash val="solid"/>
          </a:ln>
        </p:spPr>
      </p:sp>
      <p:sp>
        <p:nvSpPr>
          <p:cNvPr id="13" name="Rectangle 12">
            <a:extLst>
              <a:ext uri="{FF2B5EF4-FFF2-40B4-BE49-F238E27FC236}">
                <a16:creationId xmlns:a16="http://schemas.microsoft.com/office/drawing/2014/main" id="{4663CC41-CAD9-4FDF-9145-3DC97E737DEC}"/>
              </a:ext>
            </a:extLst>
          </p:cNvPr>
          <p:cNvSpPr>
            <a:spLocks noGrp="1"/>
          </p:cNvSpPr>
          <p:nvPr/>
        </p:nvSpPr>
        <p:spPr>
          <a:xfrm>
            <a:off x="3257550" y="2476500"/>
            <a:ext cx="533400" cy="266700"/>
          </a:xfrm>
          <a:prstGeom prst="rect">
            <a:avLst/>
          </a:prstGeom>
          <a:noFill/>
          <a:ln w="0">
            <a:noFill/>
            <a:prstDash val="solid"/>
          </a:ln>
        </p:spPr>
        <p:txBody>
          <a:bodyPr lIns="0" tIns="0" rIns="0" bIns="0" anchor="t">
            <a:normAutofit/>
          </a:bodyPr>
          <a:lstStyle/>
          <a:p>
            <a:pPr algn="ctr">
              <a:buNone/>
              <a:defRPr sz="1350" b="1">
                <a:solidFill>
                  <a:srgbClr val="0F2A43"/>
                </a:solidFill>
                <a:latin typeface="Arial"/>
                <a:ea typeface="Arial"/>
                <a:cs typeface="Arial"/>
              </a:defRPr>
            </a:pPr>
            <a:r>
              <a:rPr sz="1350" b="1">
                <a:solidFill>
                  <a:srgbClr val="0F2A43"/>
                </a:solidFill>
                <a:latin typeface="Arial"/>
                <a:ea typeface="Arial"/>
                <a:cs typeface="Arial"/>
              </a:rPr>
              <a:t>2</a:t>
            </a:r>
          </a:p>
        </p:txBody>
      </p:sp>
      <p:sp>
        <p:nvSpPr>
          <p:cNvPr id="14" name="Rectangle 13">
            <a:extLst>
              <a:ext uri="{FF2B5EF4-FFF2-40B4-BE49-F238E27FC236}">
                <a16:creationId xmlns:a16="http://schemas.microsoft.com/office/drawing/2014/main" id="{1901BD7E-071B-4235-ACDE-32334A9DEA14}"/>
              </a:ext>
            </a:extLst>
          </p:cNvPr>
          <p:cNvSpPr>
            <a:spLocks noGrp="1"/>
          </p:cNvSpPr>
          <p:nvPr/>
        </p:nvSpPr>
        <p:spPr>
          <a:xfrm>
            <a:off x="2762250" y="3057525"/>
            <a:ext cx="1524000" cy="381000"/>
          </a:xfrm>
          <a:prstGeom prst="rect">
            <a:avLst/>
          </a:prstGeom>
          <a:noFill/>
          <a:ln w="0">
            <a:noFill/>
            <a:prstDash val="solid"/>
          </a:ln>
        </p:spPr>
        <p:txBody>
          <a:bodyPr lIns="0" tIns="0" rIns="0" bIns="0" anchor="t">
            <a:normAutofit/>
          </a:bodyPr>
          <a:lstStyle/>
          <a:p>
            <a:pPr algn="ctr">
              <a:buNone/>
              <a:defRPr sz="1200" b="1">
                <a:solidFill>
                  <a:srgbClr val="0B1220"/>
                </a:solidFill>
                <a:latin typeface="Arial"/>
                <a:ea typeface="Arial"/>
                <a:cs typeface="Arial"/>
              </a:defRPr>
            </a:pPr>
            <a:r>
              <a:rPr sz="1200" b="1">
                <a:solidFill>
                  <a:srgbClr val="0B1220"/>
                </a:solidFill>
                <a:latin typeface="Arial"/>
                <a:ea typeface="Arial"/>
                <a:cs typeface="Arial"/>
              </a:rPr>
              <a:t>Ask</a:t>
            </a:r>
          </a:p>
        </p:txBody>
      </p:sp>
      <p:sp>
        <p:nvSpPr>
          <p:cNvPr id="15" name="Rectangle 14">
            <a:extLst>
              <a:ext uri="{FF2B5EF4-FFF2-40B4-BE49-F238E27FC236}">
                <a16:creationId xmlns:a16="http://schemas.microsoft.com/office/drawing/2014/main" id="{98DA03E4-6D51-4D75-8F43-83224AFFE73F}"/>
              </a:ext>
            </a:extLst>
          </p:cNvPr>
          <p:cNvSpPr>
            <a:spLocks noGrp="1"/>
          </p:cNvSpPr>
          <p:nvPr/>
        </p:nvSpPr>
        <p:spPr>
          <a:xfrm>
            <a:off x="5505450" y="2581275"/>
            <a:ext cx="1181100" cy="28575"/>
          </a:xfrm>
          <a:prstGeom prst="rect">
            <a:avLst/>
          </a:prstGeom>
          <a:solidFill>
            <a:srgbClr val="D7E0E8"/>
          </a:solidFill>
          <a:ln w="0">
            <a:solidFill>
              <a:srgbClr val="D7E0E8"/>
            </a:solidFill>
            <a:prstDash val="solid"/>
          </a:ln>
        </p:spPr>
      </p:sp>
      <p:sp>
        <p:nvSpPr>
          <p:cNvPr id="16" name="Oval 15">
            <a:extLst>
              <a:ext uri="{FF2B5EF4-FFF2-40B4-BE49-F238E27FC236}">
                <a16:creationId xmlns:a16="http://schemas.microsoft.com/office/drawing/2014/main" id="{ACB8BBC1-053F-4B66-B548-C77FF038788F}"/>
              </a:ext>
            </a:extLst>
          </p:cNvPr>
          <p:cNvSpPr>
            <a:spLocks noGrp="1"/>
          </p:cNvSpPr>
          <p:nvPr/>
        </p:nvSpPr>
        <p:spPr>
          <a:xfrm>
            <a:off x="4972050" y="2333625"/>
            <a:ext cx="533400" cy="533400"/>
          </a:xfrm>
          <a:prstGeom prst="ellipse">
            <a:avLst/>
          </a:prstGeom>
          <a:solidFill>
            <a:srgbClr val="3D8DFF"/>
          </a:solidFill>
          <a:ln w="0">
            <a:solidFill>
              <a:srgbClr val="3D8DFF"/>
            </a:solidFill>
            <a:prstDash val="solid"/>
          </a:ln>
        </p:spPr>
      </p:sp>
      <p:sp>
        <p:nvSpPr>
          <p:cNvPr id="17" name="Rectangle 16">
            <a:extLst>
              <a:ext uri="{FF2B5EF4-FFF2-40B4-BE49-F238E27FC236}">
                <a16:creationId xmlns:a16="http://schemas.microsoft.com/office/drawing/2014/main" id="{27C10E39-AB8B-4FF5-A087-E9DD85B65824}"/>
              </a:ext>
            </a:extLst>
          </p:cNvPr>
          <p:cNvSpPr>
            <a:spLocks noGrp="1"/>
          </p:cNvSpPr>
          <p:nvPr/>
        </p:nvSpPr>
        <p:spPr>
          <a:xfrm>
            <a:off x="4972050" y="2476500"/>
            <a:ext cx="533400" cy="266700"/>
          </a:xfrm>
          <a:prstGeom prst="rect">
            <a:avLst/>
          </a:prstGeom>
          <a:noFill/>
          <a:ln w="0">
            <a:noFill/>
            <a:prstDash val="solid"/>
          </a:ln>
        </p:spPr>
        <p:txBody>
          <a:bodyPr lIns="0" tIns="0" rIns="0" bIns="0" anchor="t">
            <a:normAutofit/>
          </a:bodyPr>
          <a:lstStyle/>
          <a:p>
            <a:pPr algn="ctr">
              <a:buNone/>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8" name="Rectangle 17">
            <a:extLst>
              <a:ext uri="{FF2B5EF4-FFF2-40B4-BE49-F238E27FC236}">
                <a16:creationId xmlns:a16="http://schemas.microsoft.com/office/drawing/2014/main" id="{461B9C9B-B0B5-4E68-8CEB-9E4AF62DE78F}"/>
              </a:ext>
            </a:extLst>
          </p:cNvPr>
          <p:cNvSpPr>
            <a:spLocks noGrp="1"/>
          </p:cNvSpPr>
          <p:nvPr/>
        </p:nvSpPr>
        <p:spPr>
          <a:xfrm>
            <a:off x="4476750" y="3057525"/>
            <a:ext cx="1524000" cy="381000"/>
          </a:xfrm>
          <a:prstGeom prst="rect">
            <a:avLst/>
          </a:prstGeom>
          <a:noFill/>
          <a:ln w="0">
            <a:noFill/>
            <a:prstDash val="solid"/>
          </a:ln>
        </p:spPr>
        <p:txBody>
          <a:bodyPr lIns="0" tIns="0" rIns="0" bIns="0" anchor="t">
            <a:normAutofit/>
          </a:bodyPr>
          <a:lstStyle/>
          <a:p>
            <a:pPr algn="ctr">
              <a:buNone/>
              <a:defRPr sz="1200" b="1">
                <a:solidFill>
                  <a:srgbClr val="0B1220"/>
                </a:solidFill>
                <a:latin typeface="Arial"/>
                <a:ea typeface="Arial"/>
                <a:cs typeface="Arial"/>
              </a:defRPr>
            </a:pPr>
            <a:r>
              <a:rPr sz="1200" b="1">
                <a:solidFill>
                  <a:srgbClr val="0B1220"/>
                </a:solidFill>
                <a:latin typeface="Arial"/>
                <a:ea typeface="Arial"/>
                <a:cs typeface="Arial"/>
              </a:rPr>
              <a:t>Answer</a:t>
            </a:r>
          </a:p>
        </p:txBody>
      </p:sp>
      <p:sp>
        <p:nvSpPr>
          <p:cNvPr id="19" name="Rectangle 18">
            <a:extLst>
              <a:ext uri="{FF2B5EF4-FFF2-40B4-BE49-F238E27FC236}">
                <a16:creationId xmlns:a16="http://schemas.microsoft.com/office/drawing/2014/main" id="{B0D79C49-ED8C-46D5-AF41-E657ED4C1CC8}"/>
              </a:ext>
            </a:extLst>
          </p:cNvPr>
          <p:cNvSpPr>
            <a:spLocks noGrp="1"/>
          </p:cNvSpPr>
          <p:nvPr/>
        </p:nvSpPr>
        <p:spPr>
          <a:xfrm>
            <a:off x="7219950" y="2581275"/>
            <a:ext cx="1181100" cy="28575"/>
          </a:xfrm>
          <a:prstGeom prst="rect">
            <a:avLst/>
          </a:prstGeom>
          <a:solidFill>
            <a:srgbClr val="D7E0E8"/>
          </a:solidFill>
          <a:ln w="0">
            <a:solidFill>
              <a:srgbClr val="D7E0E8"/>
            </a:solidFill>
            <a:prstDash val="solid"/>
          </a:ln>
        </p:spPr>
      </p:sp>
      <p:sp>
        <p:nvSpPr>
          <p:cNvPr id="20" name="Oval 19">
            <a:extLst>
              <a:ext uri="{FF2B5EF4-FFF2-40B4-BE49-F238E27FC236}">
                <a16:creationId xmlns:a16="http://schemas.microsoft.com/office/drawing/2014/main" id="{D5D8EFA7-9580-49B4-B3C5-0C19B65FDD34}"/>
              </a:ext>
            </a:extLst>
          </p:cNvPr>
          <p:cNvSpPr>
            <a:spLocks noGrp="1"/>
          </p:cNvSpPr>
          <p:nvPr/>
        </p:nvSpPr>
        <p:spPr>
          <a:xfrm>
            <a:off x="6686550" y="2333625"/>
            <a:ext cx="533400" cy="533400"/>
          </a:xfrm>
          <a:prstGeom prst="ellipse">
            <a:avLst/>
          </a:prstGeom>
          <a:solidFill>
            <a:srgbClr val="EAF5FB"/>
          </a:solidFill>
          <a:ln w="0">
            <a:solidFill>
              <a:srgbClr val="EAF5FB"/>
            </a:solidFill>
            <a:prstDash val="solid"/>
          </a:ln>
        </p:spPr>
      </p:sp>
      <p:sp>
        <p:nvSpPr>
          <p:cNvPr id="21" name="Rectangle 20">
            <a:extLst>
              <a:ext uri="{FF2B5EF4-FFF2-40B4-BE49-F238E27FC236}">
                <a16:creationId xmlns:a16="http://schemas.microsoft.com/office/drawing/2014/main" id="{E62A8804-E412-4AA0-90AB-17838DF4EDBD}"/>
              </a:ext>
            </a:extLst>
          </p:cNvPr>
          <p:cNvSpPr>
            <a:spLocks noGrp="1"/>
          </p:cNvSpPr>
          <p:nvPr/>
        </p:nvSpPr>
        <p:spPr>
          <a:xfrm>
            <a:off x="6686550" y="2476500"/>
            <a:ext cx="533400" cy="266700"/>
          </a:xfrm>
          <a:prstGeom prst="rect">
            <a:avLst/>
          </a:prstGeom>
          <a:noFill/>
          <a:ln w="0">
            <a:noFill/>
            <a:prstDash val="solid"/>
          </a:ln>
        </p:spPr>
        <p:txBody>
          <a:bodyPr lIns="0" tIns="0" rIns="0" bIns="0" anchor="t">
            <a:normAutofit/>
          </a:bodyPr>
          <a:lstStyle/>
          <a:p>
            <a:pPr algn="ctr">
              <a:buNone/>
              <a:defRPr sz="1350" b="1">
                <a:solidFill>
                  <a:srgbClr val="0F2A43"/>
                </a:solidFill>
                <a:latin typeface="Arial"/>
                <a:ea typeface="Arial"/>
                <a:cs typeface="Arial"/>
              </a:defRPr>
            </a:pPr>
            <a:r>
              <a:rPr sz="1350" b="1">
                <a:solidFill>
                  <a:srgbClr val="0F2A43"/>
                </a:solidFill>
                <a:latin typeface="Arial"/>
                <a:ea typeface="Arial"/>
                <a:cs typeface="Arial"/>
              </a:rPr>
              <a:t>4</a:t>
            </a:r>
          </a:p>
        </p:txBody>
      </p:sp>
      <p:sp>
        <p:nvSpPr>
          <p:cNvPr id="22" name="Rectangle 21">
            <a:extLst>
              <a:ext uri="{FF2B5EF4-FFF2-40B4-BE49-F238E27FC236}">
                <a16:creationId xmlns:a16="http://schemas.microsoft.com/office/drawing/2014/main" id="{EDAAD123-8BD9-4F26-A93E-DDEFD751FDE4}"/>
              </a:ext>
            </a:extLst>
          </p:cNvPr>
          <p:cNvSpPr>
            <a:spLocks noGrp="1"/>
          </p:cNvSpPr>
          <p:nvPr/>
        </p:nvSpPr>
        <p:spPr>
          <a:xfrm>
            <a:off x="6191250" y="3057525"/>
            <a:ext cx="1524000" cy="381000"/>
          </a:xfrm>
          <a:prstGeom prst="rect">
            <a:avLst/>
          </a:prstGeom>
          <a:noFill/>
          <a:ln w="0">
            <a:noFill/>
            <a:prstDash val="solid"/>
          </a:ln>
        </p:spPr>
        <p:txBody>
          <a:bodyPr lIns="0" tIns="0" rIns="0" bIns="0" anchor="t">
            <a:normAutofit/>
          </a:bodyPr>
          <a:lstStyle/>
          <a:p>
            <a:pPr algn="ctr">
              <a:buNone/>
              <a:defRPr sz="1200" b="1">
                <a:solidFill>
                  <a:srgbClr val="0B1220"/>
                </a:solidFill>
                <a:latin typeface="Arial"/>
                <a:ea typeface="Arial"/>
                <a:cs typeface="Arial"/>
              </a:defRPr>
            </a:pPr>
            <a:r>
              <a:rPr sz="1200" b="1">
                <a:solidFill>
                  <a:srgbClr val="0B1220"/>
                </a:solidFill>
                <a:latin typeface="Arial"/>
                <a:ea typeface="Arial"/>
                <a:cs typeface="Arial"/>
              </a:rPr>
              <a:t>Save</a:t>
            </a:r>
          </a:p>
        </p:txBody>
      </p:sp>
      <p:sp>
        <p:nvSpPr>
          <p:cNvPr id="23" name="Rectangle 22">
            <a:extLst>
              <a:ext uri="{FF2B5EF4-FFF2-40B4-BE49-F238E27FC236}">
                <a16:creationId xmlns:a16="http://schemas.microsoft.com/office/drawing/2014/main" id="{369D25E5-65F8-4B33-AB72-AAFD1C339523}"/>
              </a:ext>
            </a:extLst>
          </p:cNvPr>
          <p:cNvSpPr>
            <a:spLocks noGrp="1"/>
          </p:cNvSpPr>
          <p:nvPr/>
        </p:nvSpPr>
        <p:spPr>
          <a:xfrm>
            <a:off x="8934450" y="2581275"/>
            <a:ext cx="1181100" cy="28575"/>
          </a:xfrm>
          <a:prstGeom prst="rect">
            <a:avLst/>
          </a:prstGeom>
          <a:solidFill>
            <a:srgbClr val="D7E0E8"/>
          </a:solidFill>
          <a:ln w="0">
            <a:solidFill>
              <a:srgbClr val="D7E0E8"/>
            </a:solidFill>
            <a:prstDash val="solid"/>
          </a:ln>
        </p:spPr>
      </p:sp>
      <p:sp>
        <p:nvSpPr>
          <p:cNvPr id="24" name="Oval 23">
            <a:extLst>
              <a:ext uri="{FF2B5EF4-FFF2-40B4-BE49-F238E27FC236}">
                <a16:creationId xmlns:a16="http://schemas.microsoft.com/office/drawing/2014/main" id="{F3C95250-A53E-4FAA-9629-277EAA0A4DF3}"/>
              </a:ext>
            </a:extLst>
          </p:cNvPr>
          <p:cNvSpPr>
            <a:spLocks noGrp="1"/>
          </p:cNvSpPr>
          <p:nvPr/>
        </p:nvSpPr>
        <p:spPr>
          <a:xfrm>
            <a:off x="8401050" y="2333625"/>
            <a:ext cx="533400" cy="533400"/>
          </a:xfrm>
          <a:prstGeom prst="ellipse">
            <a:avLst/>
          </a:prstGeom>
          <a:solidFill>
            <a:srgbClr val="3D8DFF"/>
          </a:solidFill>
          <a:ln w="0">
            <a:solidFill>
              <a:srgbClr val="3D8DFF"/>
            </a:solidFill>
            <a:prstDash val="solid"/>
          </a:ln>
        </p:spPr>
      </p:sp>
      <p:sp>
        <p:nvSpPr>
          <p:cNvPr id="25" name="Rectangle 24">
            <a:extLst>
              <a:ext uri="{FF2B5EF4-FFF2-40B4-BE49-F238E27FC236}">
                <a16:creationId xmlns:a16="http://schemas.microsoft.com/office/drawing/2014/main" id="{6FF631CF-091A-4B1B-9115-A08DA12F442D}"/>
              </a:ext>
            </a:extLst>
          </p:cNvPr>
          <p:cNvSpPr>
            <a:spLocks noGrp="1"/>
          </p:cNvSpPr>
          <p:nvPr/>
        </p:nvSpPr>
        <p:spPr>
          <a:xfrm>
            <a:off x="8401050" y="2476500"/>
            <a:ext cx="533400" cy="266700"/>
          </a:xfrm>
          <a:prstGeom prst="rect">
            <a:avLst/>
          </a:prstGeom>
          <a:noFill/>
          <a:ln w="0">
            <a:noFill/>
            <a:prstDash val="solid"/>
          </a:ln>
        </p:spPr>
        <p:txBody>
          <a:bodyPr lIns="0" tIns="0" rIns="0" bIns="0" anchor="t">
            <a:normAutofit/>
          </a:bodyPr>
          <a:lstStyle/>
          <a:p>
            <a:pPr algn="ctr">
              <a:buNone/>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6" name="Rectangle 25">
            <a:extLst>
              <a:ext uri="{FF2B5EF4-FFF2-40B4-BE49-F238E27FC236}">
                <a16:creationId xmlns:a16="http://schemas.microsoft.com/office/drawing/2014/main" id="{73BBABE7-F53F-44CE-BCCC-D967ADF213A9}"/>
              </a:ext>
            </a:extLst>
          </p:cNvPr>
          <p:cNvSpPr>
            <a:spLocks noGrp="1"/>
          </p:cNvSpPr>
          <p:nvPr/>
        </p:nvSpPr>
        <p:spPr>
          <a:xfrm>
            <a:off x="7905750" y="3057525"/>
            <a:ext cx="1524000" cy="381000"/>
          </a:xfrm>
          <a:prstGeom prst="rect">
            <a:avLst/>
          </a:prstGeom>
          <a:noFill/>
          <a:ln w="0">
            <a:noFill/>
            <a:prstDash val="solid"/>
          </a:ln>
        </p:spPr>
        <p:txBody>
          <a:bodyPr lIns="0" tIns="0" rIns="0" bIns="0" anchor="t">
            <a:normAutofit/>
          </a:bodyPr>
          <a:lstStyle/>
          <a:p>
            <a:pPr algn="ctr">
              <a:buNone/>
              <a:defRPr sz="1200" b="1">
                <a:solidFill>
                  <a:srgbClr val="0B1220"/>
                </a:solidFill>
                <a:latin typeface="Arial"/>
                <a:ea typeface="Arial"/>
                <a:cs typeface="Arial"/>
              </a:defRPr>
            </a:pPr>
            <a:r>
              <a:rPr sz="1200" b="1">
                <a:solidFill>
                  <a:srgbClr val="0B1220"/>
                </a:solidFill>
                <a:latin typeface="Arial"/>
                <a:ea typeface="Arial"/>
                <a:cs typeface="Arial"/>
              </a:rPr>
              <a:t>Practise</a:t>
            </a:r>
          </a:p>
        </p:txBody>
      </p:sp>
      <p:sp>
        <p:nvSpPr>
          <p:cNvPr id="27" name="Oval 26">
            <a:extLst>
              <a:ext uri="{FF2B5EF4-FFF2-40B4-BE49-F238E27FC236}">
                <a16:creationId xmlns:a16="http://schemas.microsoft.com/office/drawing/2014/main" id="{A376F9BD-94DC-4BBC-B820-D7C13BF98FEE}"/>
              </a:ext>
            </a:extLst>
          </p:cNvPr>
          <p:cNvSpPr>
            <a:spLocks noGrp="1"/>
          </p:cNvSpPr>
          <p:nvPr/>
        </p:nvSpPr>
        <p:spPr>
          <a:xfrm>
            <a:off x="10115550" y="2333625"/>
            <a:ext cx="533400" cy="533400"/>
          </a:xfrm>
          <a:prstGeom prst="ellipse">
            <a:avLst/>
          </a:prstGeom>
          <a:solidFill>
            <a:srgbClr val="EAF5FB"/>
          </a:solidFill>
          <a:ln w="0">
            <a:solidFill>
              <a:srgbClr val="EAF5FB"/>
            </a:solidFill>
            <a:prstDash val="solid"/>
          </a:ln>
        </p:spPr>
      </p:sp>
      <p:sp>
        <p:nvSpPr>
          <p:cNvPr id="28" name="Rectangle 27">
            <a:extLst>
              <a:ext uri="{FF2B5EF4-FFF2-40B4-BE49-F238E27FC236}">
                <a16:creationId xmlns:a16="http://schemas.microsoft.com/office/drawing/2014/main" id="{920F3B16-1D35-4CF0-8D17-5F2AAE423332}"/>
              </a:ext>
            </a:extLst>
          </p:cNvPr>
          <p:cNvSpPr>
            <a:spLocks noGrp="1"/>
          </p:cNvSpPr>
          <p:nvPr/>
        </p:nvSpPr>
        <p:spPr>
          <a:xfrm>
            <a:off x="10115550" y="2476500"/>
            <a:ext cx="533400" cy="266700"/>
          </a:xfrm>
          <a:prstGeom prst="rect">
            <a:avLst/>
          </a:prstGeom>
          <a:noFill/>
          <a:ln w="0">
            <a:noFill/>
            <a:prstDash val="solid"/>
          </a:ln>
        </p:spPr>
        <p:txBody>
          <a:bodyPr lIns="0" tIns="0" rIns="0" bIns="0" anchor="t">
            <a:normAutofit/>
          </a:bodyPr>
          <a:lstStyle/>
          <a:p>
            <a:pPr algn="ctr">
              <a:buNone/>
              <a:defRPr sz="1350" b="1">
                <a:solidFill>
                  <a:srgbClr val="0F2A43"/>
                </a:solidFill>
                <a:latin typeface="Arial"/>
                <a:ea typeface="Arial"/>
                <a:cs typeface="Arial"/>
              </a:defRPr>
            </a:pPr>
            <a:r>
              <a:rPr sz="1350" b="1">
                <a:solidFill>
                  <a:srgbClr val="0F2A43"/>
                </a:solidFill>
                <a:latin typeface="Arial"/>
                <a:ea typeface="Arial"/>
                <a:cs typeface="Arial"/>
              </a:rPr>
              <a:t>6</a:t>
            </a:r>
          </a:p>
        </p:txBody>
      </p:sp>
      <p:sp>
        <p:nvSpPr>
          <p:cNvPr id="29" name="Rectangle 28">
            <a:extLst>
              <a:ext uri="{FF2B5EF4-FFF2-40B4-BE49-F238E27FC236}">
                <a16:creationId xmlns:a16="http://schemas.microsoft.com/office/drawing/2014/main" id="{60CAA20A-FBEF-4F0C-8F52-96F065F8A9BF}"/>
              </a:ext>
            </a:extLst>
          </p:cNvPr>
          <p:cNvSpPr>
            <a:spLocks noGrp="1"/>
          </p:cNvSpPr>
          <p:nvPr/>
        </p:nvSpPr>
        <p:spPr>
          <a:xfrm>
            <a:off x="9620250" y="3057525"/>
            <a:ext cx="1524000" cy="381000"/>
          </a:xfrm>
          <a:prstGeom prst="rect">
            <a:avLst/>
          </a:prstGeom>
          <a:noFill/>
          <a:ln w="0">
            <a:noFill/>
            <a:prstDash val="solid"/>
          </a:ln>
        </p:spPr>
        <p:txBody>
          <a:bodyPr lIns="0" tIns="0" rIns="0" bIns="0" anchor="t">
            <a:normAutofit/>
          </a:bodyPr>
          <a:lstStyle/>
          <a:p>
            <a:pPr algn="ctr">
              <a:buNone/>
              <a:defRPr sz="1200" b="1">
                <a:solidFill>
                  <a:srgbClr val="0B1220"/>
                </a:solidFill>
                <a:latin typeface="Arial"/>
                <a:ea typeface="Arial"/>
                <a:cs typeface="Arial"/>
              </a:defRPr>
            </a:pPr>
            <a:r>
              <a:rPr sz="1200" b="1">
                <a:solidFill>
                  <a:srgbClr val="0B1220"/>
                </a:solidFill>
                <a:latin typeface="Arial"/>
                <a:ea typeface="Arial"/>
                <a:cs typeface="Arial"/>
              </a:rPr>
              <a:t>Progress</a:t>
            </a:r>
          </a:p>
        </p:txBody>
      </p:sp>
      <p:sp>
        <p:nvSpPr>
          <p:cNvPr id="30" name="Rectangle 29">
            <a:extLst>
              <a:ext uri="{FF2B5EF4-FFF2-40B4-BE49-F238E27FC236}">
                <a16:creationId xmlns:a16="http://schemas.microsoft.com/office/drawing/2014/main" id="{F6B10AEA-0B4E-44B5-B0BB-C963E19010D6}"/>
              </a:ext>
            </a:extLst>
          </p:cNvPr>
          <p:cNvSpPr>
            <a:spLocks noGrp="1"/>
          </p:cNvSpPr>
          <p:nvPr/>
        </p:nvSpPr>
        <p:spPr>
          <a:xfrm>
            <a:off x="1524000" y="4667250"/>
            <a:ext cx="9144000" cy="457200"/>
          </a:xfrm>
          <a:prstGeom prst="rect">
            <a:avLst/>
          </a:prstGeom>
          <a:noFill/>
          <a:ln w="0">
            <a:noFill/>
            <a:prstDash val="solid"/>
          </a:ln>
        </p:spPr>
        <p:txBody>
          <a:bodyPr lIns="0" tIns="0" rIns="0" bIns="0" anchor="t">
            <a:normAutofit fontScale="83066" lnSpcReduction="10000"/>
          </a:bodyPr>
          <a:lstStyle/>
          <a:p>
            <a:pPr algn="ctr">
              <a:buNone/>
              <a:defRPr sz="1875" b="1">
                <a:solidFill>
                  <a:srgbClr val="0F2A43"/>
                </a:solidFill>
                <a:latin typeface="Arial"/>
                <a:ea typeface="Arial"/>
                <a:cs typeface="Arial"/>
              </a:defRPr>
            </a:pPr>
            <a:r>
              <a:rPr sz="1875" b="1">
                <a:solidFill>
                  <a:srgbClr val="0F2A43"/>
                </a:solidFill>
                <a:latin typeface="Arial"/>
                <a:ea typeface="Arial"/>
                <a:cs typeface="Arial"/>
              </a:rPr>
              <a:t>Keep the live demo focused: one question, one answer, one saved item and one practice attempt.</a:t>
            </a:r>
          </a:p>
        </p:txBody>
      </p:sp>
    </p:spTree>
    <p:extLst>
      <p:ext uri="{BB962C8B-B14F-4D97-AF65-F5344CB8AC3E}">
        <p14:creationId xmlns:p14="http://schemas.microsoft.com/office/powerpoint/2010/main" val="20004078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3F9D32E1-5582-4309-A694-7770385183DE}"/>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DEMO / 07 - EVIDENCE</a:t>
            </a:r>
          </a:p>
        </p:txBody>
      </p:sp>
      <p:sp>
        <p:nvSpPr>
          <p:cNvPr id="2" name="Rectangle 1">
            <a:extLst>
              <a:ext uri="{FF2B5EF4-FFF2-40B4-BE49-F238E27FC236}">
                <a16:creationId xmlns:a16="http://schemas.microsoft.com/office/drawing/2014/main" id="{61341AF8-7DA1-492A-83D1-E508AEC8B088}"/>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38</a:t>
            </a:r>
          </a:p>
        </p:txBody>
      </p:sp>
      <p:sp>
        <p:nvSpPr>
          <p:cNvPr id="3" name="Rectangle 2">
            <a:extLst>
              <a:ext uri="{FF2B5EF4-FFF2-40B4-BE49-F238E27FC236}">
                <a16:creationId xmlns:a16="http://schemas.microsoft.com/office/drawing/2014/main" id="{AB2F5827-C102-4D6E-9063-6A76455F7BB1}"/>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5614DDF8-14EC-4CE3-850E-9FE6D786F8B2}"/>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5AB7B7BA-A0FA-42B2-8E15-F8064C87B8D6}"/>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Demo evidence should connect each screen to a requirement</a:t>
            </a:r>
          </a:p>
        </p:txBody>
      </p:sp>
      <p:sp>
        <p:nvSpPr>
          <p:cNvPr id="6" name="Rectangle 5">
            <a:extLst>
              <a:ext uri="{FF2B5EF4-FFF2-40B4-BE49-F238E27FC236}">
                <a16:creationId xmlns:a16="http://schemas.microsoft.com/office/drawing/2014/main" id="{A0B2F7E3-3B3B-49AD-B578-0C2CEC293033}"/>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A strong individual demo explains what the audience is seeing and why it matters.</a:t>
            </a:r>
          </a:p>
        </p:txBody>
      </p:sp>
      <p:sp>
        <p:nvSpPr>
          <p:cNvPr id="7" name="Rectangle 6">
            <a:extLst>
              <a:ext uri="{FF2B5EF4-FFF2-40B4-BE49-F238E27FC236}">
                <a16:creationId xmlns:a16="http://schemas.microsoft.com/office/drawing/2014/main" id="{BCE32DF4-BD02-4AC4-ACCF-C4B3F8B1CDFA}"/>
              </a:ext>
            </a:extLst>
          </p:cNvPr>
          <p:cNvSpPr>
            <a:spLocks noGrp="1"/>
          </p:cNvSpPr>
          <p:nvPr/>
        </p:nvSpPr>
        <p:spPr>
          <a:xfrm>
            <a:off x="609600" y="666750"/>
            <a:ext cx="2476500" cy="628650"/>
          </a:xfrm>
          <a:prstGeom prst="rect">
            <a:avLst/>
          </a:prstGeom>
          <a:solidFill>
            <a:srgbClr val="0F2A43"/>
          </a:solidFill>
          <a:ln w="9525">
            <a:solidFill>
              <a:srgbClr val="D7E0E8"/>
            </a:solidFill>
            <a:prstDash val="solid"/>
          </a:ln>
        </p:spPr>
      </p:sp>
      <p:sp>
        <p:nvSpPr>
          <p:cNvPr id="8" name="Rectangle 7">
            <a:extLst>
              <a:ext uri="{FF2B5EF4-FFF2-40B4-BE49-F238E27FC236}">
                <a16:creationId xmlns:a16="http://schemas.microsoft.com/office/drawing/2014/main" id="{5C297B4C-ABA3-447B-A566-5AF75F1D8FDB}"/>
              </a:ext>
            </a:extLst>
          </p:cNvPr>
          <p:cNvSpPr>
            <a:spLocks noGrp="1"/>
          </p:cNvSpPr>
          <p:nvPr/>
        </p:nvSpPr>
        <p:spPr>
          <a:xfrm>
            <a:off x="704850" y="762000"/>
            <a:ext cx="2286000" cy="476250"/>
          </a:xfrm>
          <a:prstGeom prst="rect">
            <a:avLst/>
          </a:prstGeom>
          <a:noFill/>
          <a:ln w="0">
            <a:noFill/>
            <a:prstDash val="solid"/>
          </a:ln>
        </p:spPr>
        <p:txBody>
          <a:bodyPr lIns="0" tIns="0" rIns="0" bIns="0" anchor="t">
            <a:normAutofit/>
          </a:bodyPr>
          <a:lstStyle/>
          <a:p>
            <a:pPr algn="l">
              <a:buNone/>
              <a:defRPr sz="1050" b="1">
                <a:solidFill>
                  <a:srgbClr val="FFFFFF"/>
                </a:solidFill>
                <a:latin typeface="Arial"/>
                <a:ea typeface="Arial"/>
                <a:cs typeface="Arial"/>
              </a:defRPr>
            </a:pPr>
            <a:r>
              <a:rPr sz="1050" b="1">
                <a:solidFill>
                  <a:srgbClr val="FFFFFF"/>
                </a:solidFill>
                <a:latin typeface="Arial"/>
                <a:ea typeface="Arial"/>
                <a:cs typeface="Arial"/>
              </a:rPr>
              <a:t>Screen / action</a:t>
            </a:r>
          </a:p>
        </p:txBody>
      </p:sp>
      <p:sp>
        <p:nvSpPr>
          <p:cNvPr id="9" name="Rectangle 8">
            <a:extLst>
              <a:ext uri="{FF2B5EF4-FFF2-40B4-BE49-F238E27FC236}">
                <a16:creationId xmlns:a16="http://schemas.microsoft.com/office/drawing/2014/main" id="{61ACAC7B-DCB4-4958-B1B3-029E6424183E}"/>
              </a:ext>
            </a:extLst>
          </p:cNvPr>
          <p:cNvSpPr>
            <a:spLocks noGrp="1"/>
          </p:cNvSpPr>
          <p:nvPr/>
        </p:nvSpPr>
        <p:spPr>
          <a:xfrm>
            <a:off x="3086100" y="666750"/>
            <a:ext cx="4476750" cy="628650"/>
          </a:xfrm>
          <a:prstGeom prst="rect">
            <a:avLst/>
          </a:prstGeom>
          <a:solidFill>
            <a:srgbClr val="0F2A43"/>
          </a:solidFill>
          <a:ln w="9525">
            <a:solidFill>
              <a:srgbClr val="D7E0E8"/>
            </a:solidFill>
            <a:prstDash val="solid"/>
          </a:ln>
        </p:spPr>
      </p:sp>
      <p:sp>
        <p:nvSpPr>
          <p:cNvPr id="10" name="Rectangle 9">
            <a:extLst>
              <a:ext uri="{FF2B5EF4-FFF2-40B4-BE49-F238E27FC236}">
                <a16:creationId xmlns:a16="http://schemas.microsoft.com/office/drawing/2014/main" id="{978A900E-E84D-4B9A-8FBD-37B30BC8BEBF}"/>
              </a:ext>
            </a:extLst>
          </p:cNvPr>
          <p:cNvSpPr>
            <a:spLocks noGrp="1"/>
          </p:cNvSpPr>
          <p:nvPr/>
        </p:nvSpPr>
        <p:spPr>
          <a:xfrm>
            <a:off x="3181350" y="762000"/>
            <a:ext cx="4286250" cy="476250"/>
          </a:xfrm>
          <a:prstGeom prst="rect">
            <a:avLst/>
          </a:prstGeom>
          <a:noFill/>
          <a:ln w="0">
            <a:noFill/>
            <a:prstDash val="solid"/>
          </a:ln>
        </p:spPr>
        <p:txBody>
          <a:bodyPr lIns="0" tIns="0" rIns="0" bIns="0" anchor="t">
            <a:normAutofit/>
          </a:bodyPr>
          <a:lstStyle/>
          <a:p>
            <a:pPr algn="l">
              <a:buNone/>
              <a:defRPr sz="1050" b="1">
                <a:solidFill>
                  <a:srgbClr val="FFFFFF"/>
                </a:solidFill>
                <a:latin typeface="Arial"/>
                <a:ea typeface="Arial"/>
                <a:cs typeface="Arial"/>
              </a:defRPr>
            </a:pPr>
            <a:r>
              <a:rPr sz="1050" b="1">
                <a:solidFill>
                  <a:srgbClr val="FFFFFF"/>
                </a:solidFill>
                <a:latin typeface="Arial"/>
                <a:ea typeface="Arial"/>
                <a:cs typeface="Arial"/>
              </a:rPr>
              <a:t>Requirement shown</a:t>
            </a:r>
          </a:p>
        </p:txBody>
      </p:sp>
      <p:sp>
        <p:nvSpPr>
          <p:cNvPr id="11" name="Rectangle 10">
            <a:extLst>
              <a:ext uri="{FF2B5EF4-FFF2-40B4-BE49-F238E27FC236}">
                <a16:creationId xmlns:a16="http://schemas.microsoft.com/office/drawing/2014/main" id="{69140C7F-F266-46BC-B28F-377225584AF8}"/>
              </a:ext>
            </a:extLst>
          </p:cNvPr>
          <p:cNvSpPr>
            <a:spLocks noGrp="1"/>
          </p:cNvSpPr>
          <p:nvPr/>
        </p:nvSpPr>
        <p:spPr>
          <a:xfrm>
            <a:off x="7562850" y="666750"/>
            <a:ext cx="3638550" cy="628650"/>
          </a:xfrm>
          <a:prstGeom prst="rect">
            <a:avLst/>
          </a:prstGeom>
          <a:solidFill>
            <a:srgbClr val="0F2A43"/>
          </a:solidFill>
          <a:ln w="9525">
            <a:solidFill>
              <a:srgbClr val="D7E0E8"/>
            </a:solidFill>
            <a:prstDash val="solid"/>
          </a:ln>
        </p:spPr>
      </p:sp>
      <p:sp>
        <p:nvSpPr>
          <p:cNvPr id="12" name="Rectangle 11">
            <a:extLst>
              <a:ext uri="{FF2B5EF4-FFF2-40B4-BE49-F238E27FC236}">
                <a16:creationId xmlns:a16="http://schemas.microsoft.com/office/drawing/2014/main" id="{05A5F1BD-AA72-43D9-81B3-A3671F6CF216}"/>
              </a:ext>
            </a:extLst>
          </p:cNvPr>
          <p:cNvSpPr>
            <a:spLocks noGrp="1"/>
          </p:cNvSpPr>
          <p:nvPr/>
        </p:nvSpPr>
        <p:spPr>
          <a:xfrm>
            <a:off x="7658100" y="762000"/>
            <a:ext cx="3448050" cy="476250"/>
          </a:xfrm>
          <a:prstGeom prst="rect">
            <a:avLst/>
          </a:prstGeom>
          <a:noFill/>
          <a:ln w="0">
            <a:noFill/>
            <a:prstDash val="solid"/>
          </a:ln>
        </p:spPr>
        <p:txBody>
          <a:bodyPr lIns="0" tIns="0" rIns="0" bIns="0" anchor="t">
            <a:normAutofit/>
          </a:bodyPr>
          <a:lstStyle/>
          <a:p>
            <a:pPr algn="l">
              <a:buNone/>
              <a:defRPr sz="1050" b="1">
                <a:solidFill>
                  <a:srgbClr val="FFFFFF"/>
                </a:solidFill>
                <a:latin typeface="Arial"/>
                <a:ea typeface="Arial"/>
                <a:cs typeface="Arial"/>
              </a:defRPr>
            </a:pPr>
            <a:r>
              <a:rPr sz="1050" b="1">
                <a:solidFill>
                  <a:srgbClr val="FFFFFF"/>
                </a:solidFill>
                <a:latin typeface="Arial"/>
                <a:ea typeface="Arial"/>
                <a:cs typeface="Arial"/>
              </a:rPr>
              <a:t>Evidence to attach</a:t>
            </a:r>
          </a:p>
        </p:txBody>
      </p:sp>
      <p:sp>
        <p:nvSpPr>
          <p:cNvPr id="13" name="Rectangle 12">
            <a:extLst>
              <a:ext uri="{FF2B5EF4-FFF2-40B4-BE49-F238E27FC236}">
                <a16:creationId xmlns:a16="http://schemas.microsoft.com/office/drawing/2014/main" id="{EEE3EF42-3197-469F-B873-49BAC44549F1}"/>
              </a:ext>
            </a:extLst>
          </p:cNvPr>
          <p:cNvSpPr>
            <a:spLocks noGrp="1"/>
          </p:cNvSpPr>
          <p:nvPr/>
        </p:nvSpPr>
        <p:spPr>
          <a:xfrm>
            <a:off x="609600" y="1295400"/>
            <a:ext cx="2476500" cy="628650"/>
          </a:xfrm>
          <a:prstGeom prst="rect">
            <a:avLst/>
          </a:prstGeom>
          <a:solidFill>
            <a:srgbClr val="FFFFFF"/>
          </a:solidFill>
          <a:ln w="9525">
            <a:solidFill>
              <a:srgbClr val="D7E0E8"/>
            </a:solidFill>
            <a:prstDash val="solid"/>
          </a:ln>
        </p:spPr>
      </p:sp>
      <p:sp>
        <p:nvSpPr>
          <p:cNvPr id="14" name="Rectangle 13">
            <a:extLst>
              <a:ext uri="{FF2B5EF4-FFF2-40B4-BE49-F238E27FC236}">
                <a16:creationId xmlns:a16="http://schemas.microsoft.com/office/drawing/2014/main" id="{14912FF6-12E9-41CF-99A7-2D2BED31EEBB}"/>
              </a:ext>
            </a:extLst>
          </p:cNvPr>
          <p:cNvSpPr>
            <a:spLocks noGrp="1"/>
          </p:cNvSpPr>
          <p:nvPr/>
        </p:nvSpPr>
        <p:spPr>
          <a:xfrm>
            <a:off x="704850" y="1390650"/>
            <a:ext cx="2286000" cy="476250"/>
          </a:xfrm>
          <a:prstGeom prst="rect">
            <a:avLst/>
          </a:prstGeom>
          <a:noFill/>
          <a:ln w="0">
            <a:noFill/>
            <a:prstDash val="solid"/>
          </a:ln>
        </p:spPr>
        <p:txBody>
          <a:bodyPr lIns="0" tIns="0" rIns="0" bIns="0" anchor="t">
            <a:normAutofit/>
          </a:bodyPr>
          <a:lstStyle/>
          <a:p>
            <a:pPr algn="l">
              <a:buNone/>
              <a:defRPr sz="1125" b="1">
                <a:solidFill>
                  <a:srgbClr val="0F2A43"/>
                </a:solidFill>
                <a:latin typeface="Arial"/>
                <a:ea typeface="Arial"/>
                <a:cs typeface="Arial"/>
              </a:defRPr>
            </a:pPr>
            <a:r>
              <a:rPr sz="1125" b="1">
                <a:solidFill>
                  <a:srgbClr val="0F2A43"/>
                </a:solidFill>
                <a:latin typeface="Arial"/>
                <a:ea typeface="Arial"/>
                <a:cs typeface="Arial"/>
              </a:rPr>
              <a:t>Login + profile</a:t>
            </a:r>
          </a:p>
        </p:txBody>
      </p:sp>
      <p:sp>
        <p:nvSpPr>
          <p:cNvPr id="15" name="Rectangle 14">
            <a:extLst>
              <a:ext uri="{FF2B5EF4-FFF2-40B4-BE49-F238E27FC236}">
                <a16:creationId xmlns:a16="http://schemas.microsoft.com/office/drawing/2014/main" id="{7FA3766B-EC1F-4D76-938A-E293FD708964}"/>
              </a:ext>
            </a:extLst>
          </p:cNvPr>
          <p:cNvSpPr>
            <a:spLocks noGrp="1"/>
          </p:cNvSpPr>
          <p:nvPr/>
        </p:nvSpPr>
        <p:spPr>
          <a:xfrm>
            <a:off x="3086100" y="1295400"/>
            <a:ext cx="4476750" cy="628650"/>
          </a:xfrm>
          <a:prstGeom prst="rect">
            <a:avLst/>
          </a:prstGeom>
          <a:solidFill>
            <a:srgbClr val="FFFFFF"/>
          </a:solidFill>
          <a:ln w="9525">
            <a:solidFill>
              <a:srgbClr val="D7E0E8"/>
            </a:solidFill>
            <a:prstDash val="solid"/>
          </a:ln>
        </p:spPr>
      </p:sp>
      <p:sp>
        <p:nvSpPr>
          <p:cNvPr id="16" name="Rectangle 15">
            <a:extLst>
              <a:ext uri="{FF2B5EF4-FFF2-40B4-BE49-F238E27FC236}">
                <a16:creationId xmlns:a16="http://schemas.microsoft.com/office/drawing/2014/main" id="{34A97A45-EBF0-40F6-8C3F-C3FC088A4AA8}"/>
              </a:ext>
            </a:extLst>
          </p:cNvPr>
          <p:cNvSpPr>
            <a:spLocks noGrp="1"/>
          </p:cNvSpPr>
          <p:nvPr/>
        </p:nvSpPr>
        <p:spPr>
          <a:xfrm>
            <a:off x="3181350" y="1390650"/>
            <a:ext cx="4286250" cy="4762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Registration and first-use choices</a:t>
            </a:r>
          </a:p>
        </p:txBody>
      </p:sp>
      <p:sp>
        <p:nvSpPr>
          <p:cNvPr id="17" name="Rectangle 16">
            <a:extLst>
              <a:ext uri="{FF2B5EF4-FFF2-40B4-BE49-F238E27FC236}">
                <a16:creationId xmlns:a16="http://schemas.microsoft.com/office/drawing/2014/main" id="{E3DCFE9C-FAFF-45C5-AC70-A504FD23343B}"/>
              </a:ext>
            </a:extLst>
          </p:cNvPr>
          <p:cNvSpPr>
            <a:spLocks noGrp="1"/>
          </p:cNvSpPr>
          <p:nvPr/>
        </p:nvSpPr>
        <p:spPr>
          <a:xfrm>
            <a:off x="7562850" y="1295400"/>
            <a:ext cx="3638550" cy="628650"/>
          </a:xfrm>
          <a:prstGeom prst="rect">
            <a:avLst/>
          </a:prstGeom>
          <a:solidFill>
            <a:srgbClr val="FFFFFF"/>
          </a:solidFill>
          <a:ln w="9525">
            <a:solidFill>
              <a:srgbClr val="D7E0E8"/>
            </a:solidFill>
            <a:prstDash val="solid"/>
          </a:ln>
        </p:spPr>
      </p:sp>
      <p:sp>
        <p:nvSpPr>
          <p:cNvPr id="18" name="Rectangle 17">
            <a:extLst>
              <a:ext uri="{FF2B5EF4-FFF2-40B4-BE49-F238E27FC236}">
                <a16:creationId xmlns:a16="http://schemas.microsoft.com/office/drawing/2014/main" id="{CD460485-5CE3-4556-8564-9B6D9B61D6C4}"/>
              </a:ext>
            </a:extLst>
          </p:cNvPr>
          <p:cNvSpPr>
            <a:spLocks noGrp="1"/>
          </p:cNvSpPr>
          <p:nvPr/>
        </p:nvSpPr>
        <p:spPr>
          <a:xfrm>
            <a:off x="7658100" y="1390650"/>
            <a:ext cx="3448050" cy="4762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Screenshot or live recording</a:t>
            </a:r>
          </a:p>
        </p:txBody>
      </p:sp>
      <p:sp>
        <p:nvSpPr>
          <p:cNvPr id="19" name="Rectangle 18">
            <a:extLst>
              <a:ext uri="{FF2B5EF4-FFF2-40B4-BE49-F238E27FC236}">
                <a16:creationId xmlns:a16="http://schemas.microsoft.com/office/drawing/2014/main" id="{2CADFBE5-A4D0-4093-983D-217B45430768}"/>
              </a:ext>
            </a:extLst>
          </p:cNvPr>
          <p:cNvSpPr>
            <a:spLocks noGrp="1"/>
          </p:cNvSpPr>
          <p:nvPr/>
        </p:nvSpPr>
        <p:spPr>
          <a:xfrm>
            <a:off x="609600" y="1924050"/>
            <a:ext cx="2476500" cy="628650"/>
          </a:xfrm>
          <a:prstGeom prst="rect">
            <a:avLst/>
          </a:prstGeom>
          <a:solidFill>
            <a:srgbClr val="F2F7FA"/>
          </a:solidFill>
          <a:ln w="9525">
            <a:solidFill>
              <a:srgbClr val="D7E0E8"/>
            </a:solidFill>
            <a:prstDash val="solid"/>
          </a:ln>
        </p:spPr>
      </p:sp>
      <p:sp>
        <p:nvSpPr>
          <p:cNvPr id="20" name="Rectangle 19">
            <a:extLst>
              <a:ext uri="{FF2B5EF4-FFF2-40B4-BE49-F238E27FC236}">
                <a16:creationId xmlns:a16="http://schemas.microsoft.com/office/drawing/2014/main" id="{48D760A9-A3A3-48B3-9DB1-BBE96404B96D}"/>
              </a:ext>
            </a:extLst>
          </p:cNvPr>
          <p:cNvSpPr>
            <a:spLocks noGrp="1"/>
          </p:cNvSpPr>
          <p:nvPr/>
        </p:nvSpPr>
        <p:spPr>
          <a:xfrm>
            <a:off x="704850" y="2019300"/>
            <a:ext cx="2286000" cy="476250"/>
          </a:xfrm>
          <a:prstGeom prst="rect">
            <a:avLst/>
          </a:prstGeom>
          <a:noFill/>
          <a:ln w="0">
            <a:noFill/>
            <a:prstDash val="solid"/>
          </a:ln>
        </p:spPr>
        <p:txBody>
          <a:bodyPr lIns="0" tIns="0" rIns="0" bIns="0" anchor="t">
            <a:normAutofit/>
          </a:bodyPr>
          <a:lstStyle/>
          <a:p>
            <a:pPr algn="l">
              <a:buNone/>
              <a:defRPr sz="1125" b="1">
                <a:solidFill>
                  <a:srgbClr val="0F2A43"/>
                </a:solidFill>
                <a:latin typeface="Arial"/>
                <a:ea typeface="Arial"/>
                <a:cs typeface="Arial"/>
              </a:defRPr>
            </a:pPr>
            <a:r>
              <a:rPr sz="1125" b="1">
                <a:solidFill>
                  <a:srgbClr val="0F2A43"/>
                </a:solidFill>
                <a:latin typeface="Arial"/>
                <a:ea typeface="Arial"/>
                <a:cs typeface="Arial"/>
              </a:rPr>
              <a:t>Question capture</a:t>
            </a:r>
          </a:p>
        </p:txBody>
      </p:sp>
      <p:sp>
        <p:nvSpPr>
          <p:cNvPr id="21" name="Rectangle 20">
            <a:extLst>
              <a:ext uri="{FF2B5EF4-FFF2-40B4-BE49-F238E27FC236}">
                <a16:creationId xmlns:a16="http://schemas.microsoft.com/office/drawing/2014/main" id="{21FAECC7-CEDC-4711-BFAF-CCB423113906}"/>
              </a:ext>
            </a:extLst>
          </p:cNvPr>
          <p:cNvSpPr>
            <a:spLocks noGrp="1"/>
          </p:cNvSpPr>
          <p:nvPr/>
        </p:nvSpPr>
        <p:spPr>
          <a:xfrm>
            <a:off x="3086100" y="1924050"/>
            <a:ext cx="4476750" cy="628650"/>
          </a:xfrm>
          <a:prstGeom prst="rect">
            <a:avLst/>
          </a:prstGeom>
          <a:solidFill>
            <a:srgbClr val="F2F7FA"/>
          </a:solidFill>
          <a:ln w="9525">
            <a:solidFill>
              <a:srgbClr val="D7E0E8"/>
            </a:solidFill>
            <a:prstDash val="solid"/>
          </a:ln>
        </p:spPr>
      </p:sp>
      <p:sp>
        <p:nvSpPr>
          <p:cNvPr id="22" name="Rectangle 21">
            <a:extLst>
              <a:ext uri="{FF2B5EF4-FFF2-40B4-BE49-F238E27FC236}">
                <a16:creationId xmlns:a16="http://schemas.microsoft.com/office/drawing/2014/main" id="{7FDFEDC4-67A9-47C3-984E-7FD98BF461E3}"/>
              </a:ext>
            </a:extLst>
          </p:cNvPr>
          <p:cNvSpPr>
            <a:spLocks noGrp="1"/>
          </p:cNvSpPr>
          <p:nvPr/>
        </p:nvSpPr>
        <p:spPr>
          <a:xfrm>
            <a:off x="3181350" y="2019300"/>
            <a:ext cx="4286250" cy="4762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Text / image submission</a:t>
            </a:r>
          </a:p>
        </p:txBody>
      </p:sp>
      <p:sp>
        <p:nvSpPr>
          <p:cNvPr id="23" name="Rectangle 22">
            <a:extLst>
              <a:ext uri="{FF2B5EF4-FFF2-40B4-BE49-F238E27FC236}">
                <a16:creationId xmlns:a16="http://schemas.microsoft.com/office/drawing/2014/main" id="{2174E6CF-A47A-48C6-B4C6-9240173C27AD}"/>
              </a:ext>
            </a:extLst>
          </p:cNvPr>
          <p:cNvSpPr>
            <a:spLocks noGrp="1"/>
          </p:cNvSpPr>
          <p:nvPr/>
        </p:nvSpPr>
        <p:spPr>
          <a:xfrm>
            <a:off x="7562850" y="1924050"/>
            <a:ext cx="3638550" cy="628650"/>
          </a:xfrm>
          <a:prstGeom prst="rect">
            <a:avLst/>
          </a:prstGeom>
          <a:solidFill>
            <a:srgbClr val="F2F7FA"/>
          </a:solidFill>
          <a:ln w="9525">
            <a:solidFill>
              <a:srgbClr val="D7E0E8"/>
            </a:solidFill>
            <a:prstDash val="solid"/>
          </a:ln>
        </p:spPr>
      </p:sp>
      <p:sp>
        <p:nvSpPr>
          <p:cNvPr id="24" name="Rectangle 23">
            <a:extLst>
              <a:ext uri="{FF2B5EF4-FFF2-40B4-BE49-F238E27FC236}">
                <a16:creationId xmlns:a16="http://schemas.microsoft.com/office/drawing/2014/main" id="{5206D69C-C466-448A-864D-07221CB6D514}"/>
              </a:ext>
            </a:extLst>
          </p:cNvPr>
          <p:cNvSpPr>
            <a:spLocks noGrp="1"/>
          </p:cNvSpPr>
          <p:nvPr/>
        </p:nvSpPr>
        <p:spPr>
          <a:xfrm>
            <a:off x="7658100" y="2019300"/>
            <a:ext cx="3448050" cy="4762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Real app input + result</a:t>
            </a:r>
          </a:p>
        </p:txBody>
      </p:sp>
      <p:sp>
        <p:nvSpPr>
          <p:cNvPr id="25" name="Rectangle 24">
            <a:extLst>
              <a:ext uri="{FF2B5EF4-FFF2-40B4-BE49-F238E27FC236}">
                <a16:creationId xmlns:a16="http://schemas.microsoft.com/office/drawing/2014/main" id="{F0557A53-E059-41E0-B01F-7D7975A98A9F}"/>
              </a:ext>
            </a:extLst>
          </p:cNvPr>
          <p:cNvSpPr>
            <a:spLocks noGrp="1"/>
          </p:cNvSpPr>
          <p:nvPr/>
        </p:nvSpPr>
        <p:spPr>
          <a:xfrm>
            <a:off x="609600" y="2552700"/>
            <a:ext cx="2476500" cy="628650"/>
          </a:xfrm>
          <a:prstGeom prst="rect">
            <a:avLst/>
          </a:prstGeom>
          <a:solidFill>
            <a:srgbClr val="FFFFFF"/>
          </a:solidFill>
          <a:ln w="9525">
            <a:solidFill>
              <a:srgbClr val="D7E0E8"/>
            </a:solidFill>
            <a:prstDash val="solid"/>
          </a:ln>
        </p:spPr>
      </p:sp>
      <p:sp>
        <p:nvSpPr>
          <p:cNvPr id="26" name="Rectangle 25">
            <a:extLst>
              <a:ext uri="{FF2B5EF4-FFF2-40B4-BE49-F238E27FC236}">
                <a16:creationId xmlns:a16="http://schemas.microsoft.com/office/drawing/2014/main" id="{8BBFD804-F6EF-4FF4-B366-A214832D1A07}"/>
              </a:ext>
            </a:extLst>
          </p:cNvPr>
          <p:cNvSpPr>
            <a:spLocks noGrp="1"/>
          </p:cNvSpPr>
          <p:nvPr/>
        </p:nvSpPr>
        <p:spPr>
          <a:xfrm>
            <a:off x="704850" y="2647950"/>
            <a:ext cx="2286000" cy="476250"/>
          </a:xfrm>
          <a:prstGeom prst="rect">
            <a:avLst/>
          </a:prstGeom>
          <a:noFill/>
          <a:ln w="0">
            <a:noFill/>
            <a:prstDash val="solid"/>
          </a:ln>
        </p:spPr>
        <p:txBody>
          <a:bodyPr lIns="0" tIns="0" rIns="0" bIns="0" anchor="t">
            <a:normAutofit/>
          </a:bodyPr>
          <a:lstStyle/>
          <a:p>
            <a:pPr algn="l">
              <a:buNone/>
              <a:defRPr sz="1125" b="1">
                <a:solidFill>
                  <a:srgbClr val="0F2A43"/>
                </a:solidFill>
                <a:latin typeface="Arial"/>
                <a:ea typeface="Arial"/>
                <a:cs typeface="Arial"/>
              </a:defRPr>
            </a:pPr>
            <a:r>
              <a:rPr sz="1125" b="1">
                <a:solidFill>
                  <a:srgbClr val="0F2A43"/>
                </a:solidFill>
                <a:latin typeface="Arial"/>
                <a:ea typeface="Arial"/>
                <a:cs typeface="Arial"/>
              </a:rPr>
              <a:t>AI answer</a:t>
            </a:r>
          </a:p>
        </p:txBody>
      </p:sp>
      <p:sp>
        <p:nvSpPr>
          <p:cNvPr id="27" name="Rectangle 26">
            <a:extLst>
              <a:ext uri="{FF2B5EF4-FFF2-40B4-BE49-F238E27FC236}">
                <a16:creationId xmlns:a16="http://schemas.microsoft.com/office/drawing/2014/main" id="{814B0D17-1492-4A52-B200-C71A28B60D66}"/>
              </a:ext>
            </a:extLst>
          </p:cNvPr>
          <p:cNvSpPr>
            <a:spLocks noGrp="1"/>
          </p:cNvSpPr>
          <p:nvPr/>
        </p:nvSpPr>
        <p:spPr>
          <a:xfrm>
            <a:off x="3086100" y="2552700"/>
            <a:ext cx="4476750" cy="628650"/>
          </a:xfrm>
          <a:prstGeom prst="rect">
            <a:avLst/>
          </a:prstGeom>
          <a:solidFill>
            <a:srgbClr val="FFFFFF"/>
          </a:solidFill>
          <a:ln w="9525">
            <a:solidFill>
              <a:srgbClr val="D7E0E8"/>
            </a:solidFill>
            <a:prstDash val="solid"/>
          </a:ln>
        </p:spPr>
      </p:sp>
      <p:sp>
        <p:nvSpPr>
          <p:cNvPr id="28" name="Rectangle 27">
            <a:extLst>
              <a:ext uri="{FF2B5EF4-FFF2-40B4-BE49-F238E27FC236}">
                <a16:creationId xmlns:a16="http://schemas.microsoft.com/office/drawing/2014/main" id="{EC0EAAE1-9149-46E4-9031-A25F3371A5A6}"/>
              </a:ext>
            </a:extLst>
          </p:cNvPr>
          <p:cNvSpPr>
            <a:spLocks noGrp="1"/>
          </p:cNvSpPr>
          <p:nvPr/>
        </p:nvSpPr>
        <p:spPr>
          <a:xfrm>
            <a:off x="3181350" y="2647950"/>
            <a:ext cx="4286250" cy="4762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Structured explanation</a:t>
            </a:r>
          </a:p>
        </p:txBody>
      </p:sp>
      <p:sp>
        <p:nvSpPr>
          <p:cNvPr id="29" name="Rectangle 28">
            <a:extLst>
              <a:ext uri="{FF2B5EF4-FFF2-40B4-BE49-F238E27FC236}">
                <a16:creationId xmlns:a16="http://schemas.microsoft.com/office/drawing/2014/main" id="{3E28F008-5896-405D-A752-5E5E4622D379}"/>
              </a:ext>
            </a:extLst>
          </p:cNvPr>
          <p:cNvSpPr>
            <a:spLocks noGrp="1"/>
          </p:cNvSpPr>
          <p:nvPr/>
        </p:nvSpPr>
        <p:spPr>
          <a:xfrm>
            <a:off x="7562850" y="2552700"/>
            <a:ext cx="3638550" cy="628650"/>
          </a:xfrm>
          <a:prstGeom prst="rect">
            <a:avLst/>
          </a:prstGeom>
          <a:solidFill>
            <a:srgbClr val="FFFFFF"/>
          </a:solidFill>
          <a:ln w="9525">
            <a:solidFill>
              <a:srgbClr val="D7E0E8"/>
            </a:solidFill>
            <a:prstDash val="solid"/>
          </a:ln>
        </p:spPr>
      </p:sp>
      <p:sp>
        <p:nvSpPr>
          <p:cNvPr id="30" name="Rectangle 29">
            <a:extLst>
              <a:ext uri="{FF2B5EF4-FFF2-40B4-BE49-F238E27FC236}">
                <a16:creationId xmlns:a16="http://schemas.microsoft.com/office/drawing/2014/main" id="{E714FD6F-A835-4C1B-9B7E-74D11DCEC99B}"/>
              </a:ext>
            </a:extLst>
          </p:cNvPr>
          <p:cNvSpPr>
            <a:spLocks noGrp="1"/>
          </p:cNvSpPr>
          <p:nvPr/>
        </p:nvSpPr>
        <p:spPr>
          <a:xfrm>
            <a:off x="7658100" y="2647950"/>
            <a:ext cx="3448050" cy="4762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Response screen + fallback</a:t>
            </a:r>
          </a:p>
        </p:txBody>
      </p:sp>
      <p:sp>
        <p:nvSpPr>
          <p:cNvPr id="31" name="Rectangle 30">
            <a:extLst>
              <a:ext uri="{FF2B5EF4-FFF2-40B4-BE49-F238E27FC236}">
                <a16:creationId xmlns:a16="http://schemas.microsoft.com/office/drawing/2014/main" id="{51F81588-3688-4122-821A-0DF630C5508D}"/>
              </a:ext>
            </a:extLst>
          </p:cNvPr>
          <p:cNvSpPr>
            <a:spLocks noGrp="1"/>
          </p:cNvSpPr>
          <p:nvPr/>
        </p:nvSpPr>
        <p:spPr>
          <a:xfrm>
            <a:off x="609600" y="3181350"/>
            <a:ext cx="2476500" cy="628650"/>
          </a:xfrm>
          <a:prstGeom prst="rect">
            <a:avLst/>
          </a:prstGeom>
          <a:solidFill>
            <a:srgbClr val="F2F7FA"/>
          </a:solidFill>
          <a:ln w="9525">
            <a:solidFill>
              <a:srgbClr val="D7E0E8"/>
            </a:solidFill>
            <a:prstDash val="solid"/>
          </a:ln>
        </p:spPr>
      </p:sp>
      <p:sp>
        <p:nvSpPr>
          <p:cNvPr id="32" name="Rectangle 31">
            <a:extLst>
              <a:ext uri="{FF2B5EF4-FFF2-40B4-BE49-F238E27FC236}">
                <a16:creationId xmlns:a16="http://schemas.microsoft.com/office/drawing/2014/main" id="{77CDB9DA-A5FD-45DA-A656-354A82102A9A}"/>
              </a:ext>
            </a:extLst>
          </p:cNvPr>
          <p:cNvSpPr>
            <a:spLocks noGrp="1"/>
          </p:cNvSpPr>
          <p:nvPr/>
        </p:nvSpPr>
        <p:spPr>
          <a:xfrm>
            <a:off x="704850" y="3276600"/>
            <a:ext cx="2286000" cy="476250"/>
          </a:xfrm>
          <a:prstGeom prst="rect">
            <a:avLst/>
          </a:prstGeom>
          <a:noFill/>
          <a:ln w="0">
            <a:noFill/>
            <a:prstDash val="solid"/>
          </a:ln>
        </p:spPr>
        <p:txBody>
          <a:bodyPr lIns="0" tIns="0" rIns="0" bIns="0" anchor="t">
            <a:normAutofit/>
          </a:bodyPr>
          <a:lstStyle/>
          <a:p>
            <a:pPr algn="l">
              <a:buNone/>
              <a:defRPr sz="1125" b="1">
                <a:solidFill>
                  <a:srgbClr val="0F2A43"/>
                </a:solidFill>
                <a:latin typeface="Arial"/>
                <a:ea typeface="Arial"/>
                <a:cs typeface="Arial"/>
              </a:defRPr>
            </a:pPr>
            <a:r>
              <a:rPr sz="1125" b="1">
                <a:solidFill>
                  <a:srgbClr val="0F2A43"/>
                </a:solidFill>
                <a:latin typeface="Arial"/>
                <a:ea typeface="Arial"/>
                <a:cs typeface="Arial"/>
              </a:rPr>
              <a:t>Library</a:t>
            </a:r>
          </a:p>
        </p:txBody>
      </p:sp>
      <p:sp>
        <p:nvSpPr>
          <p:cNvPr id="33" name="Rectangle 32">
            <a:extLst>
              <a:ext uri="{FF2B5EF4-FFF2-40B4-BE49-F238E27FC236}">
                <a16:creationId xmlns:a16="http://schemas.microsoft.com/office/drawing/2014/main" id="{8AF37B86-9604-4C6A-9199-7AC3E6B4DC76}"/>
              </a:ext>
            </a:extLst>
          </p:cNvPr>
          <p:cNvSpPr>
            <a:spLocks noGrp="1"/>
          </p:cNvSpPr>
          <p:nvPr/>
        </p:nvSpPr>
        <p:spPr>
          <a:xfrm>
            <a:off x="3086100" y="3181350"/>
            <a:ext cx="4476750" cy="628650"/>
          </a:xfrm>
          <a:prstGeom prst="rect">
            <a:avLst/>
          </a:prstGeom>
          <a:solidFill>
            <a:srgbClr val="F2F7FA"/>
          </a:solidFill>
          <a:ln w="9525">
            <a:solidFill>
              <a:srgbClr val="D7E0E8"/>
            </a:solidFill>
            <a:prstDash val="solid"/>
          </a:ln>
        </p:spPr>
      </p:sp>
      <p:sp>
        <p:nvSpPr>
          <p:cNvPr id="34" name="Rectangle 33">
            <a:extLst>
              <a:ext uri="{FF2B5EF4-FFF2-40B4-BE49-F238E27FC236}">
                <a16:creationId xmlns:a16="http://schemas.microsoft.com/office/drawing/2014/main" id="{BEAC964D-FB97-46ED-B898-8D131E76CC89}"/>
              </a:ext>
            </a:extLst>
          </p:cNvPr>
          <p:cNvSpPr>
            <a:spLocks noGrp="1"/>
          </p:cNvSpPr>
          <p:nvPr/>
        </p:nvSpPr>
        <p:spPr>
          <a:xfrm>
            <a:off x="3181350" y="3276600"/>
            <a:ext cx="4286250" cy="4762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History + bookmarks</a:t>
            </a:r>
          </a:p>
        </p:txBody>
      </p:sp>
      <p:sp>
        <p:nvSpPr>
          <p:cNvPr id="35" name="Rectangle 34">
            <a:extLst>
              <a:ext uri="{FF2B5EF4-FFF2-40B4-BE49-F238E27FC236}">
                <a16:creationId xmlns:a16="http://schemas.microsoft.com/office/drawing/2014/main" id="{0656E15C-D441-4752-B643-DEE573BA5580}"/>
              </a:ext>
            </a:extLst>
          </p:cNvPr>
          <p:cNvSpPr>
            <a:spLocks noGrp="1"/>
          </p:cNvSpPr>
          <p:nvPr/>
        </p:nvSpPr>
        <p:spPr>
          <a:xfrm>
            <a:off x="7562850" y="3181350"/>
            <a:ext cx="3638550" cy="628650"/>
          </a:xfrm>
          <a:prstGeom prst="rect">
            <a:avLst/>
          </a:prstGeom>
          <a:solidFill>
            <a:srgbClr val="F2F7FA"/>
          </a:solidFill>
          <a:ln w="9525">
            <a:solidFill>
              <a:srgbClr val="D7E0E8"/>
            </a:solidFill>
            <a:prstDash val="solid"/>
          </a:ln>
        </p:spPr>
      </p:sp>
      <p:sp>
        <p:nvSpPr>
          <p:cNvPr id="36" name="Rectangle 35">
            <a:extLst>
              <a:ext uri="{FF2B5EF4-FFF2-40B4-BE49-F238E27FC236}">
                <a16:creationId xmlns:a16="http://schemas.microsoft.com/office/drawing/2014/main" id="{247F8E6B-A8F8-4239-8D42-E25A9081AC87}"/>
              </a:ext>
            </a:extLst>
          </p:cNvPr>
          <p:cNvSpPr>
            <a:spLocks noGrp="1"/>
          </p:cNvSpPr>
          <p:nvPr/>
        </p:nvSpPr>
        <p:spPr>
          <a:xfrm>
            <a:off x="7658100" y="3276600"/>
            <a:ext cx="3448050" cy="4762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Saved item reopened</a:t>
            </a:r>
          </a:p>
        </p:txBody>
      </p:sp>
      <p:sp>
        <p:nvSpPr>
          <p:cNvPr id="37" name="Rectangle 36">
            <a:extLst>
              <a:ext uri="{FF2B5EF4-FFF2-40B4-BE49-F238E27FC236}">
                <a16:creationId xmlns:a16="http://schemas.microsoft.com/office/drawing/2014/main" id="{8AED2210-89B7-4B94-AC8D-5350A9DECBAD}"/>
              </a:ext>
            </a:extLst>
          </p:cNvPr>
          <p:cNvSpPr>
            <a:spLocks noGrp="1"/>
          </p:cNvSpPr>
          <p:nvPr/>
        </p:nvSpPr>
        <p:spPr>
          <a:xfrm>
            <a:off x="609600" y="3810000"/>
            <a:ext cx="2476500" cy="628650"/>
          </a:xfrm>
          <a:prstGeom prst="rect">
            <a:avLst/>
          </a:prstGeom>
          <a:solidFill>
            <a:srgbClr val="FFFFFF"/>
          </a:solidFill>
          <a:ln w="9525">
            <a:solidFill>
              <a:srgbClr val="D7E0E8"/>
            </a:solidFill>
            <a:prstDash val="solid"/>
          </a:ln>
        </p:spPr>
      </p:sp>
      <p:sp>
        <p:nvSpPr>
          <p:cNvPr id="38" name="Rectangle 37">
            <a:extLst>
              <a:ext uri="{FF2B5EF4-FFF2-40B4-BE49-F238E27FC236}">
                <a16:creationId xmlns:a16="http://schemas.microsoft.com/office/drawing/2014/main" id="{88988A17-1DFE-4E14-9B1E-4EEF396EA647}"/>
              </a:ext>
            </a:extLst>
          </p:cNvPr>
          <p:cNvSpPr>
            <a:spLocks noGrp="1"/>
          </p:cNvSpPr>
          <p:nvPr/>
        </p:nvSpPr>
        <p:spPr>
          <a:xfrm>
            <a:off x="704850" y="3905250"/>
            <a:ext cx="2286000" cy="476250"/>
          </a:xfrm>
          <a:prstGeom prst="rect">
            <a:avLst/>
          </a:prstGeom>
          <a:noFill/>
          <a:ln w="0">
            <a:noFill/>
            <a:prstDash val="solid"/>
          </a:ln>
        </p:spPr>
        <p:txBody>
          <a:bodyPr lIns="0" tIns="0" rIns="0" bIns="0" anchor="t">
            <a:normAutofit/>
          </a:bodyPr>
          <a:lstStyle/>
          <a:p>
            <a:pPr algn="l">
              <a:buNone/>
              <a:defRPr sz="1125" b="1">
                <a:solidFill>
                  <a:srgbClr val="0F2A43"/>
                </a:solidFill>
                <a:latin typeface="Arial"/>
                <a:ea typeface="Arial"/>
                <a:cs typeface="Arial"/>
              </a:defRPr>
            </a:pPr>
            <a:r>
              <a:rPr sz="1125" b="1">
                <a:solidFill>
                  <a:srgbClr val="0F2A43"/>
                </a:solidFill>
                <a:latin typeface="Arial"/>
                <a:ea typeface="Arial"/>
                <a:cs typeface="Arial"/>
              </a:rPr>
              <a:t>Practice</a:t>
            </a:r>
          </a:p>
        </p:txBody>
      </p:sp>
      <p:sp>
        <p:nvSpPr>
          <p:cNvPr id="39" name="Rectangle 38">
            <a:extLst>
              <a:ext uri="{FF2B5EF4-FFF2-40B4-BE49-F238E27FC236}">
                <a16:creationId xmlns:a16="http://schemas.microsoft.com/office/drawing/2014/main" id="{79C00AD6-3EAE-45F6-ADAB-F7F6008FC425}"/>
              </a:ext>
            </a:extLst>
          </p:cNvPr>
          <p:cNvSpPr>
            <a:spLocks noGrp="1"/>
          </p:cNvSpPr>
          <p:nvPr/>
        </p:nvSpPr>
        <p:spPr>
          <a:xfrm>
            <a:off x="3086100" y="3810000"/>
            <a:ext cx="4476750" cy="628650"/>
          </a:xfrm>
          <a:prstGeom prst="rect">
            <a:avLst/>
          </a:prstGeom>
          <a:solidFill>
            <a:srgbClr val="FFFFFF"/>
          </a:solidFill>
          <a:ln w="9525">
            <a:solidFill>
              <a:srgbClr val="D7E0E8"/>
            </a:solidFill>
            <a:prstDash val="solid"/>
          </a:ln>
        </p:spPr>
      </p:sp>
      <p:sp>
        <p:nvSpPr>
          <p:cNvPr id="40" name="Rectangle 39">
            <a:extLst>
              <a:ext uri="{FF2B5EF4-FFF2-40B4-BE49-F238E27FC236}">
                <a16:creationId xmlns:a16="http://schemas.microsoft.com/office/drawing/2014/main" id="{31219EEE-A8EB-427B-8D45-42A683522986}"/>
              </a:ext>
            </a:extLst>
          </p:cNvPr>
          <p:cNvSpPr>
            <a:spLocks noGrp="1"/>
          </p:cNvSpPr>
          <p:nvPr/>
        </p:nvSpPr>
        <p:spPr>
          <a:xfrm>
            <a:off x="3181350" y="3905250"/>
            <a:ext cx="4286250" cy="4762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Feedback + progress</a:t>
            </a:r>
          </a:p>
        </p:txBody>
      </p:sp>
      <p:sp>
        <p:nvSpPr>
          <p:cNvPr id="41" name="Rectangle 40">
            <a:extLst>
              <a:ext uri="{FF2B5EF4-FFF2-40B4-BE49-F238E27FC236}">
                <a16:creationId xmlns:a16="http://schemas.microsoft.com/office/drawing/2014/main" id="{B4133DDF-A023-4C38-90F1-190D924B19E5}"/>
              </a:ext>
            </a:extLst>
          </p:cNvPr>
          <p:cNvSpPr>
            <a:spLocks noGrp="1"/>
          </p:cNvSpPr>
          <p:nvPr/>
        </p:nvSpPr>
        <p:spPr>
          <a:xfrm>
            <a:off x="7562850" y="3810000"/>
            <a:ext cx="3638550" cy="628650"/>
          </a:xfrm>
          <a:prstGeom prst="rect">
            <a:avLst/>
          </a:prstGeom>
          <a:solidFill>
            <a:srgbClr val="FFFFFF"/>
          </a:solidFill>
          <a:ln w="9525">
            <a:solidFill>
              <a:srgbClr val="D7E0E8"/>
            </a:solidFill>
            <a:prstDash val="solid"/>
          </a:ln>
        </p:spPr>
      </p:sp>
      <p:sp>
        <p:nvSpPr>
          <p:cNvPr id="42" name="Rectangle 41">
            <a:extLst>
              <a:ext uri="{FF2B5EF4-FFF2-40B4-BE49-F238E27FC236}">
                <a16:creationId xmlns:a16="http://schemas.microsoft.com/office/drawing/2014/main" id="{DD7FE562-676C-4320-904F-53538663A361}"/>
              </a:ext>
            </a:extLst>
          </p:cNvPr>
          <p:cNvSpPr>
            <a:spLocks noGrp="1"/>
          </p:cNvSpPr>
          <p:nvPr/>
        </p:nvSpPr>
        <p:spPr>
          <a:xfrm>
            <a:off x="7658100" y="3905250"/>
            <a:ext cx="3448050" cy="476250"/>
          </a:xfrm>
          <a:prstGeom prst="rect">
            <a:avLst/>
          </a:prstGeom>
          <a:noFill/>
          <a:ln w="0">
            <a:noFill/>
            <a:prstDash val="solid"/>
          </a:ln>
        </p:spPr>
        <p:txBody>
          <a:bodyPr lIns="0" tIns="0" rIns="0" bIns="0" anchor="t">
            <a:normAutofit/>
          </a:bodyPr>
          <a:lstStyle/>
          <a:p>
            <a:pPr algn="l">
              <a:buNone/>
              <a:defRPr sz="1125" b="0">
                <a:solidFill>
                  <a:srgbClr val="0B1220"/>
                </a:solidFill>
                <a:latin typeface="Arial"/>
                <a:ea typeface="Arial"/>
                <a:cs typeface="Arial"/>
              </a:defRPr>
            </a:pPr>
            <a:r>
              <a:rPr sz="1125" b="0">
                <a:solidFill>
                  <a:srgbClr val="0B1220"/>
                </a:solidFill>
                <a:latin typeface="Arial"/>
                <a:ea typeface="Arial"/>
                <a:cs typeface="Arial"/>
              </a:rPr>
              <a:t>Attempt and updated state</a:t>
            </a:r>
          </a:p>
        </p:txBody>
      </p:sp>
    </p:spTree>
    <p:extLst>
      <p:ext uri="{BB962C8B-B14F-4D97-AF65-F5344CB8AC3E}">
        <p14:creationId xmlns:p14="http://schemas.microsoft.com/office/powerpoint/2010/main" val="18572726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E526520-23A1-4B9F-8DFA-DE0E0E951827}"/>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DEMO / 08 - PERSONAL HANDOFF</a:t>
            </a:r>
          </a:p>
        </p:txBody>
      </p:sp>
      <p:sp>
        <p:nvSpPr>
          <p:cNvPr id="2" name="Rectangle 1">
            <a:extLst>
              <a:ext uri="{FF2B5EF4-FFF2-40B4-BE49-F238E27FC236}">
                <a16:creationId xmlns:a16="http://schemas.microsoft.com/office/drawing/2014/main" id="{CBDD6DC6-404B-48C3-AB6E-A47E82289813}"/>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39</a:t>
            </a:r>
          </a:p>
        </p:txBody>
      </p:sp>
      <p:sp>
        <p:nvSpPr>
          <p:cNvPr id="3" name="Rectangle 2">
            <a:extLst>
              <a:ext uri="{FF2B5EF4-FFF2-40B4-BE49-F238E27FC236}">
                <a16:creationId xmlns:a16="http://schemas.microsoft.com/office/drawing/2014/main" id="{88B9CC99-70ED-47C7-9E1C-4F9E58FF73A4}"/>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60DDB1A3-6A46-4826-B4C7-08F30980E158}"/>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8083650C-116F-45CD-AEBC-57AD50665157}"/>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Demo handoff: explain your own contribution clearly</a:t>
            </a:r>
          </a:p>
        </p:txBody>
      </p:sp>
      <p:sp>
        <p:nvSpPr>
          <p:cNvPr id="6" name="Rectangle 5">
            <a:extLst>
              <a:ext uri="{FF2B5EF4-FFF2-40B4-BE49-F238E27FC236}">
                <a16:creationId xmlns:a16="http://schemas.microsoft.com/office/drawing/2014/main" id="{92C9A9DD-5227-45FC-AE29-2B0141F1870C}"/>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The individual section should make ownership visible without narrating the entire team report.</a:t>
            </a:r>
          </a:p>
        </p:txBody>
      </p:sp>
      <p:sp>
        <p:nvSpPr>
          <p:cNvPr id="7" name="Rectangle 6">
            <a:extLst>
              <a:ext uri="{FF2B5EF4-FFF2-40B4-BE49-F238E27FC236}">
                <a16:creationId xmlns:a16="http://schemas.microsoft.com/office/drawing/2014/main" id="{28F7A7B3-A29C-47D1-8775-F9130EC49EC6}"/>
              </a:ext>
            </a:extLst>
          </p:cNvPr>
          <p:cNvSpPr>
            <a:spLocks noGrp="1"/>
          </p:cNvSpPr>
          <p:nvPr/>
        </p:nvSpPr>
        <p:spPr>
          <a:xfrm>
            <a:off x="609600" y="1924050"/>
            <a:ext cx="5257800" cy="38100"/>
          </a:xfrm>
          <a:prstGeom prst="rect">
            <a:avLst/>
          </a:prstGeom>
          <a:solidFill>
            <a:srgbClr val="3D8DFF"/>
          </a:solidFill>
          <a:ln w="0">
            <a:solidFill>
              <a:srgbClr val="3D8DFF"/>
            </a:solidFill>
            <a:prstDash val="solid"/>
          </a:ln>
        </p:spPr>
      </p:sp>
      <p:sp>
        <p:nvSpPr>
          <p:cNvPr id="8" name="Rectangle 7">
            <a:extLst>
              <a:ext uri="{FF2B5EF4-FFF2-40B4-BE49-F238E27FC236}">
                <a16:creationId xmlns:a16="http://schemas.microsoft.com/office/drawing/2014/main" id="{A8176390-EA23-4523-A02C-DF165AD8E4BB}"/>
              </a:ext>
            </a:extLst>
          </p:cNvPr>
          <p:cNvSpPr>
            <a:spLocks noGrp="1"/>
          </p:cNvSpPr>
          <p:nvPr/>
        </p:nvSpPr>
        <p:spPr>
          <a:xfrm>
            <a:off x="6324600" y="1924050"/>
            <a:ext cx="5257800" cy="38100"/>
          </a:xfrm>
          <a:prstGeom prst="rect">
            <a:avLst/>
          </a:prstGeom>
          <a:solidFill>
            <a:srgbClr val="FF9B45"/>
          </a:solidFill>
          <a:ln w="0">
            <a:solidFill>
              <a:srgbClr val="FF9B45"/>
            </a:solidFill>
            <a:prstDash val="solid"/>
          </a:ln>
        </p:spPr>
      </p:sp>
      <p:sp>
        <p:nvSpPr>
          <p:cNvPr id="9" name="Rectangle 8">
            <a:extLst>
              <a:ext uri="{FF2B5EF4-FFF2-40B4-BE49-F238E27FC236}">
                <a16:creationId xmlns:a16="http://schemas.microsoft.com/office/drawing/2014/main" id="{232BD23F-884D-4B73-9E41-C8287BF43EB1}"/>
              </a:ext>
            </a:extLst>
          </p:cNvPr>
          <p:cNvSpPr>
            <a:spLocks noGrp="1"/>
          </p:cNvSpPr>
          <p:nvPr/>
        </p:nvSpPr>
        <p:spPr>
          <a:xfrm>
            <a:off x="609600" y="2095500"/>
            <a:ext cx="5257800" cy="381000"/>
          </a:xfrm>
          <a:prstGeom prst="rect">
            <a:avLst/>
          </a:prstGeom>
          <a:noFill/>
          <a:ln w="0">
            <a:noFill/>
            <a:prstDash val="solid"/>
          </a:ln>
        </p:spPr>
        <p:txBody>
          <a:bodyPr lIns="0" tIns="0" rIns="0" bIns="0" anchor="t">
            <a:normAutofit/>
          </a:bodyPr>
          <a:lstStyle/>
          <a:p>
            <a:pPr algn="l">
              <a:buNone/>
              <a:defRPr sz="1800" b="1">
                <a:solidFill>
                  <a:srgbClr val="3D8DFF"/>
                </a:solidFill>
                <a:latin typeface="Arial"/>
                <a:ea typeface="Arial"/>
                <a:cs typeface="Arial"/>
              </a:defRPr>
            </a:pPr>
            <a:r>
              <a:rPr sz="1800" b="1">
                <a:solidFill>
                  <a:srgbClr val="3D8DFF"/>
                </a:solidFill>
                <a:latin typeface="Arial"/>
                <a:ea typeface="Arial"/>
                <a:cs typeface="Arial"/>
              </a:rPr>
              <a:t>Cover</a:t>
            </a:r>
          </a:p>
        </p:txBody>
      </p:sp>
      <p:sp>
        <p:nvSpPr>
          <p:cNvPr id="10" name="Rectangle 9">
            <a:extLst>
              <a:ext uri="{FF2B5EF4-FFF2-40B4-BE49-F238E27FC236}">
                <a16:creationId xmlns:a16="http://schemas.microsoft.com/office/drawing/2014/main" id="{77859370-4D35-42CE-A430-B3A75A4C80E3}"/>
              </a:ext>
            </a:extLst>
          </p:cNvPr>
          <p:cNvSpPr>
            <a:spLocks noGrp="1"/>
          </p:cNvSpPr>
          <p:nvPr/>
        </p:nvSpPr>
        <p:spPr>
          <a:xfrm>
            <a:off x="609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 Feature you implemented</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User problem it solves</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Tools or components used</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One challenge you resolved</a:t>
            </a:r>
          </a:p>
        </p:txBody>
      </p:sp>
      <p:sp>
        <p:nvSpPr>
          <p:cNvPr id="11" name="Rectangle 10">
            <a:extLst>
              <a:ext uri="{FF2B5EF4-FFF2-40B4-BE49-F238E27FC236}">
                <a16:creationId xmlns:a16="http://schemas.microsoft.com/office/drawing/2014/main" id="{664C5E7D-FC1D-4555-A935-B176615F8F71}"/>
              </a:ext>
            </a:extLst>
          </p:cNvPr>
          <p:cNvSpPr>
            <a:spLocks noGrp="1"/>
          </p:cNvSpPr>
          <p:nvPr/>
        </p:nvSpPr>
        <p:spPr>
          <a:xfrm>
            <a:off x="6324600" y="2095500"/>
            <a:ext cx="5257800" cy="381000"/>
          </a:xfrm>
          <a:prstGeom prst="rect">
            <a:avLst/>
          </a:prstGeom>
          <a:noFill/>
          <a:ln w="0">
            <a:noFill/>
            <a:prstDash val="solid"/>
          </a:ln>
        </p:spPr>
        <p:txBody>
          <a:bodyPr lIns="0" tIns="0" rIns="0" bIns="0" anchor="t">
            <a:normAutofit/>
          </a:bodyPr>
          <a:lstStyle/>
          <a:p>
            <a:pPr algn="l">
              <a:buNone/>
              <a:defRPr sz="1800" b="1">
                <a:solidFill>
                  <a:srgbClr val="FF9B45"/>
                </a:solidFill>
                <a:latin typeface="Arial"/>
                <a:ea typeface="Arial"/>
                <a:cs typeface="Arial"/>
              </a:defRPr>
            </a:pPr>
            <a:r>
              <a:rPr sz="1800" b="1">
                <a:solidFill>
                  <a:srgbClr val="FF9B45"/>
                </a:solidFill>
                <a:latin typeface="Arial"/>
                <a:ea typeface="Arial"/>
                <a:cs typeface="Arial"/>
              </a:rPr>
              <a:t>Show</a:t>
            </a:r>
          </a:p>
        </p:txBody>
      </p:sp>
      <p:sp>
        <p:nvSpPr>
          <p:cNvPr id="12" name="Rectangle 11">
            <a:extLst>
              <a:ext uri="{FF2B5EF4-FFF2-40B4-BE49-F238E27FC236}">
                <a16:creationId xmlns:a16="http://schemas.microsoft.com/office/drawing/2014/main" id="{34C7CE3D-5241-4E1C-BD6A-E6B4AB73E35D}"/>
              </a:ext>
            </a:extLst>
          </p:cNvPr>
          <p:cNvSpPr>
            <a:spLocks noGrp="1"/>
          </p:cNvSpPr>
          <p:nvPr/>
        </p:nvSpPr>
        <p:spPr>
          <a:xfrm>
            <a:off x="6324600" y="2590800"/>
            <a:ext cx="5257800" cy="2667000"/>
          </a:xfrm>
          <a:prstGeom prst="rect">
            <a:avLst/>
          </a:prstGeom>
          <a:noFill/>
          <a:ln w="0">
            <a:noFill/>
            <a:prstDash val="solid"/>
          </a:ln>
        </p:spPr>
        <p:txBody>
          <a:bodyPr lIns="0" tIns="0" rIns="0" bIns="0" anchor="t">
            <a:normAutofit/>
          </a:bodyPr>
          <a:lstStyle/>
          <a:p>
            <a:pPr algn="l">
              <a:buNone/>
              <a:defRPr sz="1350" b="0">
                <a:solidFill>
                  <a:srgbClr val="0B1220"/>
                </a:solidFill>
                <a:latin typeface="Arial"/>
                <a:ea typeface="Arial"/>
                <a:cs typeface="Arial"/>
              </a:defRPr>
            </a:pPr>
            <a:r>
              <a:rPr sz="1350" b="0">
                <a:solidFill>
                  <a:srgbClr val="0B1220"/>
                </a:solidFill>
                <a:latin typeface="Arial"/>
                <a:ea typeface="Arial"/>
                <a:cs typeface="Arial"/>
              </a:rPr>
              <a:t>- The working flow</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Before / after if relevant</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A known limitation</a:t>
            </a:r>
          </a:p>
          <a:p>
            <a:pPr algn="l">
              <a:buNone/>
              <a:defRPr sz="1350" b="0">
                <a:solidFill>
                  <a:srgbClr val="0B1220"/>
                </a:solidFill>
                <a:latin typeface="Arial"/>
                <a:ea typeface="Arial"/>
                <a:cs typeface="Arial"/>
              </a:defRPr>
            </a:pPr>
            <a:r>
              <a:rPr sz="1350" b="0">
                <a:solidFill>
                  <a:srgbClr val="0B1220"/>
                </a:solidFill>
                <a:latin typeface="Arial"/>
                <a:ea typeface="Arial"/>
                <a:cs typeface="Arial"/>
              </a:rPr>
              <a:t>- The next improvement you recommend</a:t>
            </a:r>
          </a:p>
        </p:txBody>
      </p:sp>
      <p:sp>
        <p:nvSpPr>
          <p:cNvPr id="13" name="Rectangle 12">
            <a:extLst>
              <a:ext uri="{FF2B5EF4-FFF2-40B4-BE49-F238E27FC236}">
                <a16:creationId xmlns:a16="http://schemas.microsoft.com/office/drawing/2014/main" id="{07A51696-0D7F-405F-919B-3F6F1FFEDB05}"/>
              </a:ext>
            </a:extLst>
          </p:cNvPr>
          <p:cNvSpPr>
            <a:spLocks noGrp="1"/>
          </p:cNvSpPr>
          <p:nvPr/>
        </p:nvSpPr>
        <p:spPr>
          <a:xfrm>
            <a:off x="1524000" y="5391150"/>
            <a:ext cx="9144000" cy="323850"/>
          </a:xfrm>
          <a:prstGeom prst="rect">
            <a:avLst/>
          </a:prstGeom>
          <a:noFill/>
          <a:ln w="0">
            <a:noFill/>
            <a:prstDash val="solid"/>
          </a:ln>
        </p:spPr>
        <p:txBody>
          <a:bodyPr lIns="0" tIns="0" rIns="0" bIns="0" anchor="t">
            <a:normAutofit/>
          </a:bodyPr>
          <a:lstStyle/>
          <a:p>
            <a:pPr algn="ctr">
              <a:buNone/>
              <a:defRPr sz="1425" b="1">
                <a:solidFill>
                  <a:srgbClr val="0F2A43"/>
                </a:solidFill>
                <a:latin typeface="Arial"/>
                <a:ea typeface="Arial"/>
                <a:cs typeface="Arial"/>
              </a:defRPr>
            </a:pPr>
            <a:r>
              <a:rPr sz="1425" b="1">
                <a:solidFill>
                  <a:srgbClr val="0F2A43"/>
                </a:solidFill>
                <a:latin typeface="Arial"/>
                <a:ea typeface="Arial"/>
                <a:cs typeface="Arial"/>
              </a:rPr>
              <a:t>Use the real names, screenshots and implementation details of your team member contribution here.</a:t>
            </a:r>
          </a:p>
        </p:txBody>
      </p:sp>
    </p:spTree>
    <p:extLst>
      <p:ext uri="{BB962C8B-B14F-4D97-AF65-F5344CB8AC3E}">
        <p14:creationId xmlns:p14="http://schemas.microsoft.com/office/powerpoint/2010/main" val="56773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AA1F169-9FF9-4901-9A03-884568770614}"/>
              </a:ext>
            </a:extLst>
          </p:cNvPr>
          <p:cNvSpPr>
            <a:spLocks noGrp="1"/>
          </p:cNvSpPr>
          <p:nvPr/>
        </p:nvSpPr>
        <p:spPr>
          <a:xfrm>
            <a:off x="609600" y="228600"/>
            <a:ext cx="4762500" cy="209550"/>
          </a:xfrm>
          <a:prstGeom prst="rect">
            <a:avLst/>
          </a:prstGeom>
          <a:noFill/>
          <a:ln w="0">
            <a:noFill/>
            <a:prstDash val="solid"/>
          </a:ln>
        </p:spPr>
        <p:txBody>
          <a:bodyPr lIns="0" tIns="0" rIns="0" bIns="0" anchor="t">
            <a:normAutofit/>
          </a:bodyPr>
          <a:lstStyle/>
          <a:p>
            <a:pPr algn="l">
              <a:buNone/>
              <a:defRPr sz="975" b="1">
                <a:solidFill>
                  <a:srgbClr val="3D8DFF"/>
                </a:solidFill>
                <a:latin typeface="Arial"/>
                <a:ea typeface="Arial"/>
                <a:cs typeface="Arial"/>
              </a:defRPr>
            </a:pPr>
            <a:r>
              <a:rPr sz="975" b="1">
                <a:solidFill>
                  <a:srgbClr val="3D8DFF"/>
                </a:solidFill>
                <a:latin typeface="Arial"/>
                <a:ea typeface="Arial"/>
                <a:cs typeface="Arial"/>
              </a:rPr>
              <a:t>DEMO / CLOSE</a:t>
            </a:r>
          </a:p>
        </p:txBody>
      </p:sp>
      <p:sp>
        <p:nvSpPr>
          <p:cNvPr id="2" name="Rectangle 1">
            <a:extLst>
              <a:ext uri="{FF2B5EF4-FFF2-40B4-BE49-F238E27FC236}">
                <a16:creationId xmlns:a16="http://schemas.microsoft.com/office/drawing/2014/main" id="{2A176AC3-0A8B-4A58-ABF3-4511703F08D3}"/>
              </a:ext>
            </a:extLst>
          </p:cNvPr>
          <p:cNvSpPr>
            <a:spLocks noGrp="1"/>
          </p:cNvSpPr>
          <p:nvPr/>
        </p:nvSpPr>
        <p:spPr>
          <a:xfrm>
            <a:off x="11201400" y="228600"/>
            <a:ext cx="381000" cy="209550"/>
          </a:xfrm>
          <a:prstGeom prst="rect">
            <a:avLst/>
          </a:prstGeom>
          <a:noFill/>
          <a:ln w="0">
            <a:noFill/>
            <a:prstDash val="solid"/>
          </a:ln>
        </p:spPr>
        <p:txBody>
          <a:bodyPr lIns="0" tIns="0" rIns="0" bIns="0" anchor="t">
            <a:normAutofit/>
          </a:bodyPr>
          <a:lstStyle/>
          <a:p>
            <a:pPr algn="r">
              <a:buNone/>
              <a:defRPr sz="975" b="1">
                <a:solidFill>
                  <a:srgbClr val="586879"/>
                </a:solidFill>
                <a:latin typeface="Arial"/>
                <a:ea typeface="Arial"/>
                <a:cs typeface="Arial"/>
              </a:defRPr>
            </a:pPr>
            <a:r>
              <a:rPr sz="975" b="1">
                <a:solidFill>
                  <a:srgbClr val="586879"/>
                </a:solidFill>
                <a:latin typeface="Arial"/>
                <a:ea typeface="Arial"/>
                <a:cs typeface="Arial"/>
              </a:rPr>
              <a:t>40</a:t>
            </a:r>
          </a:p>
        </p:txBody>
      </p:sp>
      <p:sp>
        <p:nvSpPr>
          <p:cNvPr id="3" name="Rectangle 2">
            <a:extLst>
              <a:ext uri="{FF2B5EF4-FFF2-40B4-BE49-F238E27FC236}">
                <a16:creationId xmlns:a16="http://schemas.microsoft.com/office/drawing/2014/main" id="{CC27B0FB-87B1-4843-91E3-78A1D11B14D4}"/>
              </a:ext>
            </a:extLst>
          </p:cNvPr>
          <p:cNvSpPr>
            <a:spLocks noGrp="1"/>
          </p:cNvSpPr>
          <p:nvPr/>
        </p:nvSpPr>
        <p:spPr>
          <a:xfrm>
            <a:off x="609600" y="514350"/>
            <a:ext cx="10972800" cy="9525"/>
          </a:xfrm>
          <a:prstGeom prst="rect">
            <a:avLst/>
          </a:prstGeom>
          <a:solidFill>
            <a:srgbClr val="D7E0E8"/>
          </a:solidFill>
          <a:ln w="0">
            <a:solidFill>
              <a:srgbClr val="D7E0E8"/>
            </a:solidFill>
            <a:prstDash val="solid"/>
          </a:ln>
        </p:spPr>
      </p:sp>
      <p:sp>
        <p:nvSpPr>
          <p:cNvPr id="4" name="Oval 3">
            <a:extLst>
              <a:ext uri="{FF2B5EF4-FFF2-40B4-BE49-F238E27FC236}">
                <a16:creationId xmlns:a16="http://schemas.microsoft.com/office/drawing/2014/main" id="{D7FEF368-04C3-4DC5-8D21-9B93F5A3E31D}"/>
              </a:ext>
            </a:extLst>
          </p:cNvPr>
          <p:cNvSpPr>
            <a:spLocks noGrp="1"/>
          </p:cNvSpPr>
          <p:nvPr/>
        </p:nvSpPr>
        <p:spPr>
          <a:xfrm>
            <a:off x="609600" y="400050"/>
            <a:ext cx="76200" cy="76200"/>
          </a:xfrm>
          <a:prstGeom prst="ellipse">
            <a:avLst/>
          </a:prstGeom>
          <a:solidFill>
            <a:srgbClr val="FF9B45"/>
          </a:solidFill>
          <a:ln w="0">
            <a:solidFill>
              <a:srgbClr val="FF9B45"/>
            </a:solidFill>
            <a:prstDash val="solid"/>
          </a:ln>
        </p:spPr>
      </p:sp>
      <p:sp>
        <p:nvSpPr>
          <p:cNvPr id="5" name="Rectangle 4">
            <a:extLst>
              <a:ext uri="{FF2B5EF4-FFF2-40B4-BE49-F238E27FC236}">
                <a16:creationId xmlns:a16="http://schemas.microsoft.com/office/drawing/2014/main" id="{3BE9D967-9D90-4362-ACC5-699A330A2C07}"/>
              </a:ext>
            </a:extLst>
          </p:cNvPr>
          <p:cNvSpPr>
            <a:spLocks noGrp="1"/>
          </p:cNvSpPr>
          <p:nvPr/>
        </p:nvSpPr>
        <p:spPr>
          <a:xfrm>
            <a:off x="609600" y="723900"/>
            <a:ext cx="10972800" cy="628650"/>
          </a:xfrm>
          <a:prstGeom prst="rect">
            <a:avLst/>
          </a:prstGeom>
          <a:noFill/>
          <a:ln w="0">
            <a:noFill/>
            <a:prstDash val="solid"/>
          </a:ln>
        </p:spPr>
        <p:txBody>
          <a:bodyPr lIns="0" tIns="0" rIns="0" bIns="0" anchor="t">
            <a:normAutofit/>
          </a:bodyPr>
          <a:lstStyle/>
          <a:p>
            <a:pPr algn="l">
              <a:buNone/>
              <a:defRPr sz="2775" b="1">
                <a:solidFill>
                  <a:srgbClr val="0B1220"/>
                </a:solidFill>
                <a:latin typeface="Arial"/>
                <a:ea typeface="Arial"/>
                <a:cs typeface="Arial"/>
              </a:defRPr>
            </a:pPr>
            <a:r>
              <a:rPr sz="2775" b="1">
                <a:solidFill>
                  <a:srgbClr val="0B1220"/>
                </a:solidFill>
                <a:latin typeface="Arial"/>
                <a:ea typeface="Arial"/>
                <a:cs typeface="Arial"/>
              </a:rPr>
              <a:t>Close on the product value, not the feature list</a:t>
            </a:r>
          </a:p>
        </p:txBody>
      </p:sp>
      <p:sp>
        <p:nvSpPr>
          <p:cNvPr id="6" name="Rectangle 5">
            <a:extLst>
              <a:ext uri="{FF2B5EF4-FFF2-40B4-BE49-F238E27FC236}">
                <a16:creationId xmlns:a16="http://schemas.microsoft.com/office/drawing/2014/main" id="{671089FA-9234-4DDC-ABF9-CD861F5BD856}"/>
              </a:ext>
            </a:extLst>
          </p:cNvPr>
          <p:cNvSpPr>
            <a:spLocks noGrp="1"/>
          </p:cNvSpPr>
          <p:nvPr/>
        </p:nvSpPr>
        <p:spPr>
          <a:xfrm>
            <a:off x="609600" y="1333500"/>
            <a:ext cx="10972800" cy="342900"/>
          </a:xfrm>
          <a:prstGeom prst="rect">
            <a:avLst/>
          </a:prstGeom>
          <a:noFill/>
          <a:ln w="0">
            <a:noFill/>
            <a:prstDash val="solid"/>
          </a:ln>
        </p:spPr>
        <p:txBody>
          <a:bodyPr lIns="0" tIns="0" rIns="0" bIns="0" anchor="t">
            <a:normAutofit/>
          </a:bodyPr>
          <a:lstStyle/>
          <a:p>
            <a:pPr algn="l">
              <a:buNone/>
              <a:defRPr sz="1350" b="0">
                <a:solidFill>
                  <a:srgbClr val="586879"/>
                </a:solidFill>
                <a:latin typeface="Arial"/>
                <a:ea typeface="Arial"/>
                <a:cs typeface="Arial"/>
              </a:defRPr>
            </a:pPr>
            <a:r>
              <a:rPr sz="1350" b="0">
                <a:solidFill>
                  <a:srgbClr val="586879"/>
                </a:solidFill>
                <a:latin typeface="Arial"/>
                <a:ea typeface="Arial"/>
                <a:cs typeface="Arial"/>
              </a:rPr>
              <a:t>AI Study Mentor helps a student move from a question to a next step in learning.</a:t>
            </a:r>
          </a:p>
        </p:txBody>
      </p:sp>
      <p:sp>
        <p:nvSpPr>
          <p:cNvPr id="7" name="Rectangle 6">
            <a:extLst>
              <a:ext uri="{FF2B5EF4-FFF2-40B4-BE49-F238E27FC236}">
                <a16:creationId xmlns:a16="http://schemas.microsoft.com/office/drawing/2014/main" id="{CC57B084-79AE-4745-8E22-755F13421CCA}"/>
              </a:ext>
            </a:extLst>
          </p:cNvPr>
          <p:cNvSpPr>
            <a:spLocks noGrp="1"/>
          </p:cNvSpPr>
          <p:nvPr/>
        </p:nvSpPr>
        <p:spPr>
          <a:xfrm>
            <a:off x="1047750" y="2114550"/>
            <a:ext cx="10096500" cy="2095500"/>
          </a:xfrm>
          <a:prstGeom prst="rect">
            <a:avLst/>
          </a:prstGeom>
          <a:solidFill>
            <a:srgbClr val="0F2A43"/>
          </a:solidFill>
          <a:ln w="0">
            <a:solidFill>
              <a:srgbClr val="0F2A43"/>
            </a:solidFill>
            <a:prstDash val="solid"/>
          </a:ln>
        </p:spPr>
      </p:sp>
      <p:sp>
        <p:nvSpPr>
          <p:cNvPr id="8" name="Rectangle 7">
            <a:extLst>
              <a:ext uri="{FF2B5EF4-FFF2-40B4-BE49-F238E27FC236}">
                <a16:creationId xmlns:a16="http://schemas.microsoft.com/office/drawing/2014/main" id="{5A298236-BADB-4A9E-BD9F-8221724DBE75}"/>
              </a:ext>
            </a:extLst>
          </p:cNvPr>
          <p:cNvSpPr>
            <a:spLocks noGrp="1"/>
          </p:cNvSpPr>
          <p:nvPr/>
        </p:nvSpPr>
        <p:spPr>
          <a:xfrm>
            <a:off x="1619250" y="2781300"/>
            <a:ext cx="8953500" cy="609600"/>
          </a:xfrm>
          <a:prstGeom prst="rect">
            <a:avLst/>
          </a:prstGeom>
          <a:noFill/>
          <a:ln w="0">
            <a:noFill/>
            <a:prstDash val="solid"/>
          </a:ln>
        </p:spPr>
        <p:txBody>
          <a:bodyPr lIns="0" tIns="0" rIns="0" bIns="0" anchor="t">
            <a:normAutofit/>
          </a:bodyPr>
          <a:lstStyle/>
          <a:p>
            <a:pPr algn="ctr">
              <a:buNone/>
              <a:defRPr sz="3150" b="1">
                <a:solidFill>
                  <a:srgbClr val="FFFFFF"/>
                </a:solidFill>
                <a:latin typeface="Arial"/>
                <a:ea typeface="Arial"/>
                <a:cs typeface="Arial"/>
              </a:defRPr>
            </a:pPr>
            <a:r>
              <a:rPr sz="3150" b="1">
                <a:solidFill>
                  <a:srgbClr val="FFFFFF"/>
                </a:solidFill>
                <a:latin typeface="Arial"/>
                <a:ea typeface="Arial"/>
                <a:cs typeface="Arial"/>
              </a:rPr>
              <a:t>Ask. Understand. Practise. Review.</a:t>
            </a:r>
          </a:p>
        </p:txBody>
      </p:sp>
      <p:sp>
        <p:nvSpPr>
          <p:cNvPr id="9" name="Rectangle 8">
            <a:extLst>
              <a:ext uri="{FF2B5EF4-FFF2-40B4-BE49-F238E27FC236}">
                <a16:creationId xmlns:a16="http://schemas.microsoft.com/office/drawing/2014/main" id="{058A955C-D5FF-46E5-A524-F627DBB03DCE}"/>
              </a:ext>
            </a:extLst>
          </p:cNvPr>
          <p:cNvSpPr>
            <a:spLocks noGrp="1"/>
          </p:cNvSpPr>
          <p:nvPr/>
        </p:nvSpPr>
        <p:spPr>
          <a:xfrm>
            <a:off x="1809750" y="4953000"/>
            <a:ext cx="8572500" cy="361950"/>
          </a:xfrm>
          <a:prstGeom prst="rect">
            <a:avLst/>
          </a:prstGeom>
          <a:noFill/>
          <a:ln w="0">
            <a:noFill/>
            <a:prstDash val="solid"/>
          </a:ln>
        </p:spPr>
        <p:txBody>
          <a:bodyPr lIns="0" tIns="0" rIns="0" bIns="0" anchor="t">
            <a:normAutofit/>
          </a:bodyPr>
          <a:lstStyle/>
          <a:p>
            <a:pPr algn="ctr">
              <a:buNone/>
              <a:defRPr sz="1650" b="1">
                <a:solidFill>
                  <a:srgbClr val="0F2A43"/>
                </a:solidFill>
                <a:latin typeface="Arial"/>
                <a:ea typeface="Arial"/>
                <a:cs typeface="Arial"/>
              </a:defRPr>
            </a:pPr>
            <a:r>
              <a:rPr sz="1650" b="1">
                <a:solidFill>
                  <a:srgbClr val="0F2A43"/>
                </a:solidFill>
                <a:latin typeface="Arial"/>
                <a:ea typeface="Arial"/>
                <a:cs typeface="Arial"/>
              </a:rPr>
              <a:t>Finish by showing the working application and stating what is implemented today.</a:t>
            </a:r>
          </a:p>
        </p:txBody>
      </p:sp>
    </p:spTree>
    <p:extLst>
      <p:ext uri="{BB962C8B-B14F-4D97-AF65-F5344CB8AC3E}">
        <p14:creationId xmlns:p14="http://schemas.microsoft.com/office/powerpoint/2010/main" val="34839934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4504</Words>
  <Application>Microsoft Office PowerPoint</Application>
  <DocSecurity>0</DocSecurity>
  <PresentationFormat>Widescreen</PresentationFormat>
  <Paragraphs>801</Paragraphs>
  <Slides>40</Slides>
  <Notes>40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Cambria Math</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Bui Binh</cp:lastModifiedBy>
  <cp:revision>1</cp:revision>
  <dcterms:created xsi:type="dcterms:W3CDTF">2026-08-05T16:27:47Z</dcterms:created>
  <dcterms:modified xsi:type="dcterms:W3CDTF">2026-08-06T15:50:08Z</dcterms:modified>
</cp:coreProperties>
</file>